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is deliberately narrow. One cancer type, one language, one output surface. A system that works completely on a narrow domain beats one that half works broadly.
If asked where the trials come from: ClinicalTrials.gov API v2, snapshot 14 Aug 2026. Recruiting status goes stale, which is why the interface links every trial back to its registry record and says the snapshot date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claim is defensible in Q&amp;A. It is a claim about architecture and measurement, not about inventing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on this slide is reproducible with one command. If asked which is strongest: determinism, because it is a property of the architecture rather than of effort, and it is the one a prompted system cannot adopt without becoming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cut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5F6E"/>
        </a:solidFill>
      </p:bgPr>
    </p:bg>
    <p:spTree>
      <p:nvGrpSpPr>
        <p:cNvPr id="1" name=""/>
        <p:cNvGrpSpPr/>
        <p:nvPr/>
      </p:nvGrpSpPr>
      <p:grpSpPr>
        <a:xfrm>
          <a:off x="0" y="0"/>
          <a:ext cx="0" cy="0"/>
          <a:chOff x="0" y="0"/>
          <a:chExt cx="0" cy="0"/>
        </a:xfrm>
      </p:grpSpPr>
      <p:sp>
        <p:nvSpPr>
          <p:cNvPr id="2" name="Text 0"/>
          <p:cNvSpPr/>
          <p:nvPr/>
        </p:nvSpPr>
        <p:spPr>
          <a:xfrm>
            <a:off x="594360" y="1481328"/>
            <a:ext cx="7772400" cy="786384"/>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Clinical Trial</a:t>
            </a:r>
            <a:endParaRPr lang="en-US" sz="5000" dirty="0"/>
          </a:p>
        </p:txBody>
      </p:sp>
      <p:sp>
        <p:nvSpPr>
          <p:cNvPr id="3" name="Text 1"/>
          <p:cNvSpPr/>
          <p:nvPr/>
        </p:nvSpPr>
        <p:spPr>
          <a:xfrm>
            <a:off x="594360" y="2212848"/>
            <a:ext cx="7772400" cy="786384"/>
          </a:xfrm>
          <a:prstGeom prst="rect">
            <a:avLst/>
          </a:prstGeom>
          <a:noFill/>
          <a:ln/>
        </p:spPr>
        <p:txBody>
          <a:bodyPr wrap="square" lIns="0" tIns="0" rIns="0" bIns="0" rtlCol="0" anchor="ctr"/>
          <a:lstStyle/>
          <a:p>
            <a:pPr indent="0" marL="0">
              <a:buNone/>
            </a:pPr>
            <a:r>
              <a:rPr lang="en-US" sz="5000" b="1" dirty="0">
                <a:solidFill>
                  <a:srgbClr val="95DEEA"/>
                </a:solidFill>
                <a:latin typeface="Cambria" pitchFamily="34" charset="0"/>
                <a:ea typeface="Cambria" pitchFamily="34" charset="-122"/>
                <a:cs typeface="Cambria" pitchFamily="34" charset="-120"/>
              </a:rPr>
              <a:t>Eligibility Compiler</a:t>
            </a:r>
            <a:endParaRPr lang="en-US" sz="5000" dirty="0"/>
          </a:p>
        </p:txBody>
      </p:sp>
      <p:sp>
        <p:nvSpPr>
          <p:cNvPr id="4" name="Text 2"/>
          <p:cNvSpPr/>
          <p:nvPr/>
        </p:nvSpPr>
        <p:spPr>
          <a:xfrm>
            <a:off x="594360" y="3200400"/>
            <a:ext cx="7863840" cy="731520"/>
          </a:xfrm>
          <a:prstGeom prst="rect">
            <a:avLst/>
          </a:prstGeom>
          <a:noFill/>
          <a:ln/>
        </p:spPr>
        <p:txBody>
          <a:bodyPr wrap="square" lIns="0" tIns="0" rIns="0" bIns="0" rtlCol="0" anchor="t"/>
          <a:lstStyle/>
          <a:p>
            <a:pPr indent="0" marL="0">
              <a:lnSpc>
                <a:spcPts val="2400"/>
              </a:lnSpc>
              <a:buNone/>
            </a:pPr>
            <a:r>
              <a:rPr lang="en-US" sz="1600" dirty="0">
                <a:solidFill>
                  <a:srgbClr val="C2ECF3"/>
                </a:solidFill>
                <a:latin typeface="Calibri" pitchFamily="34" charset="0"/>
                <a:ea typeface="Calibri" pitchFamily="34" charset="-122"/>
                <a:cs typeface="Calibri" pitchFamily="34" charset="-120"/>
              </a:rPr>
              <a:t>Eligibility criteria compiled into executable predicates, evaluated deterministically, reported as dates rather than labels.</a:t>
            </a:r>
            <a:endParaRPr lang="en-US" sz="1600" dirty="0"/>
          </a:p>
        </p:txBody>
      </p:sp>
      <p:sp>
        <p:nvSpPr>
          <p:cNvPr id="5" name="Shape 3"/>
          <p:cNvSpPr/>
          <p:nvPr/>
        </p:nvSpPr>
        <p:spPr>
          <a:xfrm>
            <a:off x="594360" y="4261104"/>
            <a:ext cx="7863840" cy="841248"/>
          </a:xfrm>
          <a:prstGeom prst="roundRect">
            <a:avLst>
              <a:gd name="adj" fmla="val 6522"/>
            </a:avLst>
          </a:prstGeom>
          <a:solidFill>
            <a:srgbClr val="0D6C7D"/>
          </a:solidFill>
          <a:ln w="12700">
            <a:solidFill>
              <a:srgbClr val="1B8397"/>
            </a:solidFill>
            <a:prstDash val="solid"/>
          </a:ln>
        </p:spPr>
      </p:sp>
      <p:sp>
        <p:nvSpPr>
          <p:cNvPr id="6" name="Text 4"/>
          <p:cNvSpPr/>
          <p:nvPr/>
        </p:nvSpPr>
        <p:spPr>
          <a:xfrm>
            <a:off x="813816" y="4462272"/>
            <a:ext cx="7406640" cy="457200"/>
          </a:xfrm>
          <a:prstGeom prst="rect">
            <a:avLst/>
          </a:prstGeom>
          <a:noFill/>
          <a:ln/>
        </p:spPr>
        <p:txBody>
          <a:bodyPr wrap="square" lIns="0" tIns="0" rIns="0" bIns="0" rtlCol="0" anchor="ctr"/>
          <a:lstStyle/>
          <a:p>
            <a:pPr indent="0" marL="0">
              <a:buNone/>
            </a:pPr>
            <a:r>
              <a:rPr lang="en-US" sz="1350" b="1" dirty="0">
                <a:solidFill>
                  <a:srgbClr val="95DEEA"/>
                </a:solidFill>
                <a:latin typeface="Calibri" pitchFamily="34" charset="0"/>
                <a:ea typeface="Calibri" pitchFamily="34" charset="-122"/>
                <a:cs typeface="Calibri" pitchFamily="34" charset="-120"/>
              </a:rPr>
              <a:t>Scope   </a:t>
            </a:r>
            <a:pPr indent="0" marL="0">
              <a:buNone/>
            </a:pPr>
            <a:r>
              <a:rPr lang="en-US" sz="1350" dirty="0">
                <a:solidFill>
                  <a:srgbClr val="DFF4F8"/>
                </a:solidFill>
                <a:latin typeface="Calibri" pitchFamily="34" charset="0"/>
                <a:ea typeface="Calibri" pitchFamily="34" charset="-122"/>
                <a:cs typeface="Calibri" pitchFamily="34" charset="-120"/>
              </a:rPr>
              <a:t>non-small cell lung cancer  ·  English  ·  local web UI  ·  500 recruiting trials</a:t>
            </a:r>
            <a:endParaRPr lang="en-US" sz="1350" dirty="0"/>
          </a:p>
        </p:txBody>
      </p:sp>
      <p:sp>
        <p:nvSpPr>
          <p:cNvPr id="7" name="Text 5"/>
          <p:cNvSpPr/>
          <p:nvPr/>
        </p:nvSpPr>
        <p:spPr>
          <a:xfrm>
            <a:off x="8732520" y="1572768"/>
            <a:ext cx="2834640" cy="402336"/>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500</a:t>
            </a:r>
            <a:endParaRPr lang="en-US" sz="2600" dirty="0"/>
          </a:p>
        </p:txBody>
      </p:sp>
      <p:sp>
        <p:nvSpPr>
          <p:cNvPr id="8" name="Text 6"/>
          <p:cNvSpPr/>
          <p:nvPr/>
        </p:nvSpPr>
        <p:spPr>
          <a:xfrm>
            <a:off x="8732520" y="1975104"/>
            <a:ext cx="2834640" cy="256032"/>
          </a:xfrm>
          <a:prstGeom prst="rect">
            <a:avLst/>
          </a:prstGeom>
          <a:noFill/>
          <a:ln/>
        </p:spPr>
        <p:txBody>
          <a:bodyPr wrap="square" lIns="0" tIns="0" rIns="0" bIns="0" rtlCol="0" anchor="ctr"/>
          <a:lstStyle/>
          <a:p>
            <a:pPr indent="0" marL="0">
              <a:buNone/>
            </a:pPr>
            <a:r>
              <a:rPr lang="en-US" sz="1100" dirty="0">
                <a:solidFill>
                  <a:srgbClr val="95C6D2"/>
                </a:solidFill>
                <a:latin typeface="Calibri" pitchFamily="34" charset="0"/>
                <a:ea typeface="Calibri" pitchFamily="34" charset="-122"/>
                <a:cs typeface="Calibri" pitchFamily="34" charset="-120"/>
              </a:rPr>
              <a:t>trials</a:t>
            </a:r>
            <a:endParaRPr lang="en-US" sz="1100" dirty="0"/>
          </a:p>
        </p:txBody>
      </p:sp>
      <p:sp>
        <p:nvSpPr>
          <p:cNvPr id="9" name="Text 7"/>
          <p:cNvSpPr/>
          <p:nvPr/>
        </p:nvSpPr>
        <p:spPr>
          <a:xfrm>
            <a:off x="8732520" y="2505456"/>
            <a:ext cx="2834640" cy="402336"/>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13,202</a:t>
            </a:r>
            <a:endParaRPr lang="en-US" sz="2600" dirty="0"/>
          </a:p>
        </p:txBody>
      </p:sp>
      <p:sp>
        <p:nvSpPr>
          <p:cNvPr id="10" name="Text 8"/>
          <p:cNvSpPr/>
          <p:nvPr/>
        </p:nvSpPr>
        <p:spPr>
          <a:xfrm>
            <a:off x="8732520" y="2907792"/>
            <a:ext cx="2834640" cy="256032"/>
          </a:xfrm>
          <a:prstGeom prst="rect">
            <a:avLst/>
          </a:prstGeom>
          <a:noFill/>
          <a:ln/>
        </p:spPr>
        <p:txBody>
          <a:bodyPr wrap="square" lIns="0" tIns="0" rIns="0" bIns="0" rtlCol="0" anchor="ctr"/>
          <a:lstStyle/>
          <a:p>
            <a:pPr indent="0" marL="0">
              <a:buNone/>
            </a:pPr>
            <a:r>
              <a:rPr lang="en-US" sz="1100" dirty="0">
                <a:solidFill>
                  <a:srgbClr val="95C6D2"/>
                </a:solidFill>
                <a:latin typeface="Calibri" pitchFamily="34" charset="0"/>
                <a:ea typeface="Calibri" pitchFamily="34" charset="-122"/>
                <a:cs typeface="Calibri" pitchFamily="34" charset="-120"/>
              </a:rPr>
              <a:t>criteria</a:t>
            </a:r>
            <a:endParaRPr lang="en-US" sz="1100" dirty="0"/>
          </a:p>
        </p:txBody>
      </p:sp>
      <p:sp>
        <p:nvSpPr>
          <p:cNvPr id="11" name="Text 9"/>
          <p:cNvSpPr/>
          <p:nvPr/>
        </p:nvSpPr>
        <p:spPr>
          <a:xfrm>
            <a:off x="8732520" y="3438144"/>
            <a:ext cx="2834640" cy="402336"/>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15,360</a:t>
            </a:r>
            <a:endParaRPr lang="en-US" sz="2600" dirty="0"/>
          </a:p>
        </p:txBody>
      </p:sp>
      <p:sp>
        <p:nvSpPr>
          <p:cNvPr id="12" name="Text 10"/>
          <p:cNvSpPr/>
          <p:nvPr/>
        </p:nvSpPr>
        <p:spPr>
          <a:xfrm>
            <a:off x="8732520" y="3840480"/>
            <a:ext cx="2834640" cy="256032"/>
          </a:xfrm>
          <a:prstGeom prst="rect">
            <a:avLst/>
          </a:prstGeom>
          <a:noFill/>
          <a:ln/>
        </p:spPr>
        <p:txBody>
          <a:bodyPr wrap="square" lIns="0" tIns="0" rIns="0" bIns="0" rtlCol="0" anchor="ctr"/>
          <a:lstStyle/>
          <a:p>
            <a:pPr indent="0" marL="0">
              <a:buNone/>
            </a:pPr>
            <a:r>
              <a:rPr lang="en-US" sz="1100" dirty="0">
                <a:solidFill>
                  <a:srgbClr val="95C6D2"/>
                </a:solidFill>
                <a:latin typeface="Calibri" pitchFamily="34" charset="0"/>
                <a:ea typeface="Calibri" pitchFamily="34" charset="-122"/>
                <a:cs typeface="Calibri" pitchFamily="34" charset="-120"/>
              </a:rPr>
              <a:t>predicates</a:t>
            </a:r>
            <a:endParaRPr lang="en-US" sz="1100" dirty="0"/>
          </a:p>
        </p:txBody>
      </p:sp>
      <p:sp>
        <p:nvSpPr>
          <p:cNvPr id="13" name="Text 11"/>
          <p:cNvSpPr/>
          <p:nvPr/>
        </p:nvSpPr>
        <p:spPr>
          <a:xfrm>
            <a:off x="8732520" y="4370832"/>
            <a:ext cx="2834640" cy="402336"/>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a:t>
            </a:r>
            <a:endParaRPr lang="en-US" sz="2600" dirty="0"/>
          </a:p>
        </p:txBody>
      </p:sp>
      <p:sp>
        <p:nvSpPr>
          <p:cNvPr id="14" name="Text 12"/>
          <p:cNvSpPr/>
          <p:nvPr/>
        </p:nvSpPr>
        <p:spPr>
          <a:xfrm>
            <a:off x="8732520" y="4773168"/>
            <a:ext cx="2834640" cy="256032"/>
          </a:xfrm>
          <a:prstGeom prst="rect">
            <a:avLst/>
          </a:prstGeom>
          <a:noFill/>
          <a:ln/>
        </p:spPr>
        <p:txBody>
          <a:bodyPr wrap="square" lIns="0" tIns="0" rIns="0" bIns="0" rtlCol="0" anchor="ctr"/>
          <a:lstStyle/>
          <a:p>
            <a:pPr indent="0" marL="0">
              <a:buNone/>
            </a:pPr>
            <a:r>
              <a:rPr lang="en-US" sz="1100" dirty="0">
                <a:solidFill>
                  <a:srgbClr val="95C6D2"/>
                </a:solidFill>
                <a:latin typeface="Calibri" pitchFamily="34" charset="0"/>
                <a:ea typeface="Calibri" pitchFamily="34" charset="-122"/>
                <a:cs typeface="Calibri" pitchFamily="34" charset="-120"/>
              </a:rPr>
              <a:t>model calls</a:t>
            </a:r>
            <a:endParaRPr lang="en-US" sz="1100" dirty="0"/>
          </a:p>
        </p:txBody>
      </p:sp>
      <p:sp>
        <p:nvSpPr>
          <p:cNvPr id="15" name="Text 13"/>
          <p:cNvSpPr/>
          <p:nvPr/>
        </p:nvSpPr>
        <p:spPr>
          <a:xfrm>
            <a:off x="594360" y="5358384"/>
            <a:ext cx="10881360" cy="274320"/>
          </a:xfrm>
          <a:prstGeom prst="rect">
            <a:avLst/>
          </a:prstGeom>
          <a:noFill/>
          <a:ln/>
        </p:spPr>
        <p:txBody>
          <a:bodyPr wrap="square" lIns="0" tIns="0" rIns="0" bIns="0" rtlCol="0" anchor="ctr"/>
          <a:lstStyle/>
          <a:p>
            <a:pPr indent="0" marL="0">
              <a:buNone/>
            </a:pPr>
            <a:r>
              <a:rPr lang="en-US" sz="1050" dirty="0">
                <a:solidFill>
                  <a:srgbClr val="95C6D2"/>
                </a:solidFill>
                <a:latin typeface="Calibri" pitchFamily="34" charset="0"/>
                <a:ea typeface="Calibri" pitchFamily="34" charset="-122"/>
                <a:cs typeface="Calibri" pitchFamily="34" charset="-120"/>
              </a:rPr>
              <a:t>Source: ClinicalTrials.gov API v2  ·  snapshot 14 Aug 2026  ·  every trial links to its registry record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182880"/>
            <a:ext cx="10972800" cy="237744"/>
          </a:xfrm>
          <a:prstGeom prst="rect">
            <a:avLst/>
          </a:prstGeom>
          <a:noFill/>
          <a:ln/>
        </p:spPr>
        <p:txBody>
          <a:bodyPr wrap="square" lIns="0" tIns="0" rIns="0" bIns="0" rtlCol="0" anchor="ctr"/>
          <a:lstStyle/>
          <a:p>
            <a:pPr indent="0" marL="0">
              <a:buNone/>
            </a:pPr>
            <a:r>
              <a:rPr lang="en-US" sz="1150" b="1" spc="160" kern="0" dirty="0">
                <a:solidFill>
                  <a:srgbClr val="74898E"/>
                </a:solidFill>
                <a:latin typeface="Calibri" pitchFamily="34" charset="0"/>
                <a:ea typeface="Calibri" pitchFamily="34" charset="-122"/>
                <a:cs typeface="Calibri" pitchFamily="34" charset="-120"/>
              </a:rPr>
              <a:t>THE PROBLEM</a:t>
            </a:r>
            <a:endParaRPr lang="en-US" sz="1150" dirty="0"/>
          </a:p>
        </p:txBody>
      </p:sp>
      <p:sp>
        <p:nvSpPr>
          <p:cNvPr id="3" name="Text 1"/>
          <p:cNvSpPr/>
          <p:nvPr/>
        </p:nvSpPr>
        <p:spPr>
          <a:xfrm>
            <a:off x="594360" y="384048"/>
            <a:ext cx="10972800" cy="731520"/>
          </a:xfrm>
          <a:prstGeom prst="rect">
            <a:avLst/>
          </a:prstGeom>
          <a:noFill/>
          <a:ln/>
        </p:spPr>
        <p:txBody>
          <a:bodyPr wrap="square" lIns="0" tIns="0" rIns="0" bIns="0" rtlCol="0" anchor="t"/>
          <a:lstStyle/>
          <a:p>
            <a:pPr indent="0" marL="0">
              <a:buNone/>
            </a:pPr>
            <a:r>
              <a:rPr lang="en-US" sz="3400" b="1" dirty="0">
                <a:solidFill>
                  <a:srgbClr val="07161A"/>
                </a:solidFill>
                <a:latin typeface="Cambria" pitchFamily="34" charset="0"/>
                <a:ea typeface="Cambria" pitchFamily="34" charset="-122"/>
                <a:cs typeface="Cambria" pitchFamily="34" charset="-120"/>
              </a:rPr>
              <a:t>Both sides of the market are starved at once</a:t>
            </a:r>
            <a:endParaRPr lang="en-US" sz="3400" dirty="0"/>
          </a:p>
        </p:txBody>
      </p:sp>
      <p:sp>
        <p:nvSpPr>
          <p:cNvPr id="4" name="Shape 2"/>
          <p:cNvSpPr/>
          <p:nvPr/>
        </p:nvSpPr>
        <p:spPr>
          <a:xfrm>
            <a:off x="594360" y="1417320"/>
            <a:ext cx="3520440" cy="1371600"/>
          </a:xfrm>
          <a:prstGeom prst="roundRect">
            <a:avLst>
              <a:gd name="adj" fmla="val 4000"/>
            </a:avLst>
          </a:prstGeom>
          <a:solidFill>
            <a:srgbClr val="FFFFFF"/>
          </a:solidFill>
          <a:ln w="12700">
            <a:solidFill>
              <a:srgbClr val="E2ECEF"/>
            </a:solidFill>
            <a:prstDash val="solid"/>
          </a:ln>
        </p:spPr>
      </p:sp>
      <p:sp>
        <p:nvSpPr>
          <p:cNvPr id="5" name="Text 3"/>
          <p:cNvSpPr/>
          <p:nvPr/>
        </p:nvSpPr>
        <p:spPr>
          <a:xfrm>
            <a:off x="795528" y="1545336"/>
            <a:ext cx="3118104" cy="694944"/>
          </a:xfrm>
          <a:prstGeom prst="rect">
            <a:avLst/>
          </a:prstGeom>
          <a:noFill/>
          <a:ln/>
        </p:spPr>
        <p:txBody>
          <a:bodyPr wrap="square" lIns="0" tIns="0" rIns="0" bIns="0" rtlCol="0" anchor="ctr"/>
          <a:lstStyle/>
          <a:p>
            <a:pPr indent="0" marL="0">
              <a:buNone/>
            </a:pPr>
            <a:r>
              <a:rPr lang="en-US" sz="3800" b="1" dirty="0">
                <a:solidFill>
                  <a:srgbClr val="A81F17"/>
                </a:solidFill>
                <a:latin typeface="Cambria" pitchFamily="34" charset="0"/>
                <a:ea typeface="Cambria" pitchFamily="34" charset="-122"/>
                <a:cs typeface="Cambria" pitchFamily="34" charset="-120"/>
              </a:rPr>
              <a:t>&lt; 5%</a:t>
            </a:r>
            <a:endParaRPr lang="en-US" sz="3800" dirty="0"/>
          </a:p>
        </p:txBody>
      </p:sp>
      <p:sp>
        <p:nvSpPr>
          <p:cNvPr id="6" name="Text 4"/>
          <p:cNvSpPr/>
          <p:nvPr/>
        </p:nvSpPr>
        <p:spPr>
          <a:xfrm>
            <a:off x="795528" y="2240280"/>
            <a:ext cx="3118104" cy="475488"/>
          </a:xfrm>
          <a:prstGeom prst="rect">
            <a:avLst/>
          </a:prstGeom>
          <a:noFill/>
          <a:ln/>
        </p:spPr>
        <p:txBody>
          <a:bodyPr wrap="square" lIns="0" tIns="0" rIns="0" bIns="0" rtlCol="0" anchor="t"/>
          <a:lstStyle/>
          <a:p>
            <a:pPr indent="0" marL="0">
              <a:lnSpc>
                <a:spcPts val="1500"/>
              </a:lnSpc>
              <a:buNone/>
            </a:pPr>
            <a:r>
              <a:rPr lang="en-US" sz="1150" dirty="0">
                <a:solidFill>
                  <a:srgbClr val="3F5257"/>
                </a:solidFill>
                <a:latin typeface="Calibri" pitchFamily="34" charset="0"/>
                <a:ea typeface="Calibri" pitchFamily="34" charset="-122"/>
                <a:cs typeface="Calibri" pitchFamily="34" charset="-120"/>
              </a:rPr>
              <a:t>of adult cancer patients enrol in a trial</a:t>
            </a:r>
            <a:endParaRPr lang="en-US" sz="1150" dirty="0"/>
          </a:p>
        </p:txBody>
      </p:sp>
      <p:sp>
        <p:nvSpPr>
          <p:cNvPr id="7" name="Shape 5"/>
          <p:cNvSpPr/>
          <p:nvPr/>
        </p:nvSpPr>
        <p:spPr>
          <a:xfrm>
            <a:off x="4297680" y="1417320"/>
            <a:ext cx="3520440" cy="1371600"/>
          </a:xfrm>
          <a:prstGeom prst="roundRect">
            <a:avLst>
              <a:gd name="adj" fmla="val 4000"/>
            </a:avLst>
          </a:prstGeom>
          <a:solidFill>
            <a:srgbClr val="FFFFFF"/>
          </a:solidFill>
          <a:ln w="12700">
            <a:solidFill>
              <a:srgbClr val="E2ECEF"/>
            </a:solidFill>
            <a:prstDash val="solid"/>
          </a:ln>
        </p:spPr>
      </p:sp>
      <p:sp>
        <p:nvSpPr>
          <p:cNvPr id="8" name="Text 6"/>
          <p:cNvSpPr/>
          <p:nvPr/>
        </p:nvSpPr>
        <p:spPr>
          <a:xfrm>
            <a:off x="4498848" y="1545336"/>
            <a:ext cx="3118104" cy="694944"/>
          </a:xfrm>
          <a:prstGeom prst="rect">
            <a:avLst/>
          </a:prstGeom>
          <a:noFill/>
          <a:ln/>
        </p:spPr>
        <p:txBody>
          <a:bodyPr wrap="square" lIns="0" tIns="0" rIns="0" bIns="0" rtlCol="0" anchor="ctr"/>
          <a:lstStyle/>
          <a:p>
            <a:pPr indent="0" marL="0">
              <a:buNone/>
            </a:pPr>
            <a:r>
              <a:rPr lang="en-US" sz="3800" b="1" dirty="0">
                <a:solidFill>
                  <a:srgbClr val="A81F17"/>
                </a:solidFill>
                <a:latin typeface="Cambria" pitchFamily="34" charset="0"/>
                <a:ea typeface="Cambria" pitchFamily="34" charset="-122"/>
                <a:cs typeface="Cambria" pitchFamily="34" charset="-120"/>
              </a:rPr>
              <a:t>20–40%</a:t>
            </a:r>
            <a:endParaRPr lang="en-US" sz="3800" dirty="0"/>
          </a:p>
        </p:txBody>
      </p:sp>
      <p:sp>
        <p:nvSpPr>
          <p:cNvPr id="9" name="Text 7"/>
          <p:cNvSpPr/>
          <p:nvPr/>
        </p:nvSpPr>
        <p:spPr>
          <a:xfrm>
            <a:off x="4498848" y="2240280"/>
            <a:ext cx="3118104" cy="475488"/>
          </a:xfrm>
          <a:prstGeom prst="rect">
            <a:avLst/>
          </a:prstGeom>
          <a:noFill/>
          <a:ln/>
        </p:spPr>
        <p:txBody>
          <a:bodyPr wrap="square" lIns="0" tIns="0" rIns="0" bIns="0" rtlCol="0" anchor="t"/>
          <a:lstStyle/>
          <a:p>
            <a:pPr indent="0" marL="0">
              <a:lnSpc>
                <a:spcPts val="1500"/>
              </a:lnSpc>
              <a:buNone/>
            </a:pPr>
            <a:r>
              <a:rPr lang="en-US" sz="1150" dirty="0">
                <a:solidFill>
                  <a:srgbClr val="3F5257"/>
                </a:solidFill>
                <a:latin typeface="Calibri" pitchFamily="34" charset="0"/>
                <a:ea typeface="Calibri" pitchFamily="34" charset="-122"/>
                <a:cs typeface="Calibri" pitchFamily="34" charset="-120"/>
              </a:rPr>
              <a:t>of cancer trials miss enrolment targets and terminate early</a:t>
            </a:r>
            <a:endParaRPr lang="en-US" sz="1150" dirty="0"/>
          </a:p>
        </p:txBody>
      </p:sp>
      <p:sp>
        <p:nvSpPr>
          <p:cNvPr id="10" name="Shape 8"/>
          <p:cNvSpPr/>
          <p:nvPr/>
        </p:nvSpPr>
        <p:spPr>
          <a:xfrm>
            <a:off x="8001000" y="1417320"/>
            <a:ext cx="3566160" cy="1371600"/>
          </a:xfrm>
          <a:prstGeom prst="roundRect">
            <a:avLst>
              <a:gd name="adj" fmla="val 4000"/>
            </a:avLst>
          </a:prstGeom>
          <a:solidFill>
            <a:srgbClr val="FFFFFF"/>
          </a:solidFill>
          <a:ln w="12700">
            <a:solidFill>
              <a:srgbClr val="E2ECEF"/>
            </a:solidFill>
            <a:prstDash val="solid"/>
          </a:ln>
        </p:spPr>
      </p:sp>
      <p:sp>
        <p:nvSpPr>
          <p:cNvPr id="11" name="Text 9"/>
          <p:cNvSpPr/>
          <p:nvPr/>
        </p:nvSpPr>
        <p:spPr>
          <a:xfrm>
            <a:off x="8202168" y="1545336"/>
            <a:ext cx="3163824" cy="694944"/>
          </a:xfrm>
          <a:prstGeom prst="rect">
            <a:avLst/>
          </a:prstGeom>
          <a:noFill/>
          <a:ln/>
        </p:spPr>
        <p:txBody>
          <a:bodyPr wrap="square" lIns="0" tIns="0" rIns="0" bIns="0" rtlCol="0" anchor="ctr"/>
          <a:lstStyle/>
          <a:p>
            <a:pPr indent="0" marL="0">
              <a:buNone/>
            </a:pPr>
            <a:r>
              <a:rPr lang="en-US" sz="3800" b="1" dirty="0">
                <a:solidFill>
                  <a:srgbClr val="0A5F6E"/>
                </a:solidFill>
                <a:latin typeface="Cambria" pitchFamily="34" charset="0"/>
                <a:ea typeface="Cambria" pitchFamily="34" charset="-122"/>
                <a:cs typeface="Cambria" pitchFamily="34" charset="-120"/>
              </a:rPr>
              <a:t>100,000s</a:t>
            </a:r>
            <a:endParaRPr lang="en-US" sz="3800" dirty="0"/>
          </a:p>
        </p:txBody>
      </p:sp>
      <p:sp>
        <p:nvSpPr>
          <p:cNvPr id="12" name="Text 10"/>
          <p:cNvSpPr/>
          <p:nvPr/>
        </p:nvSpPr>
        <p:spPr>
          <a:xfrm>
            <a:off x="8202168" y="2240280"/>
            <a:ext cx="3163824" cy="475488"/>
          </a:xfrm>
          <a:prstGeom prst="rect">
            <a:avLst/>
          </a:prstGeom>
          <a:noFill/>
          <a:ln/>
        </p:spPr>
        <p:txBody>
          <a:bodyPr wrap="square" lIns="0" tIns="0" rIns="0" bIns="0" rtlCol="0" anchor="t"/>
          <a:lstStyle/>
          <a:p>
            <a:pPr indent="0" marL="0">
              <a:lnSpc>
                <a:spcPts val="1500"/>
              </a:lnSpc>
              <a:buNone/>
            </a:pPr>
            <a:r>
              <a:rPr lang="en-US" sz="1150" dirty="0">
                <a:solidFill>
                  <a:srgbClr val="3F5257"/>
                </a:solidFill>
                <a:latin typeface="Calibri" pitchFamily="34" charset="0"/>
                <a:ea typeface="Calibri" pitchFamily="34" charset="-122"/>
                <a:cs typeface="Calibri" pitchFamily="34" charset="-120"/>
              </a:rPr>
              <a:t>of registered trials to search</a:t>
            </a:r>
            <a:endParaRPr lang="en-US" sz="1150" dirty="0"/>
          </a:p>
        </p:txBody>
      </p:sp>
      <p:sp>
        <p:nvSpPr>
          <p:cNvPr id="13" name="Text 11"/>
          <p:cNvSpPr/>
          <p:nvPr/>
        </p:nvSpPr>
        <p:spPr>
          <a:xfrm>
            <a:off x="594360" y="3063240"/>
            <a:ext cx="5486400" cy="310896"/>
          </a:xfrm>
          <a:prstGeom prst="rect">
            <a:avLst/>
          </a:prstGeom>
          <a:noFill/>
          <a:ln/>
        </p:spPr>
        <p:txBody>
          <a:bodyPr wrap="square" lIns="0" tIns="0" rIns="0" bIns="0" rtlCol="0" anchor="ctr"/>
          <a:lstStyle/>
          <a:p>
            <a:pPr indent="0" marL="0">
              <a:buNone/>
            </a:pPr>
            <a:r>
              <a:rPr lang="en-US" sz="1300" b="1" dirty="0">
                <a:solidFill>
                  <a:srgbClr val="07161A"/>
                </a:solidFill>
                <a:latin typeface="Calibri" pitchFamily="34" charset="0"/>
                <a:ea typeface="Calibri" pitchFamily="34" charset="-122"/>
                <a:cs typeface="Calibri" pitchFamily="34" charset="-120"/>
              </a:rPr>
              <a:t>Why patients do not enrol</a:t>
            </a:r>
            <a:endParaRPr lang="en-US" sz="1300" dirty="0"/>
          </a:p>
        </p:txBody>
      </p:sp>
      <p:sp>
        <p:nvSpPr>
          <p:cNvPr id="14" name="Text 12"/>
          <p:cNvSpPr/>
          <p:nvPr/>
        </p:nvSpPr>
        <p:spPr>
          <a:xfrm>
            <a:off x="594360" y="3456432"/>
            <a:ext cx="4114800" cy="310896"/>
          </a:xfrm>
          <a:prstGeom prst="rect">
            <a:avLst/>
          </a:prstGeom>
          <a:noFill/>
          <a:ln/>
        </p:spPr>
        <p:txBody>
          <a:bodyPr wrap="square" lIns="0" tIns="0" rIns="0" bIns="0" rtlCol="0" anchor="ctr"/>
          <a:lstStyle/>
          <a:p>
            <a:pPr indent="0" marL="0">
              <a:buNone/>
            </a:pPr>
            <a:r>
              <a:rPr lang="en-US" sz="1200" dirty="0">
                <a:solidFill>
                  <a:srgbClr val="3F5257"/>
                </a:solidFill>
                <a:latin typeface="Calibri" pitchFamily="34" charset="0"/>
                <a:ea typeface="Calibri" pitchFamily="34" charset="-122"/>
                <a:cs typeface="Calibri" pitchFamily="34" charset="-120"/>
              </a:rPr>
              <a:t>No suitable trial at the treatment location</a:t>
            </a:r>
            <a:endParaRPr lang="en-US" sz="1200" dirty="0"/>
          </a:p>
        </p:txBody>
      </p:sp>
      <p:sp>
        <p:nvSpPr>
          <p:cNvPr id="15" name="Shape 13"/>
          <p:cNvSpPr/>
          <p:nvPr/>
        </p:nvSpPr>
        <p:spPr>
          <a:xfrm>
            <a:off x="4800600" y="3511296"/>
            <a:ext cx="4754880" cy="201168"/>
          </a:xfrm>
          <a:prstGeom prst="rect">
            <a:avLst/>
          </a:prstGeom>
          <a:solidFill>
            <a:srgbClr val="F2FBFC"/>
          </a:solidFill>
          <a:ln w="12700">
            <a:solidFill>
              <a:srgbClr val="F2FBFC"/>
            </a:solidFill>
            <a:prstDash val="solid"/>
          </a:ln>
        </p:spPr>
      </p:sp>
      <p:sp>
        <p:nvSpPr>
          <p:cNvPr id="16" name="Shape 14"/>
          <p:cNvSpPr/>
          <p:nvPr/>
        </p:nvSpPr>
        <p:spPr>
          <a:xfrm>
            <a:off x="4800600" y="3511296"/>
            <a:ext cx="2662733" cy="201168"/>
          </a:xfrm>
          <a:prstGeom prst="rect">
            <a:avLst/>
          </a:prstGeom>
          <a:solidFill>
            <a:srgbClr val="A81F17"/>
          </a:solidFill>
          <a:ln w="12700">
            <a:solidFill>
              <a:srgbClr val="A81F17"/>
            </a:solidFill>
            <a:prstDash val="solid"/>
          </a:ln>
        </p:spPr>
      </p:sp>
      <p:sp>
        <p:nvSpPr>
          <p:cNvPr id="17" name="Text 15"/>
          <p:cNvSpPr/>
          <p:nvPr/>
        </p:nvSpPr>
        <p:spPr>
          <a:xfrm>
            <a:off x="9692640" y="3456432"/>
            <a:ext cx="822960" cy="310896"/>
          </a:xfrm>
          <a:prstGeom prst="rect">
            <a:avLst/>
          </a:prstGeom>
          <a:noFill/>
          <a:ln/>
        </p:spPr>
        <p:txBody>
          <a:bodyPr wrap="square" lIns="0" tIns="0" rIns="0" bIns="0" rtlCol="0" anchor="ctr"/>
          <a:lstStyle/>
          <a:p>
            <a:pPr indent="0" marL="0">
              <a:buNone/>
            </a:pPr>
            <a:r>
              <a:rPr lang="en-US" sz="1200" b="1" dirty="0">
                <a:solidFill>
                  <a:srgbClr val="A81F17"/>
                </a:solidFill>
                <a:latin typeface="Calibri" pitchFamily="34" charset="0"/>
                <a:ea typeface="Calibri" pitchFamily="34" charset="-122"/>
                <a:cs typeface="Calibri" pitchFamily="34" charset="-120"/>
              </a:rPr>
              <a:t>56%</a:t>
            </a:r>
            <a:endParaRPr lang="en-US" sz="1200" dirty="0"/>
          </a:p>
        </p:txBody>
      </p:sp>
      <p:sp>
        <p:nvSpPr>
          <p:cNvPr id="18" name="Text 16"/>
          <p:cNvSpPr/>
          <p:nvPr/>
        </p:nvSpPr>
        <p:spPr>
          <a:xfrm>
            <a:off x="594360" y="4023360"/>
            <a:ext cx="4114800" cy="310896"/>
          </a:xfrm>
          <a:prstGeom prst="rect">
            <a:avLst/>
          </a:prstGeom>
          <a:noFill/>
          <a:ln/>
        </p:spPr>
        <p:txBody>
          <a:bodyPr wrap="square" lIns="0" tIns="0" rIns="0" bIns="0" rtlCol="0" anchor="ctr"/>
          <a:lstStyle/>
          <a:p>
            <a:pPr indent="0" marL="0">
              <a:buNone/>
            </a:pPr>
            <a:r>
              <a:rPr lang="en-US" sz="1200" dirty="0">
                <a:solidFill>
                  <a:srgbClr val="3F5257"/>
                </a:solidFill>
                <a:latin typeface="Calibri" pitchFamily="34" charset="0"/>
                <a:ea typeface="Calibri" pitchFamily="34" charset="-122"/>
                <a:cs typeface="Calibri" pitchFamily="34" charset="-120"/>
              </a:rPr>
              <a:t>Eligibility criteria too restrictive</a:t>
            </a:r>
            <a:endParaRPr lang="en-US" sz="1200" dirty="0"/>
          </a:p>
        </p:txBody>
      </p:sp>
      <p:sp>
        <p:nvSpPr>
          <p:cNvPr id="19" name="Shape 17"/>
          <p:cNvSpPr/>
          <p:nvPr/>
        </p:nvSpPr>
        <p:spPr>
          <a:xfrm>
            <a:off x="4800600" y="4078224"/>
            <a:ext cx="4754880" cy="201168"/>
          </a:xfrm>
          <a:prstGeom prst="rect">
            <a:avLst/>
          </a:prstGeom>
          <a:solidFill>
            <a:srgbClr val="F2FBFC"/>
          </a:solidFill>
          <a:ln w="12700">
            <a:solidFill>
              <a:srgbClr val="F2FBFC"/>
            </a:solidFill>
            <a:prstDash val="solid"/>
          </a:ln>
        </p:spPr>
      </p:sp>
      <p:sp>
        <p:nvSpPr>
          <p:cNvPr id="20" name="Shape 18"/>
          <p:cNvSpPr/>
          <p:nvPr/>
        </p:nvSpPr>
        <p:spPr>
          <a:xfrm>
            <a:off x="4800600" y="4078224"/>
            <a:ext cx="1046074" cy="201168"/>
          </a:xfrm>
          <a:prstGeom prst="rect">
            <a:avLst/>
          </a:prstGeom>
          <a:solidFill>
            <a:srgbClr val="0E7A8C"/>
          </a:solidFill>
          <a:ln w="12700">
            <a:solidFill>
              <a:srgbClr val="0E7A8C"/>
            </a:solidFill>
            <a:prstDash val="solid"/>
          </a:ln>
        </p:spPr>
      </p:sp>
      <p:sp>
        <p:nvSpPr>
          <p:cNvPr id="21" name="Text 19"/>
          <p:cNvSpPr/>
          <p:nvPr/>
        </p:nvSpPr>
        <p:spPr>
          <a:xfrm>
            <a:off x="9692640" y="4023360"/>
            <a:ext cx="822960" cy="310896"/>
          </a:xfrm>
          <a:prstGeom prst="rect">
            <a:avLst/>
          </a:prstGeom>
          <a:noFill/>
          <a:ln/>
        </p:spPr>
        <p:txBody>
          <a:bodyPr wrap="square" lIns="0" tIns="0" rIns="0" bIns="0" rtlCol="0" anchor="ctr"/>
          <a:lstStyle/>
          <a:p>
            <a:pPr indent="0" marL="0">
              <a:buNone/>
            </a:pPr>
            <a:r>
              <a:rPr lang="en-US" sz="1200" b="1" dirty="0">
                <a:solidFill>
                  <a:srgbClr val="0E7A8C"/>
                </a:solidFill>
                <a:latin typeface="Calibri" pitchFamily="34" charset="0"/>
                <a:ea typeface="Calibri" pitchFamily="34" charset="-122"/>
                <a:cs typeface="Calibri" pitchFamily="34" charset="-120"/>
              </a:rPr>
              <a:t>22%</a:t>
            </a:r>
            <a:endParaRPr lang="en-US" sz="1200" dirty="0"/>
          </a:p>
        </p:txBody>
      </p:sp>
      <p:sp>
        <p:nvSpPr>
          <p:cNvPr id="22" name="Text 20"/>
          <p:cNvSpPr/>
          <p:nvPr/>
        </p:nvSpPr>
        <p:spPr>
          <a:xfrm>
            <a:off x="594360" y="4590288"/>
            <a:ext cx="4114800" cy="310896"/>
          </a:xfrm>
          <a:prstGeom prst="rect">
            <a:avLst/>
          </a:prstGeom>
          <a:noFill/>
          <a:ln/>
        </p:spPr>
        <p:txBody>
          <a:bodyPr wrap="square" lIns="0" tIns="0" rIns="0" bIns="0" rtlCol="0" anchor="ctr"/>
          <a:lstStyle/>
          <a:p>
            <a:pPr indent="0" marL="0">
              <a:buNone/>
            </a:pPr>
            <a:r>
              <a:rPr lang="en-US" sz="1200" dirty="0">
                <a:solidFill>
                  <a:srgbClr val="3F5257"/>
                </a:solidFill>
                <a:latin typeface="Calibri" pitchFamily="34" charset="0"/>
                <a:ea typeface="Calibri" pitchFamily="34" charset="-122"/>
                <a:cs typeface="Calibri" pitchFamily="34" charset="-120"/>
              </a:rPr>
              <a:t>Other</a:t>
            </a:r>
            <a:endParaRPr lang="en-US" sz="1200" dirty="0"/>
          </a:p>
        </p:txBody>
      </p:sp>
      <p:sp>
        <p:nvSpPr>
          <p:cNvPr id="23" name="Shape 21"/>
          <p:cNvSpPr/>
          <p:nvPr/>
        </p:nvSpPr>
        <p:spPr>
          <a:xfrm>
            <a:off x="4800600" y="4645152"/>
            <a:ext cx="4754880" cy="201168"/>
          </a:xfrm>
          <a:prstGeom prst="rect">
            <a:avLst/>
          </a:prstGeom>
          <a:solidFill>
            <a:srgbClr val="F2FBFC"/>
          </a:solidFill>
          <a:ln w="12700">
            <a:solidFill>
              <a:srgbClr val="F2FBFC"/>
            </a:solidFill>
            <a:prstDash val="solid"/>
          </a:ln>
        </p:spPr>
      </p:sp>
      <p:sp>
        <p:nvSpPr>
          <p:cNvPr id="24" name="Shape 22"/>
          <p:cNvSpPr/>
          <p:nvPr/>
        </p:nvSpPr>
        <p:spPr>
          <a:xfrm>
            <a:off x="4800600" y="4645152"/>
            <a:ext cx="1046074" cy="201168"/>
          </a:xfrm>
          <a:prstGeom prst="rect">
            <a:avLst/>
          </a:prstGeom>
          <a:solidFill>
            <a:srgbClr val="55656A"/>
          </a:solidFill>
          <a:ln w="12700">
            <a:solidFill>
              <a:srgbClr val="55656A"/>
            </a:solidFill>
            <a:prstDash val="solid"/>
          </a:ln>
        </p:spPr>
      </p:sp>
      <p:sp>
        <p:nvSpPr>
          <p:cNvPr id="25" name="Text 23"/>
          <p:cNvSpPr/>
          <p:nvPr/>
        </p:nvSpPr>
        <p:spPr>
          <a:xfrm>
            <a:off x="9692640" y="4590288"/>
            <a:ext cx="822960" cy="310896"/>
          </a:xfrm>
          <a:prstGeom prst="rect">
            <a:avLst/>
          </a:prstGeom>
          <a:noFill/>
          <a:ln/>
        </p:spPr>
        <p:txBody>
          <a:bodyPr wrap="square" lIns="0" tIns="0" rIns="0" bIns="0" rtlCol="0" anchor="ctr"/>
          <a:lstStyle/>
          <a:p>
            <a:pPr indent="0" marL="0">
              <a:buNone/>
            </a:pPr>
            <a:r>
              <a:rPr lang="en-US" sz="1200" b="1" dirty="0">
                <a:solidFill>
                  <a:srgbClr val="55656A"/>
                </a:solidFill>
                <a:latin typeface="Calibri" pitchFamily="34" charset="0"/>
                <a:ea typeface="Calibri" pitchFamily="34" charset="-122"/>
                <a:cs typeface="Calibri" pitchFamily="34" charset="-120"/>
              </a:rPr>
              <a:t>22%</a:t>
            </a:r>
            <a:endParaRPr lang="en-US" sz="1200" dirty="0"/>
          </a:p>
        </p:txBody>
      </p:sp>
      <p:sp>
        <p:nvSpPr>
          <p:cNvPr id="26" name="Shape 24"/>
          <p:cNvSpPr/>
          <p:nvPr/>
        </p:nvSpPr>
        <p:spPr>
          <a:xfrm>
            <a:off x="594360" y="5394960"/>
            <a:ext cx="10972800" cy="841248"/>
          </a:xfrm>
          <a:prstGeom prst="roundRect">
            <a:avLst>
              <a:gd name="adj" fmla="val 6522"/>
            </a:avLst>
          </a:prstGeom>
          <a:solidFill>
            <a:srgbClr val="F2FBFC"/>
          </a:solidFill>
          <a:ln w="12700">
            <a:solidFill>
              <a:srgbClr val="E2ECEF"/>
            </a:solidFill>
            <a:prstDash val="solid"/>
          </a:ln>
        </p:spPr>
      </p:sp>
      <p:sp>
        <p:nvSpPr>
          <p:cNvPr id="27" name="Text 25"/>
          <p:cNvSpPr/>
          <p:nvPr/>
        </p:nvSpPr>
        <p:spPr>
          <a:xfrm>
            <a:off x="832104" y="5541264"/>
            <a:ext cx="10497312" cy="566928"/>
          </a:xfrm>
          <a:prstGeom prst="rect">
            <a:avLst/>
          </a:prstGeom>
          <a:noFill/>
          <a:ln/>
        </p:spPr>
        <p:txBody>
          <a:bodyPr wrap="square" lIns="0" tIns="0" rIns="0" bIns="0" rtlCol="0" anchor="t"/>
          <a:lstStyle/>
          <a:p>
            <a:pPr indent="0" marL="0">
              <a:lnSpc>
                <a:spcPts val="1700"/>
              </a:lnSpc>
              <a:buNone/>
            </a:pPr>
            <a:r>
              <a:rPr lang="en-US" sz="1250" b="1" dirty="0">
                <a:solidFill>
                  <a:srgbClr val="07161A"/>
                </a:solidFill>
                <a:latin typeface="Calibri" pitchFamily="34" charset="0"/>
                <a:ea typeface="Calibri" pitchFamily="34" charset="-122"/>
                <a:cs typeface="Calibri" pitchFamily="34" charset="-120"/>
              </a:rPr>
              <a:t>The mechanism.  </a:t>
            </a:r>
            <a:pPr indent="0" marL="0">
              <a:lnSpc>
                <a:spcPts val="1700"/>
              </a:lnSpc>
              <a:buNone/>
            </a:pPr>
            <a:r>
              <a:rPr lang="en-US" sz="1250" dirty="0">
                <a:solidFill>
                  <a:srgbClr val="3F5257"/>
                </a:solidFill>
                <a:latin typeface="Calibri" pitchFamily="34" charset="0"/>
                <a:ea typeface="Calibri" pitchFamily="34" charset="-122"/>
                <a:cs typeface="Calibri" pitchFamily="34" charset="-120"/>
              </a:rPr>
              <a:t>Eligibility criteria are free-text prose: negation, lab thresholds with units, temporal washout windows, prior therapy line counts, biomarker requirements — written for a human coordinator to read by hand.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182880"/>
            <a:ext cx="10972800" cy="237744"/>
          </a:xfrm>
          <a:prstGeom prst="rect">
            <a:avLst/>
          </a:prstGeom>
          <a:noFill/>
          <a:ln/>
        </p:spPr>
        <p:txBody>
          <a:bodyPr wrap="square" lIns="0" tIns="0" rIns="0" bIns="0" rtlCol="0" anchor="ctr"/>
          <a:lstStyle/>
          <a:p>
            <a:pPr indent="0" marL="0">
              <a:buNone/>
            </a:pPr>
            <a:r>
              <a:rPr lang="en-US" sz="1150" b="1" spc="160" kern="0" dirty="0">
                <a:solidFill>
                  <a:srgbClr val="74898E"/>
                </a:solidFill>
                <a:latin typeface="Calibri" pitchFamily="34" charset="0"/>
                <a:ea typeface="Calibri" pitchFamily="34" charset="-122"/>
                <a:cs typeface="Calibri" pitchFamily="34" charset="-120"/>
              </a:rPr>
              <a:t>WHAT ONE CRITERION CONTAINS</a:t>
            </a:r>
            <a:endParaRPr lang="en-US" sz="1150" dirty="0"/>
          </a:p>
        </p:txBody>
      </p:sp>
      <p:sp>
        <p:nvSpPr>
          <p:cNvPr id="3" name="Text 1"/>
          <p:cNvSpPr/>
          <p:nvPr/>
        </p:nvSpPr>
        <p:spPr>
          <a:xfrm>
            <a:off x="594360" y="384048"/>
            <a:ext cx="10972800" cy="731520"/>
          </a:xfrm>
          <a:prstGeom prst="rect">
            <a:avLst/>
          </a:prstGeom>
          <a:noFill/>
          <a:ln/>
        </p:spPr>
        <p:txBody>
          <a:bodyPr wrap="square" lIns="0" tIns="0" rIns="0" bIns="0" rtlCol="0" anchor="t"/>
          <a:lstStyle/>
          <a:p>
            <a:pPr indent="0" marL="0">
              <a:buNone/>
            </a:pPr>
            <a:r>
              <a:rPr lang="en-US" sz="3400" b="1" dirty="0">
                <a:solidFill>
                  <a:srgbClr val="07161A"/>
                </a:solidFill>
                <a:latin typeface="Cambria" pitchFamily="34" charset="0"/>
                <a:ea typeface="Cambria" pitchFamily="34" charset="-122"/>
                <a:cs typeface="Cambria" pitchFamily="34" charset="-120"/>
              </a:rPr>
              <a:t>Four kinds of arithmetic in a single sentence</a:t>
            </a:r>
            <a:endParaRPr lang="en-US" sz="3400" dirty="0"/>
          </a:p>
        </p:txBody>
      </p:sp>
      <p:sp>
        <p:nvSpPr>
          <p:cNvPr id="4" name="Shape 2"/>
          <p:cNvSpPr/>
          <p:nvPr/>
        </p:nvSpPr>
        <p:spPr>
          <a:xfrm>
            <a:off x="594360" y="1481328"/>
            <a:ext cx="10972800" cy="960120"/>
          </a:xfrm>
          <a:prstGeom prst="roundRect">
            <a:avLst>
              <a:gd name="adj" fmla="val 5714"/>
            </a:avLst>
          </a:prstGeom>
          <a:solidFill>
            <a:srgbClr val="F2FBFC"/>
          </a:solidFill>
          <a:ln w="12700">
            <a:solidFill>
              <a:srgbClr val="E2ECEF"/>
            </a:solidFill>
            <a:prstDash val="solid"/>
          </a:ln>
        </p:spPr>
      </p:sp>
      <p:sp>
        <p:nvSpPr>
          <p:cNvPr id="5" name="Text 3"/>
          <p:cNvSpPr/>
          <p:nvPr/>
        </p:nvSpPr>
        <p:spPr>
          <a:xfrm>
            <a:off x="868680" y="1627632"/>
            <a:ext cx="10424160" cy="658368"/>
          </a:xfrm>
          <a:prstGeom prst="rect">
            <a:avLst/>
          </a:prstGeom>
          <a:noFill/>
          <a:ln/>
        </p:spPr>
        <p:txBody>
          <a:bodyPr wrap="square" lIns="0" tIns="0" rIns="0" bIns="0" rtlCol="0" anchor="ctr"/>
          <a:lstStyle/>
          <a:p>
            <a:pPr indent="0" marL="0">
              <a:buNone/>
            </a:pPr>
            <a:r>
              <a:rPr lang="en-US" sz="1700" i="1" dirty="0">
                <a:solidFill>
                  <a:srgbClr val="07161A"/>
                </a:solidFill>
                <a:latin typeface="Calibri" pitchFamily="34" charset="0"/>
                <a:ea typeface="Calibri" pitchFamily="34" charset="-122"/>
                <a:cs typeface="Calibri" pitchFamily="34" charset="-120"/>
              </a:rPr>
              <a:t>“ALT and AST ≤ 3× upper limit of normal, or ≤ 5× ULN in the presence of liver metastases”</a:t>
            </a:r>
            <a:endParaRPr lang="en-US" sz="1700" dirty="0"/>
          </a:p>
        </p:txBody>
      </p:sp>
      <p:sp>
        <p:nvSpPr>
          <p:cNvPr id="6" name="Shape 4"/>
          <p:cNvSpPr/>
          <p:nvPr/>
        </p:nvSpPr>
        <p:spPr>
          <a:xfrm>
            <a:off x="612648" y="2862072"/>
            <a:ext cx="118872" cy="118872"/>
          </a:xfrm>
          <a:prstGeom prst="ellipse">
            <a:avLst/>
          </a:prstGeom>
          <a:solidFill>
            <a:srgbClr val="0E6B3E"/>
          </a:solidFill>
          <a:ln w="12700">
            <a:solidFill>
              <a:srgbClr val="0E6B3E"/>
            </a:solidFill>
            <a:prstDash val="solid"/>
          </a:ln>
        </p:spPr>
      </p:sp>
      <p:sp>
        <p:nvSpPr>
          <p:cNvPr id="7" name="Text 5"/>
          <p:cNvSpPr/>
          <p:nvPr/>
        </p:nvSpPr>
        <p:spPr>
          <a:xfrm>
            <a:off x="886968" y="2743200"/>
            <a:ext cx="3566160" cy="310896"/>
          </a:xfrm>
          <a:prstGeom prst="rect">
            <a:avLst/>
          </a:prstGeom>
          <a:noFill/>
          <a:ln/>
        </p:spPr>
        <p:txBody>
          <a:bodyPr wrap="square" lIns="0" tIns="0" rIns="0" bIns="0" rtlCol="0" anchor="ctr"/>
          <a:lstStyle/>
          <a:p>
            <a:pPr indent="0" marL="0">
              <a:buNone/>
            </a:pPr>
            <a:r>
              <a:rPr lang="en-US" sz="1300" b="1" dirty="0">
                <a:solidFill>
                  <a:srgbClr val="07161A"/>
                </a:solidFill>
                <a:latin typeface="Calibri" pitchFamily="34" charset="0"/>
                <a:ea typeface="Calibri" pitchFamily="34" charset="-122"/>
                <a:cs typeface="Calibri" pitchFamily="34" charset="-120"/>
              </a:rPr>
              <a:t>Two analytes, one threshold</a:t>
            </a:r>
            <a:endParaRPr lang="en-US" sz="1300" dirty="0"/>
          </a:p>
        </p:txBody>
      </p:sp>
      <p:sp>
        <p:nvSpPr>
          <p:cNvPr id="8" name="Text 6"/>
          <p:cNvSpPr/>
          <p:nvPr/>
        </p:nvSpPr>
        <p:spPr>
          <a:xfrm>
            <a:off x="4572000" y="2743200"/>
            <a:ext cx="6949440" cy="658368"/>
          </a:xfrm>
          <a:prstGeom prst="rect">
            <a:avLst/>
          </a:prstGeom>
          <a:noFill/>
          <a:ln/>
        </p:spPr>
        <p:txBody>
          <a:bodyPr wrap="square" lIns="0" tIns="0" rIns="0" bIns="0" rtlCol="0" anchor="t"/>
          <a:lstStyle/>
          <a:p>
            <a:pPr indent="0" marL="0">
              <a:lnSpc>
                <a:spcPts val="1700"/>
              </a:lnSpc>
              <a:buNone/>
            </a:pPr>
            <a:r>
              <a:rPr lang="en-US" sz="1250" dirty="0">
                <a:solidFill>
                  <a:srgbClr val="3F5257"/>
                </a:solidFill>
                <a:latin typeface="Calibri" pitchFamily="34" charset="0"/>
                <a:ea typeface="Calibri" pitchFamily="34" charset="-122"/>
                <a:cs typeface="Calibri" pitchFamily="34" charset="-120"/>
              </a:rPr>
              <a:t>a conjunction — a passing AST must not mask a failing ALT</a:t>
            </a:r>
            <a:endParaRPr lang="en-US" sz="1250" dirty="0"/>
          </a:p>
        </p:txBody>
      </p:sp>
      <p:sp>
        <p:nvSpPr>
          <p:cNvPr id="9" name="Shape 7"/>
          <p:cNvSpPr/>
          <p:nvPr/>
        </p:nvSpPr>
        <p:spPr>
          <a:xfrm>
            <a:off x="612648" y="3758184"/>
            <a:ext cx="118872" cy="118872"/>
          </a:xfrm>
          <a:prstGeom prst="ellipse">
            <a:avLst/>
          </a:prstGeom>
          <a:solidFill>
            <a:srgbClr val="0E7A8C"/>
          </a:solidFill>
          <a:ln w="12700">
            <a:solidFill>
              <a:srgbClr val="0E7A8C"/>
            </a:solidFill>
            <a:prstDash val="solid"/>
          </a:ln>
        </p:spPr>
      </p:sp>
      <p:sp>
        <p:nvSpPr>
          <p:cNvPr id="10" name="Text 8"/>
          <p:cNvSpPr/>
          <p:nvPr/>
        </p:nvSpPr>
        <p:spPr>
          <a:xfrm>
            <a:off x="886968" y="3639312"/>
            <a:ext cx="3566160" cy="310896"/>
          </a:xfrm>
          <a:prstGeom prst="rect">
            <a:avLst/>
          </a:prstGeom>
          <a:noFill/>
          <a:ln/>
        </p:spPr>
        <p:txBody>
          <a:bodyPr wrap="square" lIns="0" tIns="0" rIns="0" bIns="0" rtlCol="0" anchor="ctr"/>
          <a:lstStyle/>
          <a:p>
            <a:pPr indent="0" marL="0">
              <a:buNone/>
            </a:pPr>
            <a:r>
              <a:rPr lang="en-US" sz="1300" b="1" dirty="0">
                <a:solidFill>
                  <a:srgbClr val="07161A"/>
                </a:solidFill>
                <a:latin typeface="Calibri" pitchFamily="34" charset="0"/>
                <a:ea typeface="Calibri" pitchFamily="34" charset="-122"/>
                <a:cs typeface="Calibri" pitchFamily="34" charset="-120"/>
              </a:rPr>
              <a:t>Relative, not absolute</a:t>
            </a:r>
            <a:endParaRPr lang="en-US" sz="1300" dirty="0"/>
          </a:p>
        </p:txBody>
      </p:sp>
      <p:sp>
        <p:nvSpPr>
          <p:cNvPr id="11" name="Text 9"/>
          <p:cNvSpPr/>
          <p:nvPr/>
        </p:nvSpPr>
        <p:spPr>
          <a:xfrm>
            <a:off x="4572000" y="3639312"/>
            <a:ext cx="6949440" cy="658368"/>
          </a:xfrm>
          <a:prstGeom prst="rect">
            <a:avLst/>
          </a:prstGeom>
          <a:noFill/>
          <a:ln/>
        </p:spPr>
        <p:txBody>
          <a:bodyPr wrap="square" lIns="0" tIns="0" rIns="0" bIns="0" rtlCol="0" anchor="t"/>
          <a:lstStyle/>
          <a:p>
            <a:pPr indent="0" marL="0">
              <a:lnSpc>
                <a:spcPts val="1700"/>
              </a:lnSpc>
              <a:buNone/>
            </a:pPr>
            <a:r>
              <a:rPr lang="en-US" sz="1250" dirty="0">
                <a:solidFill>
                  <a:srgbClr val="3F5257"/>
                </a:solidFill>
                <a:latin typeface="Calibri" pitchFamily="34" charset="0"/>
                <a:ea typeface="Calibri" pitchFamily="34" charset="-122"/>
                <a:cs typeface="Calibri" pitchFamily="34" charset="-120"/>
              </a:rPr>
              <a:t>3× ULN is meaningless without the institution's own limit. 37% of lab criteria are ULN-relative.</a:t>
            </a:r>
            <a:endParaRPr lang="en-US" sz="1250" dirty="0"/>
          </a:p>
        </p:txBody>
      </p:sp>
      <p:sp>
        <p:nvSpPr>
          <p:cNvPr id="12" name="Shape 10"/>
          <p:cNvSpPr/>
          <p:nvPr/>
        </p:nvSpPr>
        <p:spPr>
          <a:xfrm>
            <a:off x="612648" y="4654296"/>
            <a:ext cx="118872" cy="118872"/>
          </a:xfrm>
          <a:prstGeom prst="ellipse">
            <a:avLst/>
          </a:prstGeom>
          <a:solidFill>
            <a:srgbClr val="55656A"/>
          </a:solidFill>
          <a:ln w="12700">
            <a:solidFill>
              <a:srgbClr val="55656A"/>
            </a:solidFill>
            <a:prstDash val="solid"/>
          </a:ln>
        </p:spPr>
      </p:sp>
      <p:sp>
        <p:nvSpPr>
          <p:cNvPr id="13" name="Text 11"/>
          <p:cNvSpPr/>
          <p:nvPr/>
        </p:nvSpPr>
        <p:spPr>
          <a:xfrm>
            <a:off x="886968" y="4535424"/>
            <a:ext cx="3566160" cy="310896"/>
          </a:xfrm>
          <a:prstGeom prst="rect">
            <a:avLst/>
          </a:prstGeom>
          <a:noFill/>
          <a:ln/>
        </p:spPr>
        <p:txBody>
          <a:bodyPr wrap="square" lIns="0" tIns="0" rIns="0" bIns="0" rtlCol="0" anchor="ctr"/>
          <a:lstStyle/>
          <a:p>
            <a:pPr indent="0" marL="0">
              <a:buNone/>
            </a:pPr>
            <a:r>
              <a:rPr lang="en-US" sz="1300" b="1" dirty="0">
                <a:solidFill>
                  <a:srgbClr val="07161A"/>
                </a:solidFill>
                <a:latin typeface="Calibri" pitchFamily="34" charset="0"/>
                <a:ea typeface="Calibri" pitchFamily="34" charset="-122"/>
                <a:cs typeface="Calibri" pitchFamily="34" charset="-120"/>
              </a:rPr>
              <a:t>A conditional variant</a:t>
            </a:r>
            <a:endParaRPr lang="en-US" sz="1300" dirty="0"/>
          </a:p>
        </p:txBody>
      </p:sp>
      <p:sp>
        <p:nvSpPr>
          <p:cNvPr id="14" name="Text 12"/>
          <p:cNvSpPr/>
          <p:nvPr/>
        </p:nvSpPr>
        <p:spPr>
          <a:xfrm>
            <a:off x="4572000" y="4535424"/>
            <a:ext cx="6949440" cy="658368"/>
          </a:xfrm>
          <a:prstGeom prst="rect">
            <a:avLst/>
          </a:prstGeom>
          <a:noFill/>
          <a:ln/>
        </p:spPr>
        <p:txBody>
          <a:bodyPr wrap="square" lIns="0" tIns="0" rIns="0" bIns="0" rtlCol="0" anchor="t"/>
          <a:lstStyle/>
          <a:p>
            <a:pPr indent="0" marL="0">
              <a:lnSpc>
                <a:spcPts val="1700"/>
              </a:lnSpc>
              <a:buNone/>
            </a:pPr>
            <a:r>
              <a:rPr lang="en-US" sz="1250" dirty="0">
                <a:solidFill>
                  <a:srgbClr val="3F5257"/>
                </a:solidFill>
                <a:latin typeface="Calibri" pitchFamily="34" charset="0"/>
                <a:ea typeface="Calibri" pitchFamily="34" charset="-122"/>
                <a:cs typeface="Calibri" pitchFamily="34" charset="-120"/>
              </a:rPr>
              <a:t>which bound applies depends on a separate clinical fact about the patient</a:t>
            </a:r>
            <a:endParaRPr lang="en-US" sz="1250" dirty="0"/>
          </a:p>
        </p:txBody>
      </p:sp>
      <p:sp>
        <p:nvSpPr>
          <p:cNvPr id="15" name="Shape 13"/>
          <p:cNvSpPr/>
          <p:nvPr/>
        </p:nvSpPr>
        <p:spPr>
          <a:xfrm>
            <a:off x="612648" y="5550408"/>
            <a:ext cx="118872" cy="118872"/>
          </a:xfrm>
          <a:prstGeom prst="ellipse">
            <a:avLst/>
          </a:prstGeom>
          <a:solidFill>
            <a:srgbClr val="A81F17"/>
          </a:solidFill>
          <a:ln w="12700">
            <a:solidFill>
              <a:srgbClr val="A81F17"/>
            </a:solidFill>
            <a:prstDash val="solid"/>
          </a:ln>
        </p:spPr>
      </p:sp>
      <p:sp>
        <p:nvSpPr>
          <p:cNvPr id="16" name="Text 14"/>
          <p:cNvSpPr/>
          <p:nvPr/>
        </p:nvSpPr>
        <p:spPr>
          <a:xfrm>
            <a:off x="886968" y="5431536"/>
            <a:ext cx="3566160" cy="310896"/>
          </a:xfrm>
          <a:prstGeom prst="rect">
            <a:avLst/>
          </a:prstGeom>
          <a:noFill/>
          <a:ln/>
        </p:spPr>
        <p:txBody>
          <a:bodyPr wrap="square" lIns="0" tIns="0" rIns="0" bIns="0" rtlCol="0" anchor="ctr"/>
          <a:lstStyle/>
          <a:p>
            <a:pPr indent="0" marL="0">
              <a:buNone/>
            </a:pPr>
            <a:r>
              <a:rPr lang="en-US" sz="1300" b="1" dirty="0">
                <a:solidFill>
                  <a:srgbClr val="07161A"/>
                </a:solidFill>
                <a:latin typeface="Calibri" pitchFamily="34" charset="0"/>
                <a:ea typeface="Calibri" pitchFamily="34" charset="-122"/>
                <a:cs typeface="Calibri" pitchFamily="34" charset="-120"/>
              </a:rPr>
              <a:t>Units that will not match</a:t>
            </a:r>
            <a:endParaRPr lang="en-US" sz="1300" dirty="0"/>
          </a:p>
        </p:txBody>
      </p:sp>
      <p:sp>
        <p:nvSpPr>
          <p:cNvPr id="17" name="Text 15"/>
          <p:cNvSpPr/>
          <p:nvPr/>
        </p:nvSpPr>
        <p:spPr>
          <a:xfrm>
            <a:off x="4572000" y="5431536"/>
            <a:ext cx="6949440" cy="658368"/>
          </a:xfrm>
          <a:prstGeom prst="rect">
            <a:avLst/>
          </a:prstGeom>
          <a:noFill/>
          <a:ln/>
        </p:spPr>
        <p:txBody>
          <a:bodyPr wrap="square" lIns="0" tIns="0" rIns="0" bIns="0" rtlCol="0" anchor="t"/>
          <a:lstStyle/>
          <a:p>
            <a:pPr indent="0" marL="0">
              <a:lnSpc>
                <a:spcPts val="1700"/>
              </a:lnSpc>
              <a:buNone/>
            </a:pPr>
            <a:r>
              <a:rPr lang="en-US" sz="1250" dirty="0">
                <a:solidFill>
                  <a:srgbClr val="3F5257"/>
                </a:solidFill>
                <a:latin typeface="Calibri" pitchFamily="34" charset="0"/>
                <a:ea typeface="Calibri" pitchFamily="34" charset="-122"/>
                <a:cs typeface="Calibri" pitchFamily="34" charset="-120"/>
              </a:rPr>
              <a:t>the report says 1500 cells/mm³; the protocol says 1.5 × 10⁹/L</a:t>
            </a:r>
            <a:endParaRPr lang="en-US" sz="1250" dirty="0"/>
          </a:p>
        </p:txBody>
      </p:sp>
      <p:sp>
        <p:nvSpPr>
          <p:cNvPr id="18" name="Text 16"/>
          <p:cNvSpPr/>
          <p:nvPr/>
        </p:nvSpPr>
        <p:spPr>
          <a:xfrm>
            <a:off x="594360" y="6272784"/>
            <a:ext cx="10972800" cy="438912"/>
          </a:xfrm>
          <a:prstGeom prst="rect">
            <a:avLst/>
          </a:prstGeom>
          <a:noFill/>
          <a:ln/>
        </p:spPr>
        <p:txBody>
          <a:bodyPr wrap="square" lIns="0" tIns="0" rIns="0" bIns="0" rtlCol="0" anchor="t"/>
          <a:lstStyle/>
          <a:p>
            <a:pPr indent="0" marL="0">
              <a:lnSpc>
                <a:spcPts val="1200"/>
              </a:lnSpc>
              <a:buNone/>
            </a:pPr>
            <a:r>
              <a:rPr lang="en-US" sz="950" dirty="0">
                <a:solidFill>
                  <a:srgbClr val="74898E"/>
                </a:solidFill>
                <a:latin typeface="Calibri" pitchFamily="34" charset="0"/>
                <a:ea typeface="Calibri" pitchFamily="34" charset="-122"/>
                <a:cs typeface="Calibri" pitchFamily="34" charset="-120"/>
              </a:rPr>
              <a:t>Criterion text verbatim from NCT05283330.</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182880"/>
            <a:ext cx="10972800" cy="237744"/>
          </a:xfrm>
          <a:prstGeom prst="rect">
            <a:avLst/>
          </a:prstGeom>
          <a:noFill/>
          <a:ln/>
        </p:spPr>
        <p:txBody>
          <a:bodyPr wrap="square" lIns="0" tIns="0" rIns="0" bIns="0" rtlCol="0" anchor="ctr"/>
          <a:lstStyle/>
          <a:p>
            <a:pPr indent="0" marL="0">
              <a:buNone/>
            </a:pPr>
            <a:r>
              <a:rPr lang="en-US" sz="1150" b="1" spc="160" kern="0" dirty="0">
                <a:solidFill>
                  <a:srgbClr val="74898E"/>
                </a:solidFill>
                <a:latin typeface="Calibri" pitchFamily="34" charset="0"/>
                <a:ea typeface="Calibri" pitchFamily="34" charset="-122"/>
                <a:cs typeface="Calibri" pitchFamily="34" charset="-120"/>
              </a:rPr>
              <a:t>PRIOR WORK</a:t>
            </a:r>
            <a:endParaRPr lang="en-US" sz="1150" dirty="0"/>
          </a:p>
        </p:txBody>
      </p:sp>
      <p:sp>
        <p:nvSpPr>
          <p:cNvPr id="3" name="Text 1"/>
          <p:cNvSpPr/>
          <p:nvPr/>
        </p:nvSpPr>
        <p:spPr>
          <a:xfrm>
            <a:off x="594360" y="384048"/>
            <a:ext cx="10972800" cy="731520"/>
          </a:xfrm>
          <a:prstGeom prst="rect">
            <a:avLst/>
          </a:prstGeom>
          <a:noFill/>
          <a:ln/>
        </p:spPr>
        <p:txBody>
          <a:bodyPr wrap="square" lIns="0" tIns="0" rIns="0" bIns="0" rtlCol="0" anchor="t"/>
          <a:lstStyle/>
          <a:p>
            <a:pPr indent="0" marL="0">
              <a:buNone/>
            </a:pPr>
            <a:r>
              <a:rPr lang="en-US" sz="3400" b="1" dirty="0">
                <a:solidFill>
                  <a:srgbClr val="07161A"/>
                </a:solidFill>
                <a:latin typeface="Cambria" pitchFamily="34" charset="0"/>
                <a:ea typeface="Cambria" pitchFamily="34" charset="-122"/>
                <a:cs typeface="Cambria" pitchFamily="34" charset="-120"/>
              </a:rPr>
              <a:t>Reasoning-based trial matching already exists</a:t>
            </a:r>
            <a:endParaRPr lang="en-US" sz="3400" dirty="0"/>
          </a:p>
        </p:txBody>
      </p:sp>
      <p:sp>
        <p:nvSpPr>
          <p:cNvPr id="4" name="Shape 2"/>
          <p:cNvSpPr/>
          <p:nvPr/>
        </p:nvSpPr>
        <p:spPr>
          <a:xfrm>
            <a:off x="594360" y="1463040"/>
            <a:ext cx="3474720" cy="3977640"/>
          </a:xfrm>
          <a:prstGeom prst="roundRect">
            <a:avLst>
              <a:gd name="adj" fmla="val 1579"/>
            </a:avLst>
          </a:prstGeom>
          <a:solidFill>
            <a:srgbClr val="FFFFFF"/>
          </a:solidFill>
          <a:ln w="12700">
            <a:solidFill>
              <a:srgbClr val="E2ECEF"/>
            </a:solidFill>
            <a:prstDash val="solid"/>
          </a:ln>
        </p:spPr>
      </p:sp>
      <p:sp>
        <p:nvSpPr>
          <p:cNvPr id="5" name="Text 3"/>
          <p:cNvSpPr/>
          <p:nvPr/>
        </p:nvSpPr>
        <p:spPr>
          <a:xfrm>
            <a:off x="813816" y="1627632"/>
            <a:ext cx="3035808" cy="347472"/>
          </a:xfrm>
          <a:prstGeom prst="rect">
            <a:avLst/>
          </a:prstGeom>
          <a:noFill/>
          <a:ln/>
        </p:spPr>
        <p:txBody>
          <a:bodyPr wrap="square" lIns="0" tIns="0" rIns="0" bIns="0" rtlCol="0" anchor="ctr"/>
          <a:lstStyle/>
          <a:p>
            <a:pPr indent="0" marL="0">
              <a:buNone/>
            </a:pPr>
            <a:r>
              <a:rPr lang="en-US" sz="1900" b="1" dirty="0">
                <a:solidFill>
                  <a:srgbClr val="0A5F6E"/>
                </a:solidFill>
                <a:latin typeface="Cambria" pitchFamily="34" charset="0"/>
                <a:ea typeface="Cambria" pitchFamily="34" charset="-122"/>
                <a:cs typeface="Cambria" pitchFamily="34" charset="-120"/>
              </a:rPr>
              <a:t>TrialGPT</a:t>
            </a:r>
            <a:endParaRPr lang="en-US" sz="1900" dirty="0"/>
          </a:p>
        </p:txBody>
      </p:sp>
      <p:sp>
        <p:nvSpPr>
          <p:cNvPr id="6" name="Text 4"/>
          <p:cNvSpPr/>
          <p:nvPr/>
        </p:nvSpPr>
        <p:spPr>
          <a:xfrm>
            <a:off x="813816" y="1975104"/>
            <a:ext cx="3035808" cy="274320"/>
          </a:xfrm>
          <a:prstGeom prst="rect">
            <a:avLst/>
          </a:prstGeom>
          <a:noFill/>
          <a:ln/>
        </p:spPr>
        <p:txBody>
          <a:bodyPr wrap="square" lIns="0" tIns="0" rIns="0" bIns="0" rtlCol="0" anchor="ctr"/>
          <a:lstStyle/>
          <a:p>
            <a:pPr indent="0" marL="0">
              <a:buNone/>
            </a:pPr>
            <a:r>
              <a:rPr lang="en-US" sz="1050" dirty="0">
                <a:solidFill>
                  <a:srgbClr val="74898E"/>
                </a:solidFill>
                <a:latin typeface="Calibri" pitchFamily="34" charset="0"/>
                <a:ea typeface="Calibri" pitchFamily="34" charset="-122"/>
                <a:cs typeface="Calibri" pitchFamily="34" charset="-120"/>
              </a:rPr>
              <a:t>NIH, 2024</a:t>
            </a:r>
            <a:endParaRPr lang="en-US" sz="1050" dirty="0"/>
          </a:p>
        </p:txBody>
      </p:sp>
      <p:sp>
        <p:nvSpPr>
          <p:cNvPr id="7" name="Text 5"/>
          <p:cNvSpPr/>
          <p:nvPr/>
        </p:nvSpPr>
        <p:spPr>
          <a:xfrm>
            <a:off x="813816" y="2377440"/>
            <a:ext cx="3035808" cy="1463040"/>
          </a:xfrm>
          <a:prstGeom prst="rect">
            <a:avLst/>
          </a:prstGeom>
          <a:noFill/>
          <a:ln/>
        </p:spPr>
        <p:txBody>
          <a:bodyPr wrap="square" lIns="0" tIns="0" rIns="0" bIns="0" rtlCol="0" anchor="t"/>
          <a:lstStyle/>
          <a:p>
            <a:pPr indent="0" marL="0">
              <a:lnSpc>
                <a:spcPts val="1700"/>
              </a:lnSpc>
              <a:buNone/>
            </a:pPr>
            <a:r>
              <a:rPr lang="en-US" sz="1200" dirty="0">
                <a:solidFill>
                  <a:srgbClr val="3F5257"/>
                </a:solidFill>
                <a:latin typeface="Calibri" pitchFamily="34" charset="0"/>
                <a:ea typeface="Calibri" pitchFamily="34" charset="-122"/>
                <a:cs typeface="Calibri" pitchFamily="34" charset="-120"/>
              </a:rPr>
              <a:t>Criterion-level eligibility with natural-language explanations and sentence-level evidence, aggregated to a ranked list.</a:t>
            </a:r>
            <a:endParaRPr lang="en-US" sz="1200" dirty="0"/>
          </a:p>
        </p:txBody>
      </p:sp>
      <p:sp>
        <p:nvSpPr>
          <p:cNvPr id="8" name="Shape 6"/>
          <p:cNvSpPr/>
          <p:nvPr/>
        </p:nvSpPr>
        <p:spPr>
          <a:xfrm>
            <a:off x="813816" y="4114800"/>
            <a:ext cx="3035808" cy="1133856"/>
          </a:xfrm>
          <a:prstGeom prst="roundRect">
            <a:avLst>
              <a:gd name="adj" fmla="val 4839"/>
            </a:avLst>
          </a:prstGeom>
          <a:solidFill>
            <a:srgbClr val="F2FBFC"/>
          </a:solidFill>
          <a:ln w="12700">
            <a:solidFill>
              <a:srgbClr val="E2ECEF"/>
            </a:solidFill>
            <a:prstDash val="solid"/>
          </a:ln>
        </p:spPr>
      </p:sp>
      <p:sp>
        <p:nvSpPr>
          <p:cNvPr id="9" name="Text 7"/>
          <p:cNvSpPr/>
          <p:nvPr/>
        </p:nvSpPr>
        <p:spPr>
          <a:xfrm>
            <a:off x="978408" y="4261104"/>
            <a:ext cx="2706624" cy="859536"/>
          </a:xfrm>
          <a:prstGeom prst="rect">
            <a:avLst/>
          </a:prstGeom>
          <a:noFill/>
          <a:ln/>
        </p:spPr>
        <p:txBody>
          <a:bodyPr wrap="square" lIns="0" tIns="0" rIns="0" bIns="0" rtlCol="0" anchor="t"/>
          <a:lstStyle/>
          <a:p>
            <a:pPr indent="0" marL="0">
              <a:lnSpc>
                <a:spcPts val="1600"/>
              </a:lnSpc>
              <a:buNone/>
            </a:pPr>
            <a:r>
              <a:rPr lang="en-US" sz="1100" dirty="0">
                <a:solidFill>
                  <a:srgbClr val="07161A"/>
                </a:solidFill>
                <a:latin typeface="Calibri" pitchFamily="34" charset="0"/>
                <a:ea typeface="Calibri" pitchFamily="34" charset="-122"/>
                <a:cs typeface="Calibri" pitchFamily="34" charset="-120"/>
              </a:rPr>
              <a:t>87.3% criterion accuracy</a:t>
            </a:r>
            <a:endParaRPr lang="en-US" sz="1100" dirty="0"/>
          </a:p>
          <a:p>
            <a:pPr indent="0" marL="0">
              <a:lnSpc>
                <a:spcPts val="1600"/>
              </a:lnSpc>
              <a:buNone/>
            </a:pPr>
            <a:r>
              <a:rPr lang="en-US" sz="1100" dirty="0">
                <a:solidFill>
                  <a:srgbClr val="07161A"/>
                </a:solidFill>
                <a:latin typeface="Calibri" pitchFamily="34" charset="0"/>
                <a:ea typeface="Calibri" pitchFamily="34" charset="-122"/>
                <a:cs typeface="Calibri" pitchFamily="34" charset="-120"/>
              </a:rPr>
              <a:t>NDCG@10 0.7252 · P@10 0.6724</a:t>
            </a:r>
            <a:endParaRPr lang="en-US" sz="1100" dirty="0"/>
          </a:p>
        </p:txBody>
      </p:sp>
      <p:sp>
        <p:nvSpPr>
          <p:cNvPr id="10" name="Shape 8"/>
          <p:cNvSpPr/>
          <p:nvPr/>
        </p:nvSpPr>
        <p:spPr>
          <a:xfrm>
            <a:off x="4343400" y="1463040"/>
            <a:ext cx="3474720" cy="3977640"/>
          </a:xfrm>
          <a:prstGeom prst="roundRect">
            <a:avLst>
              <a:gd name="adj" fmla="val 1579"/>
            </a:avLst>
          </a:prstGeom>
          <a:solidFill>
            <a:srgbClr val="FFFFFF"/>
          </a:solidFill>
          <a:ln w="12700">
            <a:solidFill>
              <a:srgbClr val="E2ECEF"/>
            </a:solidFill>
            <a:prstDash val="solid"/>
          </a:ln>
        </p:spPr>
      </p:sp>
      <p:sp>
        <p:nvSpPr>
          <p:cNvPr id="11" name="Text 9"/>
          <p:cNvSpPr/>
          <p:nvPr/>
        </p:nvSpPr>
        <p:spPr>
          <a:xfrm>
            <a:off x="4562856" y="1627632"/>
            <a:ext cx="3035808" cy="347472"/>
          </a:xfrm>
          <a:prstGeom prst="rect">
            <a:avLst/>
          </a:prstGeom>
          <a:noFill/>
          <a:ln/>
        </p:spPr>
        <p:txBody>
          <a:bodyPr wrap="square" lIns="0" tIns="0" rIns="0" bIns="0" rtlCol="0" anchor="ctr"/>
          <a:lstStyle/>
          <a:p>
            <a:pPr indent="0" marL="0">
              <a:buNone/>
            </a:pPr>
            <a:r>
              <a:rPr lang="en-US" sz="1900" b="1" dirty="0">
                <a:solidFill>
                  <a:srgbClr val="0A5F6E"/>
                </a:solidFill>
                <a:latin typeface="Cambria" pitchFamily="34" charset="0"/>
                <a:ea typeface="Cambria" pitchFamily="34" charset="-122"/>
                <a:cs typeface="Cambria" pitchFamily="34" charset="-120"/>
              </a:rPr>
              <a:t>Leach et al.</a:t>
            </a:r>
            <a:endParaRPr lang="en-US" sz="1900" dirty="0"/>
          </a:p>
        </p:txBody>
      </p:sp>
      <p:sp>
        <p:nvSpPr>
          <p:cNvPr id="12" name="Text 10"/>
          <p:cNvSpPr/>
          <p:nvPr/>
        </p:nvSpPr>
        <p:spPr>
          <a:xfrm>
            <a:off x="4562856" y="1975104"/>
            <a:ext cx="3035808" cy="274320"/>
          </a:xfrm>
          <a:prstGeom prst="rect">
            <a:avLst/>
          </a:prstGeom>
          <a:noFill/>
          <a:ln/>
        </p:spPr>
        <p:txBody>
          <a:bodyPr wrap="square" lIns="0" tIns="0" rIns="0" bIns="0" rtlCol="0" anchor="ctr"/>
          <a:lstStyle/>
          <a:p>
            <a:pPr indent="0" marL="0">
              <a:buNone/>
            </a:pPr>
            <a:r>
              <a:rPr lang="en-US" sz="1050" dirty="0">
                <a:solidFill>
                  <a:srgbClr val="74898E"/>
                </a:solidFill>
                <a:latin typeface="Calibri" pitchFamily="34" charset="0"/>
                <a:ea typeface="Calibri" pitchFamily="34" charset="-122"/>
                <a:cs typeface="Calibri" pitchFamily="34" charset="-120"/>
              </a:rPr>
              <a:t>Kentucky, arXiv 2512.08026</a:t>
            </a:r>
            <a:endParaRPr lang="en-US" sz="1050" dirty="0"/>
          </a:p>
        </p:txBody>
      </p:sp>
      <p:sp>
        <p:nvSpPr>
          <p:cNvPr id="13" name="Text 11"/>
          <p:cNvSpPr/>
          <p:nvPr/>
        </p:nvSpPr>
        <p:spPr>
          <a:xfrm>
            <a:off x="4562856" y="2377440"/>
            <a:ext cx="3035808" cy="1463040"/>
          </a:xfrm>
          <a:prstGeom prst="rect">
            <a:avLst/>
          </a:prstGeom>
          <a:noFill/>
          <a:ln/>
        </p:spPr>
        <p:txBody>
          <a:bodyPr wrap="square" lIns="0" tIns="0" rIns="0" bIns="0" rtlCol="0" anchor="t"/>
          <a:lstStyle/>
          <a:p>
            <a:pPr indent="0" marL="0">
              <a:lnSpc>
                <a:spcPts val="1700"/>
              </a:lnSpc>
              <a:buNone/>
            </a:pPr>
            <a:r>
              <a:rPr lang="en-US" sz="1200" dirty="0">
                <a:solidFill>
                  <a:srgbClr val="3F5257"/>
                </a:solidFill>
                <a:latin typeface="Calibri" pitchFamily="34" charset="0"/>
                <a:ea typeface="Calibri" pitchFamily="34" charset="-122"/>
                <a:cs typeface="Calibri" pitchFamily="34" charset="-120"/>
              </a:rPr>
              <a:t>Four eligibility classes including “could be eligible in future”. Source citation and a web interface listed as future work.</a:t>
            </a:r>
            <a:endParaRPr lang="en-US" sz="1200" dirty="0"/>
          </a:p>
        </p:txBody>
      </p:sp>
      <p:sp>
        <p:nvSpPr>
          <p:cNvPr id="14" name="Shape 12"/>
          <p:cNvSpPr/>
          <p:nvPr/>
        </p:nvSpPr>
        <p:spPr>
          <a:xfrm>
            <a:off x="4562856" y="4114800"/>
            <a:ext cx="3035808" cy="1133856"/>
          </a:xfrm>
          <a:prstGeom prst="roundRect">
            <a:avLst>
              <a:gd name="adj" fmla="val 4839"/>
            </a:avLst>
          </a:prstGeom>
          <a:solidFill>
            <a:srgbClr val="F2FBFC"/>
          </a:solidFill>
          <a:ln w="12700">
            <a:solidFill>
              <a:srgbClr val="E2ECEF"/>
            </a:solidFill>
            <a:prstDash val="solid"/>
          </a:ln>
        </p:spPr>
      </p:sp>
      <p:sp>
        <p:nvSpPr>
          <p:cNvPr id="15" name="Text 13"/>
          <p:cNvSpPr/>
          <p:nvPr/>
        </p:nvSpPr>
        <p:spPr>
          <a:xfrm>
            <a:off x="4727448" y="4261104"/>
            <a:ext cx="2706624" cy="859536"/>
          </a:xfrm>
          <a:prstGeom prst="rect">
            <a:avLst/>
          </a:prstGeom>
          <a:noFill/>
          <a:ln/>
        </p:spPr>
        <p:txBody>
          <a:bodyPr wrap="square" lIns="0" tIns="0" rIns="0" bIns="0" rtlCol="0" anchor="t"/>
          <a:lstStyle/>
          <a:p>
            <a:pPr indent="0" marL="0">
              <a:lnSpc>
                <a:spcPts val="1600"/>
              </a:lnSpc>
              <a:buNone/>
            </a:pPr>
            <a:r>
              <a:rPr lang="en-US" sz="1100" dirty="0">
                <a:solidFill>
                  <a:srgbClr val="07161A"/>
                </a:solidFill>
                <a:latin typeface="Calibri" pitchFamily="34" charset="0"/>
                <a:ea typeface="Calibri" pitchFamily="34" charset="-122"/>
                <a:cs typeface="Calibri" pitchFamily="34" charset="-120"/>
              </a:rPr>
              <a:t>Evaluated on synthetic records</a:t>
            </a:r>
            <a:endParaRPr lang="en-US" sz="1100" dirty="0"/>
          </a:p>
          <a:p>
            <a:pPr indent="0" marL="0">
              <a:lnSpc>
                <a:spcPts val="1600"/>
              </a:lnSpc>
              <a:buNone/>
            </a:pPr>
            <a:r>
              <a:rPr lang="en-US" sz="1100" dirty="0">
                <a:solidFill>
                  <a:srgbClr val="07161A"/>
                </a:solidFill>
                <a:latin typeface="Calibri" pitchFamily="34" charset="0"/>
                <a:ea typeface="Calibri" pitchFamily="34" charset="-122"/>
                <a:cs typeface="Calibri" pitchFamily="34" charset="-120"/>
              </a:rPr>
              <a:t>No ground truth · ~950 LLM calls/patient</a:t>
            </a:r>
            <a:endParaRPr lang="en-US" sz="1100" dirty="0"/>
          </a:p>
        </p:txBody>
      </p:sp>
      <p:sp>
        <p:nvSpPr>
          <p:cNvPr id="16" name="Shape 14"/>
          <p:cNvSpPr/>
          <p:nvPr/>
        </p:nvSpPr>
        <p:spPr>
          <a:xfrm>
            <a:off x="8092440" y="1463040"/>
            <a:ext cx="3474720" cy="3977640"/>
          </a:xfrm>
          <a:prstGeom prst="roundRect">
            <a:avLst>
              <a:gd name="adj" fmla="val 1579"/>
            </a:avLst>
          </a:prstGeom>
          <a:solidFill>
            <a:srgbClr val="FFFFFF"/>
          </a:solidFill>
          <a:ln w="12700">
            <a:solidFill>
              <a:srgbClr val="E2ECEF"/>
            </a:solidFill>
            <a:prstDash val="solid"/>
          </a:ln>
        </p:spPr>
      </p:sp>
      <p:sp>
        <p:nvSpPr>
          <p:cNvPr id="17" name="Text 15"/>
          <p:cNvSpPr/>
          <p:nvPr/>
        </p:nvSpPr>
        <p:spPr>
          <a:xfrm>
            <a:off x="8311896" y="1627632"/>
            <a:ext cx="3035808" cy="347472"/>
          </a:xfrm>
          <a:prstGeom prst="rect">
            <a:avLst/>
          </a:prstGeom>
          <a:noFill/>
          <a:ln/>
        </p:spPr>
        <p:txBody>
          <a:bodyPr wrap="square" lIns="0" tIns="0" rIns="0" bIns="0" rtlCol="0" anchor="ctr"/>
          <a:lstStyle/>
          <a:p>
            <a:pPr indent="0" marL="0">
              <a:buNone/>
            </a:pPr>
            <a:r>
              <a:rPr lang="en-US" sz="1900" b="1" dirty="0">
                <a:solidFill>
                  <a:srgbClr val="0A5F6E"/>
                </a:solidFill>
                <a:latin typeface="Cambria" pitchFamily="34" charset="0"/>
                <a:ea typeface="Cambria" pitchFamily="34" charset="-122"/>
                <a:cs typeface="Cambria" pitchFamily="34" charset="-120"/>
              </a:rPr>
              <a:t>PRISM, TrialMatchAI</a:t>
            </a:r>
            <a:endParaRPr lang="en-US" sz="1900" dirty="0"/>
          </a:p>
        </p:txBody>
      </p:sp>
      <p:sp>
        <p:nvSpPr>
          <p:cNvPr id="18" name="Text 16"/>
          <p:cNvSpPr/>
          <p:nvPr/>
        </p:nvSpPr>
        <p:spPr>
          <a:xfrm>
            <a:off x="8311896" y="1975104"/>
            <a:ext cx="3035808" cy="274320"/>
          </a:xfrm>
          <a:prstGeom prst="rect">
            <a:avLst/>
          </a:prstGeom>
          <a:noFill/>
          <a:ln/>
        </p:spPr>
        <p:txBody>
          <a:bodyPr wrap="square" lIns="0" tIns="0" rIns="0" bIns="0" rtlCol="0" anchor="ctr"/>
          <a:lstStyle/>
          <a:p>
            <a:pPr indent="0" marL="0">
              <a:buNone/>
            </a:pPr>
            <a:r>
              <a:rPr lang="en-US" sz="1050" dirty="0">
                <a:solidFill>
                  <a:srgbClr val="74898E"/>
                </a:solidFill>
                <a:latin typeface="Calibri" pitchFamily="34" charset="0"/>
                <a:ea typeface="Calibri" pitchFamily="34" charset="-122"/>
                <a:cs typeface="Calibri" pitchFamily="34" charset="-120"/>
              </a:rPr>
              <a:t>Deep 6 · Triomics · Tempus</a:t>
            </a:r>
            <a:endParaRPr lang="en-US" sz="1050" dirty="0"/>
          </a:p>
        </p:txBody>
      </p:sp>
      <p:sp>
        <p:nvSpPr>
          <p:cNvPr id="19" name="Text 17"/>
          <p:cNvSpPr/>
          <p:nvPr/>
        </p:nvSpPr>
        <p:spPr>
          <a:xfrm>
            <a:off x="8311896" y="2377440"/>
            <a:ext cx="3035808" cy="1463040"/>
          </a:xfrm>
          <a:prstGeom prst="rect">
            <a:avLst/>
          </a:prstGeom>
          <a:noFill/>
          <a:ln/>
        </p:spPr>
        <p:txBody>
          <a:bodyPr wrap="square" lIns="0" tIns="0" rIns="0" bIns="0" rtlCol="0" anchor="t"/>
          <a:lstStyle/>
          <a:p>
            <a:pPr indent="0" marL="0">
              <a:lnSpc>
                <a:spcPts val="1700"/>
              </a:lnSpc>
              <a:buNone/>
            </a:pPr>
            <a:r>
              <a:rPr lang="en-US" sz="1200" dirty="0">
                <a:solidFill>
                  <a:srgbClr val="3F5257"/>
                </a:solidFill>
                <a:latin typeface="Calibri" pitchFamily="34" charset="0"/>
                <a:ea typeface="Calibri" pitchFamily="34" charset="-122"/>
                <a:cs typeface="Calibri" pitchFamily="34" charset="-120"/>
              </a:rPr>
              <a:t>Commercial and academic systems operating at far greater breadth than this project attempts.</a:t>
            </a:r>
            <a:endParaRPr lang="en-US" sz="1200" dirty="0"/>
          </a:p>
        </p:txBody>
      </p:sp>
      <p:sp>
        <p:nvSpPr>
          <p:cNvPr id="20" name="Shape 18"/>
          <p:cNvSpPr/>
          <p:nvPr/>
        </p:nvSpPr>
        <p:spPr>
          <a:xfrm>
            <a:off x="8311896" y="4114800"/>
            <a:ext cx="3035808" cy="1133856"/>
          </a:xfrm>
          <a:prstGeom prst="roundRect">
            <a:avLst>
              <a:gd name="adj" fmla="val 4839"/>
            </a:avLst>
          </a:prstGeom>
          <a:solidFill>
            <a:srgbClr val="F2FBFC"/>
          </a:solidFill>
          <a:ln w="12700">
            <a:solidFill>
              <a:srgbClr val="E2ECEF"/>
            </a:solidFill>
            <a:prstDash val="solid"/>
          </a:ln>
        </p:spPr>
      </p:sp>
      <p:sp>
        <p:nvSpPr>
          <p:cNvPr id="21" name="Text 19"/>
          <p:cNvSpPr/>
          <p:nvPr/>
        </p:nvSpPr>
        <p:spPr>
          <a:xfrm>
            <a:off x="8476488" y="4261104"/>
            <a:ext cx="2706624" cy="859536"/>
          </a:xfrm>
          <a:prstGeom prst="rect">
            <a:avLst/>
          </a:prstGeom>
          <a:noFill/>
          <a:ln/>
        </p:spPr>
        <p:txBody>
          <a:bodyPr wrap="square" lIns="0" tIns="0" rIns="0" bIns="0" rtlCol="0" anchor="t"/>
          <a:lstStyle/>
          <a:p>
            <a:pPr indent="0" marL="0">
              <a:lnSpc>
                <a:spcPts val="1600"/>
              </a:lnSpc>
              <a:buNone/>
            </a:pPr>
            <a:r>
              <a:rPr lang="en-US" sz="1100" dirty="0">
                <a:solidFill>
                  <a:srgbClr val="07161A"/>
                </a:solidFill>
                <a:latin typeface="Calibri" pitchFamily="34" charset="0"/>
                <a:ea typeface="Calibri" pitchFamily="34" charset="-122"/>
                <a:cs typeface="Calibri" pitchFamily="34" charset="-120"/>
              </a:rPr>
              <a:t>Not competing on breadth</a:t>
            </a:r>
            <a:endParaRPr lang="en-US" sz="1100" dirty="0"/>
          </a:p>
        </p:txBody>
      </p:sp>
      <p:sp>
        <p:nvSpPr>
          <p:cNvPr id="22" name="Shape 20"/>
          <p:cNvSpPr/>
          <p:nvPr/>
        </p:nvSpPr>
        <p:spPr>
          <a:xfrm>
            <a:off x="594360" y="5596128"/>
            <a:ext cx="10972800" cy="658368"/>
          </a:xfrm>
          <a:prstGeom prst="roundRect">
            <a:avLst>
              <a:gd name="adj" fmla="val 8333"/>
            </a:avLst>
          </a:prstGeom>
          <a:solidFill>
            <a:srgbClr val="FDF0EF"/>
          </a:solidFill>
          <a:ln w="12700">
            <a:solidFill>
              <a:srgbClr val="F0C9C6"/>
            </a:solidFill>
            <a:prstDash val="solid"/>
          </a:ln>
        </p:spPr>
      </p:sp>
      <p:sp>
        <p:nvSpPr>
          <p:cNvPr id="23" name="Text 21"/>
          <p:cNvSpPr/>
          <p:nvPr/>
        </p:nvSpPr>
        <p:spPr>
          <a:xfrm>
            <a:off x="832104" y="5742432"/>
            <a:ext cx="10497312" cy="402336"/>
          </a:xfrm>
          <a:prstGeom prst="rect">
            <a:avLst/>
          </a:prstGeom>
          <a:noFill/>
          <a:ln/>
        </p:spPr>
        <p:txBody>
          <a:bodyPr wrap="square" lIns="0" tIns="0" rIns="0" bIns="0" rtlCol="0" anchor="ctr"/>
          <a:lstStyle/>
          <a:p>
            <a:pPr indent="0" marL="0">
              <a:buNone/>
            </a:pPr>
            <a:r>
              <a:rPr lang="en-US" sz="1250" b="1" dirty="0">
                <a:solidFill>
                  <a:srgbClr val="A81F17"/>
                </a:solidFill>
                <a:latin typeface="Calibri" pitchFamily="34" charset="0"/>
                <a:ea typeface="Calibri" pitchFamily="34" charset="-122"/>
                <a:cs typeface="Calibri" pitchFamily="34" charset="-120"/>
              </a:rPr>
              <a:t>This project does not claim to have invented reasoning-based trial matching.  </a:t>
            </a:r>
            <a:pPr indent="0" marL="0">
              <a:buNone/>
            </a:pPr>
            <a:r>
              <a:rPr lang="en-US" sz="1250" dirty="0">
                <a:solidFill>
                  <a:srgbClr val="3F5257"/>
                </a:solidFill>
                <a:latin typeface="Calibri" pitchFamily="34" charset="0"/>
                <a:ea typeface="Calibri" pitchFamily="34" charset="-122"/>
                <a:cs typeface="Calibri" pitchFamily="34" charset="-120"/>
              </a:rPr>
              <a:t>A claim of conceptual novelty would not survive question and answer.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5F6E"/>
        </a:solidFill>
      </p:bgPr>
    </p:bg>
    <p:spTree>
      <p:nvGrpSpPr>
        <p:cNvPr id="1" name=""/>
        <p:cNvGrpSpPr/>
        <p:nvPr/>
      </p:nvGrpSpPr>
      <p:grpSpPr>
        <a:xfrm>
          <a:off x="0" y="0"/>
          <a:ext cx="0" cy="0"/>
          <a:chOff x="0" y="0"/>
          <a:chExt cx="0" cy="0"/>
        </a:xfrm>
      </p:grpSpPr>
      <p:sp>
        <p:nvSpPr>
          <p:cNvPr id="2" name="Text 0"/>
          <p:cNvSpPr/>
          <p:nvPr/>
        </p:nvSpPr>
        <p:spPr>
          <a:xfrm>
            <a:off x="594360" y="182880"/>
            <a:ext cx="10972800" cy="237744"/>
          </a:xfrm>
          <a:prstGeom prst="rect">
            <a:avLst/>
          </a:prstGeom>
          <a:noFill/>
          <a:ln/>
        </p:spPr>
        <p:txBody>
          <a:bodyPr wrap="square" lIns="0" tIns="0" rIns="0" bIns="0" rtlCol="0" anchor="ctr"/>
          <a:lstStyle/>
          <a:p>
            <a:pPr indent="0" marL="0">
              <a:buNone/>
            </a:pPr>
            <a:r>
              <a:rPr lang="en-US" sz="1150" b="1" spc="160" kern="0" dirty="0">
                <a:solidFill>
                  <a:srgbClr val="95DEEA"/>
                </a:solidFill>
                <a:latin typeface="Calibri" pitchFamily="34" charset="0"/>
                <a:ea typeface="Calibri" pitchFamily="34" charset="-122"/>
                <a:cs typeface="Calibri" pitchFamily="34" charset="-120"/>
              </a:rPr>
              <a:t>THE CLAIM</a:t>
            </a:r>
            <a:endParaRPr lang="en-US" sz="1150" dirty="0"/>
          </a:p>
        </p:txBody>
      </p:sp>
      <p:sp>
        <p:nvSpPr>
          <p:cNvPr id="3" name="Text 1"/>
          <p:cNvSpPr/>
          <p:nvPr/>
        </p:nvSpPr>
        <p:spPr>
          <a:xfrm>
            <a:off x="594360" y="420624"/>
            <a:ext cx="109728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is actually new here</a:t>
            </a:r>
            <a:endParaRPr lang="en-US" sz="3200" dirty="0"/>
          </a:p>
        </p:txBody>
      </p:sp>
      <p:sp>
        <p:nvSpPr>
          <p:cNvPr id="4" name="Text 2"/>
          <p:cNvSpPr/>
          <p:nvPr/>
        </p:nvSpPr>
        <p:spPr>
          <a:xfrm>
            <a:off x="594360" y="1417320"/>
            <a:ext cx="10972800" cy="1005840"/>
          </a:xfrm>
          <a:prstGeom prst="rect">
            <a:avLst/>
          </a:prstGeom>
          <a:noFill/>
          <a:ln/>
        </p:spPr>
        <p:txBody>
          <a:bodyPr wrap="square" lIns="0" tIns="0" rIns="0" bIns="0" rtlCol="0" anchor="t"/>
          <a:lstStyle/>
          <a:p>
            <a:pPr indent="0" marL="0">
              <a:lnSpc>
                <a:spcPts val="2700"/>
              </a:lnSpc>
              <a:buNone/>
            </a:pPr>
            <a:r>
              <a:rPr lang="en-US" sz="1800" dirty="0">
                <a:solidFill>
                  <a:srgbClr val="C2ECF3"/>
                </a:solidFill>
                <a:latin typeface="Calibri" pitchFamily="34" charset="0"/>
                <a:ea typeface="Calibri" pitchFamily="34" charset="-122"/>
                <a:cs typeface="Calibri" pitchFamily="34" charset="-120"/>
              </a:rPr>
              <a:t>Reasoning-based trial matchers now produce temporal eligibility labels, but they </a:t>
            </a:r>
            <a:pPr indent="0" marL="0">
              <a:lnSpc>
                <a:spcPts val="2700"/>
              </a:lnSpc>
              <a:buNone/>
            </a:pPr>
            <a:r>
              <a:rPr lang="en-US" sz="1800" b="1" dirty="0">
                <a:solidFill>
                  <a:srgbClr val="FFFFFF"/>
                </a:solidFill>
                <a:latin typeface="Calibri" pitchFamily="34" charset="0"/>
                <a:ea typeface="Calibri" pitchFamily="34" charset="-122"/>
                <a:cs typeface="Calibri" pitchFamily="34" charset="-120"/>
              </a:rPr>
              <a:t>route numeric and date logic through the language model</a:t>
            </a:r>
            <a:pPr indent="0" marL="0">
              <a:lnSpc>
                <a:spcPts val="2700"/>
              </a:lnSpc>
              <a:buNone/>
            </a:pPr>
            <a:r>
              <a:rPr lang="en-US" sz="1800" dirty="0">
                <a:solidFill>
                  <a:srgbClr val="C2ECF3"/>
                </a:solidFill>
                <a:latin typeface="Calibri" pitchFamily="34" charset="0"/>
                <a:ea typeface="Calibri" pitchFamily="34" charset="-122"/>
                <a:cs typeface="Calibri" pitchFamily="34" charset="-120"/>
              </a:rPr>
              <a:t> and none have been quantitatively validated on criterion-level ground truth.</a:t>
            </a:r>
            <a:endParaRPr lang="en-US" sz="1800" dirty="0"/>
          </a:p>
        </p:txBody>
      </p:sp>
      <p:sp>
        <p:nvSpPr>
          <p:cNvPr id="5" name="Text 3"/>
          <p:cNvSpPr/>
          <p:nvPr/>
        </p:nvSpPr>
        <p:spPr>
          <a:xfrm>
            <a:off x="594360" y="2788920"/>
            <a:ext cx="1417320" cy="365760"/>
          </a:xfrm>
          <a:prstGeom prst="rect">
            <a:avLst/>
          </a:prstGeom>
          <a:noFill/>
          <a:ln/>
        </p:spPr>
        <p:txBody>
          <a:bodyPr wrap="square" lIns="0" tIns="0" rIns="0" bIns="0" rtlCol="0" anchor="ctr"/>
          <a:lstStyle/>
          <a:p>
            <a:pPr indent="0" marL="0">
              <a:buNone/>
            </a:pPr>
            <a:r>
              <a:rPr lang="en-US" sz="1700" b="1" dirty="0">
                <a:solidFill>
                  <a:srgbClr val="95DEEA"/>
                </a:solidFill>
                <a:latin typeface="Cambria" pitchFamily="34" charset="0"/>
                <a:ea typeface="Cambria" pitchFamily="34" charset="-122"/>
                <a:cs typeface="Cambria" pitchFamily="34" charset="-120"/>
              </a:rPr>
              <a:t>Compiles</a:t>
            </a:r>
            <a:endParaRPr lang="en-US" sz="1700" dirty="0"/>
          </a:p>
        </p:txBody>
      </p:sp>
      <p:sp>
        <p:nvSpPr>
          <p:cNvPr id="6" name="Text 4"/>
          <p:cNvSpPr/>
          <p:nvPr/>
        </p:nvSpPr>
        <p:spPr>
          <a:xfrm>
            <a:off x="2130552" y="2807208"/>
            <a:ext cx="9326880" cy="621792"/>
          </a:xfrm>
          <a:prstGeom prst="rect">
            <a:avLst/>
          </a:prstGeom>
          <a:noFill/>
          <a:ln/>
        </p:spPr>
        <p:txBody>
          <a:bodyPr wrap="square" lIns="0" tIns="0" rIns="0" bIns="0" rtlCol="0" anchor="t"/>
          <a:lstStyle/>
          <a:p>
            <a:pPr indent="0" marL="0">
              <a:lnSpc>
                <a:spcPts val="2100"/>
              </a:lnSpc>
              <a:buNone/>
            </a:pPr>
            <a:r>
              <a:rPr lang="en-US" sz="1500" dirty="0">
                <a:solidFill>
                  <a:srgbClr val="DFF4F8"/>
                </a:solidFill>
                <a:latin typeface="Calibri" pitchFamily="34" charset="0"/>
                <a:ea typeface="Calibri" pitchFamily="34" charset="-122"/>
                <a:cs typeface="Calibri" pitchFamily="34" charset="-120"/>
              </a:rPr>
              <a:t>eligibility criteria into executable predicates</a:t>
            </a:r>
            <a:endParaRPr lang="en-US" sz="1500" dirty="0"/>
          </a:p>
        </p:txBody>
      </p:sp>
      <p:sp>
        <p:nvSpPr>
          <p:cNvPr id="7" name="Text 5"/>
          <p:cNvSpPr/>
          <p:nvPr/>
        </p:nvSpPr>
        <p:spPr>
          <a:xfrm>
            <a:off x="594360" y="3575304"/>
            <a:ext cx="1417320" cy="365760"/>
          </a:xfrm>
          <a:prstGeom prst="rect">
            <a:avLst/>
          </a:prstGeom>
          <a:noFill/>
          <a:ln/>
        </p:spPr>
        <p:txBody>
          <a:bodyPr wrap="square" lIns="0" tIns="0" rIns="0" bIns="0" rtlCol="0" anchor="ctr"/>
          <a:lstStyle/>
          <a:p>
            <a:pPr indent="0" marL="0">
              <a:buNone/>
            </a:pPr>
            <a:r>
              <a:rPr lang="en-US" sz="1700" b="1" dirty="0">
                <a:solidFill>
                  <a:srgbClr val="95DEEA"/>
                </a:solidFill>
                <a:latin typeface="Cambria" pitchFamily="34" charset="0"/>
                <a:ea typeface="Cambria" pitchFamily="34" charset="-122"/>
                <a:cs typeface="Cambria" pitchFamily="34" charset="-120"/>
              </a:rPr>
              <a:t>Evaluates</a:t>
            </a:r>
            <a:endParaRPr lang="en-US" sz="1700" dirty="0"/>
          </a:p>
        </p:txBody>
      </p:sp>
      <p:sp>
        <p:nvSpPr>
          <p:cNvPr id="8" name="Text 6"/>
          <p:cNvSpPr/>
          <p:nvPr/>
        </p:nvSpPr>
        <p:spPr>
          <a:xfrm>
            <a:off x="2130552" y="3593592"/>
            <a:ext cx="9326880" cy="621792"/>
          </a:xfrm>
          <a:prstGeom prst="rect">
            <a:avLst/>
          </a:prstGeom>
          <a:noFill/>
          <a:ln/>
        </p:spPr>
        <p:txBody>
          <a:bodyPr wrap="square" lIns="0" tIns="0" rIns="0" bIns="0" rtlCol="0" anchor="t"/>
          <a:lstStyle/>
          <a:p>
            <a:pPr indent="0" marL="0">
              <a:lnSpc>
                <a:spcPts val="2100"/>
              </a:lnSpc>
              <a:buNone/>
            </a:pPr>
            <a:r>
              <a:rPr lang="en-US" sz="1500" dirty="0">
                <a:solidFill>
                  <a:srgbClr val="DFF4F8"/>
                </a:solidFill>
                <a:latin typeface="Calibri" pitchFamily="34" charset="0"/>
                <a:ea typeface="Calibri" pitchFamily="34" charset="-122"/>
                <a:cs typeface="Calibri" pitchFamily="34" charset="-120"/>
              </a:rPr>
              <a:t>them deterministically, in Python, with zero model calls</a:t>
            </a:r>
            <a:endParaRPr lang="en-US" sz="1500" dirty="0"/>
          </a:p>
        </p:txBody>
      </p:sp>
      <p:sp>
        <p:nvSpPr>
          <p:cNvPr id="9" name="Text 7"/>
          <p:cNvSpPr/>
          <p:nvPr/>
        </p:nvSpPr>
        <p:spPr>
          <a:xfrm>
            <a:off x="594360" y="4361688"/>
            <a:ext cx="1417320" cy="365760"/>
          </a:xfrm>
          <a:prstGeom prst="rect">
            <a:avLst/>
          </a:prstGeom>
          <a:noFill/>
          <a:ln/>
        </p:spPr>
        <p:txBody>
          <a:bodyPr wrap="square" lIns="0" tIns="0" rIns="0" bIns="0" rtlCol="0" anchor="ctr"/>
          <a:lstStyle/>
          <a:p>
            <a:pPr indent="0" marL="0">
              <a:buNone/>
            </a:pPr>
            <a:r>
              <a:rPr lang="en-US" sz="1700" b="1" dirty="0">
                <a:solidFill>
                  <a:srgbClr val="95DEEA"/>
                </a:solidFill>
                <a:latin typeface="Cambria" pitchFamily="34" charset="0"/>
                <a:ea typeface="Cambria" pitchFamily="34" charset="-122"/>
                <a:cs typeface="Cambria" pitchFamily="34" charset="-120"/>
              </a:rPr>
              <a:t>Produces</a:t>
            </a:r>
            <a:endParaRPr lang="en-US" sz="1700" dirty="0"/>
          </a:p>
        </p:txBody>
      </p:sp>
      <p:sp>
        <p:nvSpPr>
          <p:cNvPr id="10" name="Text 8"/>
          <p:cNvSpPr/>
          <p:nvPr/>
        </p:nvSpPr>
        <p:spPr>
          <a:xfrm>
            <a:off x="2130552" y="4379976"/>
            <a:ext cx="9326880" cy="621792"/>
          </a:xfrm>
          <a:prstGeom prst="rect">
            <a:avLst/>
          </a:prstGeom>
          <a:noFill/>
          <a:ln/>
        </p:spPr>
        <p:txBody>
          <a:bodyPr wrap="square" lIns="0" tIns="0" rIns="0" bIns="0" rtlCol="0" anchor="t"/>
          <a:lstStyle/>
          <a:p>
            <a:pPr indent="0" marL="0">
              <a:lnSpc>
                <a:spcPts val="2100"/>
              </a:lnSpc>
              <a:buNone/>
            </a:pPr>
            <a:r>
              <a:rPr lang="en-US" sz="1500" dirty="0">
                <a:solidFill>
                  <a:srgbClr val="DFF4F8"/>
                </a:solidFill>
                <a:latin typeface="Calibri" pitchFamily="34" charset="0"/>
                <a:ea typeface="Calibri" pitchFamily="34" charset="-122"/>
                <a:cs typeface="Calibri" pitchFamily="34" charset="-120"/>
              </a:rPr>
              <a:t>specific eligibility dates, not categorical labels</a:t>
            </a:r>
            <a:endParaRPr lang="en-US" sz="1500" dirty="0"/>
          </a:p>
        </p:txBody>
      </p:sp>
      <p:sp>
        <p:nvSpPr>
          <p:cNvPr id="11" name="Text 9"/>
          <p:cNvSpPr/>
          <p:nvPr/>
        </p:nvSpPr>
        <p:spPr>
          <a:xfrm>
            <a:off x="594360" y="5148072"/>
            <a:ext cx="1417320" cy="365760"/>
          </a:xfrm>
          <a:prstGeom prst="rect">
            <a:avLst/>
          </a:prstGeom>
          <a:noFill/>
          <a:ln/>
        </p:spPr>
        <p:txBody>
          <a:bodyPr wrap="square" lIns="0" tIns="0" rIns="0" bIns="0" rtlCol="0" anchor="ctr"/>
          <a:lstStyle/>
          <a:p>
            <a:pPr indent="0" marL="0">
              <a:buNone/>
            </a:pPr>
            <a:r>
              <a:rPr lang="en-US" sz="1700" b="1" dirty="0">
                <a:solidFill>
                  <a:srgbClr val="95DEEA"/>
                </a:solidFill>
                <a:latin typeface="Cambria" pitchFamily="34" charset="0"/>
                <a:ea typeface="Cambria" pitchFamily="34" charset="-122"/>
                <a:cs typeface="Cambria" pitchFamily="34" charset="-120"/>
              </a:rPr>
              <a:t>Reports</a:t>
            </a:r>
            <a:endParaRPr lang="en-US" sz="1700" dirty="0"/>
          </a:p>
        </p:txBody>
      </p:sp>
      <p:sp>
        <p:nvSpPr>
          <p:cNvPr id="12" name="Text 10"/>
          <p:cNvSpPr/>
          <p:nvPr/>
        </p:nvSpPr>
        <p:spPr>
          <a:xfrm>
            <a:off x="2130552" y="5166360"/>
            <a:ext cx="9326880" cy="621792"/>
          </a:xfrm>
          <a:prstGeom prst="rect">
            <a:avLst/>
          </a:prstGeom>
          <a:noFill/>
          <a:ln/>
        </p:spPr>
        <p:txBody>
          <a:bodyPr wrap="square" lIns="0" tIns="0" rIns="0" bIns="0" rtlCol="0" anchor="t"/>
          <a:lstStyle/>
          <a:p>
            <a:pPr indent="0" marL="0">
              <a:lnSpc>
                <a:spcPts val="2100"/>
              </a:lnSpc>
              <a:buNone/>
            </a:pPr>
            <a:r>
              <a:rPr lang="en-US" sz="1500" dirty="0">
                <a:solidFill>
                  <a:srgbClr val="DFF4F8"/>
                </a:solidFill>
                <a:latin typeface="Calibri" pitchFamily="34" charset="0"/>
                <a:ea typeface="Calibri" pitchFamily="34" charset="-122"/>
                <a:cs typeface="Calibri" pitchFamily="34" charset="-120"/>
              </a:rPr>
              <a:t>the first measured comparison of compiled vs prompted numeric evaluation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182880"/>
            <a:ext cx="10972800" cy="237744"/>
          </a:xfrm>
          <a:prstGeom prst="rect">
            <a:avLst/>
          </a:prstGeom>
          <a:noFill/>
          <a:ln/>
        </p:spPr>
        <p:txBody>
          <a:bodyPr wrap="square" lIns="0" tIns="0" rIns="0" bIns="0" rtlCol="0" anchor="ctr"/>
          <a:lstStyle/>
          <a:p>
            <a:pPr indent="0" marL="0">
              <a:buNone/>
            </a:pPr>
            <a:r>
              <a:rPr lang="en-US" sz="1150" b="1" spc="160" kern="0" dirty="0">
                <a:solidFill>
                  <a:srgbClr val="74898E"/>
                </a:solidFill>
                <a:latin typeface="Calibri" pitchFamily="34" charset="0"/>
                <a:ea typeface="Calibri" pitchFamily="34" charset="-122"/>
                <a:cs typeface="Calibri" pitchFamily="34" charset="-120"/>
              </a:rPr>
              <a:t>EVIDENCE</a:t>
            </a:r>
            <a:endParaRPr lang="en-US" sz="1150" dirty="0"/>
          </a:p>
        </p:txBody>
      </p:sp>
      <p:sp>
        <p:nvSpPr>
          <p:cNvPr id="3" name="Text 1"/>
          <p:cNvSpPr/>
          <p:nvPr/>
        </p:nvSpPr>
        <p:spPr>
          <a:xfrm>
            <a:off x="594360" y="384048"/>
            <a:ext cx="10972800" cy="731520"/>
          </a:xfrm>
          <a:prstGeom prst="rect">
            <a:avLst/>
          </a:prstGeom>
          <a:noFill/>
          <a:ln/>
        </p:spPr>
        <p:txBody>
          <a:bodyPr wrap="square" lIns="0" tIns="0" rIns="0" bIns="0" rtlCol="0" anchor="t"/>
          <a:lstStyle/>
          <a:p>
            <a:pPr indent="0" marL="0">
              <a:buNone/>
            </a:pPr>
            <a:r>
              <a:rPr lang="en-US" sz="3400" b="1" dirty="0">
                <a:solidFill>
                  <a:srgbClr val="07161A"/>
                </a:solidFill>
                <a:latin typeface="Cambria" pitchFamily="34" charset="0"/>
                <a:ea typeface="Cambria" pitchFamily="34" charset="-122"/>
                <a:cs typeface="Cambria" pitchFamily="34" charset="-120"/>
              </a:rPr>
              <a:t>The difference, measured</a:t>
            </a:r>
            <a:endParaRPr lang="en-US" sz="3400" dirty="0"/>
          </a:p>
        </p:txBody>
      </p:sp>
      <p:sp>
        <p:nvSpPr>
          <p:cNvPr id="4" name="Shape 2"/>
          <p:cNvSpPr/>
          <p:nvPr/>
        </p:nvSpPr>
        <p:spPr>
          <a:xfrm>
            <a:off x="6510528" y="1243584"/>
            <a:ext cx="5056632" cy="4059936"/>
          </a:xfrm>
          <a:prstGeom prst="roundRect">
            <a:avLst>
              <a:gd name="adj" fmla="val 1351"/>
            </a:avLst>
          </a:prstGeom>
          <a:solidFill>
            <a:srgbClr val="F2FBFC"/>
          </a:solidFill>
          <a:ln w="12700">
            <a:solidFill>
              <a:srgbClr val="E2ECEF"/>
            </a:solidFill>
            <a:prstDash val="solid"/>
          </a:ln>
        </p:spPr>
      </p:sp>
      <p:sp>
        <p:nvSpPr>
          <p:cNvPr id="5" name="Text 3"/>
          <p:cNvSpPr/>
          <p:nvPr/>
        </p:nvSpPr>
        <p:spPr>
          <a:xfrm>
            <a:off x="3154680" y="1298448"/>
            <a:ext cx="3063240" cy="329184"/>
          </a:xfrm>
          <a:prstGeom prst="rect">
            <a:avLst/>
          </a:prstGeom>
          <a:noFill/>
          <a:ln/>
        </p:spPr>
        <p:txBody>
          <a:bodyPr wrap="square" lIns="0" tIns="0" rIns="0" bIns="0" rtlCol="0" anchor="ctr"/>
          <a:lstStyle/>
          <a:p>
            <a:pPr indent="0" marL="0">
              <a:buNone/>
            </a:pPr>
            <a:r>
              <a:rPr lang="en-US" sz="1150" b="1" spc="60" kern="0" dirty="0">
                <a:solidFill>
                  <a:srgbClr val="74898E"/>
                </a:solidFill>
                <a:latin typeface="Calibri" pitchFamily="34" charset="0"/>
                <a:ea typeface="Calibri" pitchFamily="34" charset="-122"/>
                <a:cs typeface="Calibri" pitchFamily="34" charset="-120"/>
              </a:rPr>
              <a:t>A prompted matcher</a:t>
            </a:r>
            <a:endParaRPr lang="en-US" sz="1150" dirty="0"/>
          </a:p>
        </p:txBody>
      </p:sp>
      <p:sp>
        <p:nvSpPr>
          <p:cNvPr id="6" name="Text 4"/>
          <p:cNvSpPr/>
          <p:nvPr/>
        </p:nvSpPr>
        <p:spPr>
          <a:xfrm>
            <a:off x="6675120" y="1298448"/>
            <a:ext cx="4892040" cy="329184"/>
          </a:xfrm>
          <a:prstGeom prst="rect">
            <a:avLst/>
          </a:prstGeom>
          <a:noFill/>
          <a:ln/>
        </p:spPr>
        <p:txBody>
          <a:bodyPr wrap="square" lIns="0" tIns="0" rIns="0" bIns="0" rtlCol="0" anchor="ctr"/>
          <a:lstStyle/>
          <a:p>
            <a:pPr indent="0" marL="0">
              <a:buNone/>
            </a:pPr>
            <a:r>
              <a:rPr lang="en-US" sz="1150" b="1" spc="60" kern="0" dirty="0">
                <a:solidFill>
                  <a:srgbClr val="0A5F6E"/>
                </a:solidFill>
                <a:latin typeface="Calibri" pitchFamily="34" charset="0"/>
                <a:ea typeface="Calibri" pitchFamily="34" charset="-122"/>
                <a:cs typeface="Calibri" pitchFamily="34" charset="-120"/>
              </a:rPr>
              <a:t>This system</a:t>
            </a:r>
            <a:endParaRPr lang="en-US" sz="1150" dirty="0"/>
          </a:p>
        </p:txBody>
      </p:sp>
      <p:sp>
        <p:nvSpPr>
          <p:cNvPr id="7" name="Text 5"/>
          <p:cNvSpPr/>
          <p:nvPr/>
        </p:nvSpPr>
        <p:spPr>
          <a:xfrm>
            <a:off x="594360" y="1645920"/>
            <a:ext cx="2377440" cy="365760"/>
          </a:xfrm>
          <a:prstGeom prst="rect">
            <a:avLst/>
          </a:prstGeom>
          <a:noFill/>
          <a:ln/>
        </p:spPr>
        <p:txBody>
          <a:bodyPr wrap="square" lIns="0" tIns="0" rIns="0" bIns="0" rtlCol="0" anchor="ctr"/>
          <a:lstStyle/>
          <a:p>
            <a:pPr indent="0" marL="0">
              <a:buNone/>
            </a:pPr>
            <a:r>
              <a:rPr lang="en-US" sz="1600" b="1" dirty="0">
                <a:solidFill>
                  <a:srgbClr val="07161A"/>
                </a:solidFill>
                <a:latin typeface="Cambria" pitchFamily="34" charset="0"/>
                <a:ea typeface="Cambria" pitchFamily="34" charset="-122"/>
                <a:cs typeface="Cambria" pitchFamily="34" charset="-120"/>
              </a:rPr>
              <a:t>Determinism</a:t>
            </a:r>
            <a:endParaRPr lang="en-US" sz="1600" dirty="0"/>
          </a:p>
        </p:txBody>
      </p:sp>
      <p:sp>
        <p:nvSpPr>
          <p:cNvPr id="8" name="Text 6"/>
          <p:cNvSpPr/>
          <p:nvPr/>
        </p:nvSpPr>
        <p:spPr>
          <a:xfrm>
            <a:off x="3154680" y="1673352"/>
            <a:ext cx="3063240" cy="777240"/>
          </a:xfrm>
          <a:prstGeom prst="rect">
            <a:avLst/>
          </a:prstGeom>
          <a:noFill/>
          <a:ln/>
        </p:spPr>
        <p:txBody>
          <a:bodyPr wrap="square" lIns="0" tIns="0" rIns="0" bIns="0" rtlCol="0" anchor="t"/>
          <a:lstStyle/>
          <a:p>
            <a:pPr indent="0" marL="0">
              <a:lnSpc>
                <a:spcPts val="1300"/>
              </a:lnSpc>
              <a:buNone/>
            </a:pPr>
            <a:r>
              <a:rPr lang="en-US" sz="1050" dirty="0">
                <a:solidFill>
                  <a:srgbClr val="74898E"/>
                </a:solidFill>
                <a:latin typeface="Calibri" pitchFamily="34" charset="0"/>
                <a:ea typeface="Calibri" pitchFamily="34" charset="-122"/>
                <a:cs typeface="Calibri" pitchFamily="34" charset="-120"/>
              </a:rPr>
              <a:t>Sampled output. The same patient re-run can change a verdict, and no system on the previous slide reports run-to-run variance at all.</a:t>
            </a:r>
            <a:endParaRPr lang="en-US" sz="1050" dirty="0"/>
          </a:p>
        </p:txBody>
      </p:sp>
      <p:sp>
        <p:nvSpPr>
          <p:cNvPr id="9" name="Text 7"/>
          <p:cNvSpPr/>
          <p:nvPr/>
        </p:nvSpPr>
        <p:spPr>
          <a:xfrm>
            <a:off x="6675120" y="1673352"/>
            <a:ext cx="4892040" cy="457200"/>
          </a:xfrm>
          <a:prstGeom prst="rect">
            <a:avLst/>
          </a:prstGeom>
          <a:noFill/>
          <a:ln/>
        </p:spPr>
        <p:txBody>
          <a:bodyPr wrap="square" lIns="0" tIns="0" rIns="0" bIns="0" rtlCol="0" anchor="t"/>
          <a:lstStyle/>
          <a:p>
            <a:pPr indent="0" marL="0">
              <a:lnSpc>
                <a:spcPts val="1300"/>
              </a:lnSpc>
              <a:buNone/>
            </a:pPr>
            <a:r>
              <a:rPr lang="en-US" sz="1050" dirty="0">
                <a:solidFill>
                  <a:srgbClr val="3F5257"/>
                </a:solidFill>
                <a:latin typeface="Calibri" pitchFamily="34" charset="0"/>
                <a:ea typeface="Calibri" pitchFamily="34" charset="-122"/>
                <a:cs typeface="Calibri" pitchFamily="34" charset="-120"/>
              </a:rPr>
              <a:t>20 runs of the full 500-trial query, one SHA-256 over every field but the clock.</a:t>
            </a:r>
            <a:endParaRPr lang="en-US" sz="1050" dirty="0"/>
          </a:p>
        </p:txBody>
      </p:sp>
      <p:sp>
        <p:nvSpPr>
          <p:cNvPr id="10" name="Shape 8"/>
          <p:cNvSpPr/>
          <p:nvPr/>
        </p:nvSpPr>
        <p:spPr>
          <a:xfrm>
            <a:off x="6675120" y="2194560"/>
            <a:ext cx="118872" cy="118872"/>
          </a:xfrm>
          <a:prstGeom prst="ellipse">
            <a:avLst/>
          </a:prstGeom>
          <a:solidFill>
            <a:srgbClr val="0E6B3E"/>
          </a:solidFill>
          <a:ln w="12700">
            <a:solidFill>
              <a:srgbClr val="0E6B3E"/>
            </a:solidFill>
            <a:prstDash val="solid"/>
          </a:ln>
        </p:spPr>
      </p:sp>
      <p:sp>
        <p:nvSpPr>
          <p:cNvPr id="11" name="Text 9"/>
          <p:cNvSpPr/>
          <p:nvPr/>
        </p:nvSpPr>
        <p:spPr>
          <a:xfrm>
            <a:off x="6858000" y="2112264"/>
            <a:ext cx="4709160" cy="274320"/>
          </a:xfrm>
          <a:prstGeom prst="rect">
            <a:avLst/>
          </a:prstGeom>
          <a:noFill/>
          <a:ln/>
        </p:spPr>
        <p:txBody>
          <a:bodyPr wrap="square" lIns="0" tIns="0" rIns="0" bIns="0" rtlCol="0" anchor="ctr"/>
          <a:lstStyle/>
          <a:p>
            <a:pPr indent="0" marL="0">
              <a:buNone/>
            </a:pPr>
            <a:r>
              <a:rPr lang="en-US" sz="1100" b="1" dirty="0">
                <a:solidFill>
                  <a:srgbClr val="0E6B3E"/>
                </a:solidFill>
                <a:latin typeface="Calibri" pitchFamily="34" charset="0"/>
                <a:ea typeface="Calibri" pitchFamily="34" charset="-122"/>
                <a:cs typeface="Calibri" pitchFamily="34" charset="-120"/>
              </a:rPr>
              <a:t>1 distinct output hash / 20 runs</a:t>
            </a:r>
            <a:endParaRPr lang="en-US" sz="1100" dirty="0"/>
          </a:p>
        </p:txBody>
      </p:sp>
      <p:sp>
        <p:nvSpPr>
          <p:cNvPr id="12" name="Shape 10"/>
          <p:cNvSpPr/>
          <p:nvPr/>
        </p:nvSpPr>
        <p:spPr>
          <a:xfrm>
            <a:off x="594360" y="2478024"/>
            <a:ext cx="5769864" cy="9144"/>
          </a:xfrm>
          <a:prstGeom prst="rect">
            <a:avLst/>
          </a:prstGeom>
          <a:solidFill>
            <a:srgbClr val="E2ECEF"/>
          </a:solidFill>
          <a:ln w="12700">
            <a:solidFill>
              <a:srgbClr val="E2ECEF"/>
            </a:solidFill>
            <a:prstDash val="solid"/>
          </a:ln>
        </p:spPr>
      </p:sp>
      <p:sp>
        <p:nvSpPr>
          <p:cNvPr id="13" name="Text 11"/>
          <p:cNvSpPr/>
          <p:nvPr/>
        </p:nvSpPr>
        <p:spPr>
          <a:xfrm>
            <a:off x="594360" y="2542032"/>
            <a:ext cx="2377440" cy="365760"/>
          </a:xfrm>
          <a:prstGeom prst="rect">
            <a:avLst/>
          </a:prstGeom>
          <a:noFill/>
          <a:ln/>
        </p:spPr>
        <p:txBody>
          <a:bodyPr wrap="square" lIns="0" tIns="0" rIns="0" bIns="0" rtlCol="0" anchor="ctr"/>
          <a:lstStyle/>
          <a:p>
            <a:pPr indent="0" marL="0">
              <a:buNone/>
            </a:pPr>
            <a:r>
              <a:rPr lang="en-US" sz="1600" b="1" dirty="0">
                <a:solidFill>
                  <a:srgbClr val="07161A"/>
                </a:solidFill>
                <a:latin typeface="Cambria" pitchFamily="34" charset="0"/>
                <a:ea typeface="Cambria" pitchFamily="34" charset="-122"/>
                <a:cs typeface="Cambria" pitchFamily="34" charset="-120"/>
              </a:rPr>
              <a:t>Temporal answer</a:t>
            </a:r>
            <a:endParaRPr lang="en-US" sz="1600" dirty="0"/>
          </a:p>
        </p:txBody>
      </p:sp>
      <p:sp>
        <p:nvSpPr>
          <p:cNvPr id="14" name="Text 12"/>
          <p:cNvSpPr/>
          <p:nvPr/>
        </p:nvSpPr>
        <p:spPr>
          <a:xfrm>
            <a:off x="3154680" y="2569464"/>
            <a:ext cx="3063240" cy="777240"/>
          </a:xfrm>
          <a:prstGeom prst="rect">
            <a:avLst/>
          </a:prstGeom>
          <a:noFill/>
          <a:ln/>
        </p:spPr>
        <p:txBody>
          <a:bodyPr wrap="square" lIns="0" tIns="0" rIns="0" bIns="0" rtlCol="0" anchor="t"/>
          <a:lstStyle/>
          <a:p>
            <a:pPr indent="0" marL="0">
              <a:lnSpc>
                <a:spcPts val="1300"/>
              </a:lnSpc>
              <a:buNone/>
            </a:pPr>
            <a:r>
              <a:rPr lang="en-US" sz="1050" dirty="0">
                <a:solidFill>
                  <a:srgbClr val="74898E"/>
                </a:solidFill>
                <a:latin typeface="Calibri" pitchFamily="34" charset="0"/>
                <a:ea typeface="Calibri" pitchFamily="34" charset="-122"/>
                <a:cs typeface="Calibri" pitchFamily="34" charset="-120"/>
              </a:rPr>
              <a:t>A category — “could be eligible in future”. The coordinator still has to work out when, from the note.</a:t>
            </a:r>
            <a:endParaRPr lang="en-US" sz="1050" dirty="0"/>
          </a:p>
        </p:txBody>
      </p:sp>
      <p:sp>
        <p:nvSpPr>
          <p:cNvPr id="15" name="Text 13"/>
          <p:cNvSpPr/>
          <p:nvPr/>
        </p:nvSpPr>
        <p:spPr>
          <a:xfrm>
            <a:off x="6675120" y="2569464"/>
            <a:ext cx="4892040" cy="457200"/>
          </a:xfrm>
          <a:prstGeom prst="rect">
            <a:avLst/>
          </a:prstGeom>
          <a:noFill/>
          <a:ln/>
        </p:spPr>
        <p:txBody>
          <a:bodyPr wrap="square" lIns="0" tIns="0" rIns="0" bIns="0" rtlCol="0" anchor="t"/>
          <a:lstStyle/>
          <a:p>
            <a:pPr indent="0" marL="0">
              <a:lnSpc>
                <a:spcPts val="1300"/>
              </a:lnSpc>
              <a:buNone/>
            </a:pPr>
            <a:r>
              <a:rPr lang="en-US" sz="1050" dirty="0">
                <a:solidFill>
                  <a:srgbClr val="3F5257"/>
                </a:solidFill>
                <a:latin typeface="Calibri" pitchFamily="34" charset="0"/>
                <a:ea typeface="Calibri" pitchFamily="34" charset="-122"/>
                <a:cs typeface="Calibri" pitchFamily="34" charset="-120"/>
              </a:rPr>
              <a:t>A calendar date, computed from an anchor date read out of the note and shown beside it.</a:t>
            </a:r>
            <a:endParaRPr lang="en-US" sz="1050" dirty="0"/>
          </a:p>
        </p:txBody>
      </p:sp>
      <p:sp>
        <p:nvSpPr>
          <p:cNvPr id="16" name="Shape 14"/>
          <p:cNvSpPr/>
          <p:nvPr/>
        </p:nvSpPr>
        <p:spPr>
          <a:xfrm>
            <a:off x="6675120" y="3090672"/>
            <a:ext cx="118872" cy="118872"/>
          </a:xfrm>
          <a:prstGeom prst="ellipse">
            <a:avLst/>
          </a:prstGeom>
          <a:solidFill>
            <a:srgbClr val="0E7A8C"/>
          </a:solidFill>
          <a:ln w="12700">
            <a:solidFill>
              <a:srgbClr val="0E7A8C"/>
            </a:solidFill>
            <a:prstDash val="solid"/>
          </a:ln>
        </p:spPr>
      </p:sp>
      <p:sp>
        <p:nvSpPr>
          <p:cNvPr id="17" name="Text 15"/>
          <p:cNvSpPr/>
          <p:nvPr/>
        </p:nvSpPr>
        <p:spPr>
          <a:xfrm>
            <a:off x="6858000" y="3008376"/>
            <a:ext cx="4709160" cy="274320"/>
          </a:xfrm>
          <a:prstGeom prst="rect">
            <a:avLst/>
          </a:prstGeom>
          <a:noFill/>
          <a:ln/>
        </p:spPr>
        <p:txBody>
          <a:bodyPr wrap="square" lIns="0" tIns="0" rIns="0" bIns="0" rtlCol="0" anchor="ctr"/>
          <a:lstStyle/>
          <a:p>
            <a:pPr indent="0" marL="0">
              <a:buNone/>
            </a:pPr>
            <a:r>
              <a:rPr lang="en-US" sz="1100" b="1" dirty="0">
                <a:solidFill>
                  <a:srgbClr val="0E7A8C"/>
                </a:solidFill>
                <a:latin typeface="Calibri" pitchFamily="34" charset="0"/>
                <a:ea typeface="Calibri" pitchFamily="34" charset="-122"/>
                <a:cs typeface="Calibri" pitchFamily="34" charset="-120"/>
              </a:rPr>
              <a:t>16 Sep 2026  ·  30 Sep 2026</a:t>
            </a:r>
            <a:endParaRPr lang="en-US" sz="1100" dirty="0"/>
          </a:p>
        </p:txBody>
      </p:sp>
      <p:sp>
        <p:nvSpPr>
          <p:cNvPr id="18" name="Shape 16"/>
          <p:cNvSpPr/>
          <p:nvPr/>
        </p:nvSpPr>
        <p:spPr>
          <a:xfrm>
            <a:off x="594360" y="3374136"/>
            <a:ext cx="5769864" cy="9144"/>
          </a:xfrm>
          <a:prstGeom prst="rect">
            <a:avLst/>
          </a:prstGeom>
          <a:solidFill>
            <a:srgbClr val="E2ECEF"/>
          </a:solidFill>
          <a:ln w="12700">
            <a:solidFill>
              <a:srgbClr val="E2ECEF"/>
            </a:solidFill>
            <a:prstDash val="solid"/>
          </a:ln>
        </p:spPr>
      </p:sp>
      <p:sp>
        <p:nvSpPr>
          <p:cNvPr id="19" name="Text 17"/>
          <p:cNvSpPr/>
          <p:nvPr/>
        </p:nvSpPr>
        <p:spPr>
          <a:xfrm>
            <a:off x="594360" y="3438144"/>
            <a:ext cx="2377440" cy="365760"/>
          </a:xfrm>
          <a:prstGeom prst="rect">
            <a:avLst/>
          </a:prstGeom>
          <a:noFill/>
          <a:ln/>
        </p:spPr>
        <p:txBody>
          <a:bodyPr wrap="square" lIns="0" tIns="0" rIns="0" bIns="0" rtlCol="0" anchor="ctr"/>
          <a:lstStyle/>
          <a:p>
            <a:pPr indent="0" marL="0">
              <a:buNone/>
            </a:pPr>
            <a:r>
              <a:rPr lang="en-US" sz="1600" b="1" dirty="0">
                <a:solidFill>
                  <a:srgbClr val="07161A"/>
                </a:solidFill>
                <a:latin typeface="Cambria" pitchFamily="34" charset="0"/>
                <a:ea typeface="Cambria" pitchFamily="34" charset="-122"/>
                <a:cs typeface="Cambria" pitchFamily="34" charset="-120"/>
              </a:rPr>
              <a:t>Provenance</a:t>
            </a:r>
            <a:endParaRPr lang="en-US" sz="1600" dirty="0"/>
          </a:p>
        </p:txBody>
      </p:sp>
      <p:sp>
        <p:nvSpPr>
          <p:cNvPr id="20" name="Text 18"/>
          <p:cNvSpPr/>
          <p:nvPr/>
        </p:nvSpPr>
        <p:spPr>
          <a:xfrm>
            <a:off x="3154680" y="3465576"/>
            <a:ext cx="3063240" cy="777240"/>
          </a:xfrm>
          <a:prstGeom prst="rect">
            <a:avLst/>
          </a:prstGeom>
          <a:noFill/>
          <a:ln/>
        </p:spPr>
        <p:txBody>
          <a:bodyPr wrap="square" lIns="0" tIns="0" rIns="0" bIns="0" rtlCol="0" anchor="t"/>
          <a:lstStyle/>
          <a:p>
            <a:pPr indent="0" marL="0">
              <a:lnSpc>
                <a:spcPts val="1300"/>
              </a:lnSpc>
              <a:buNone/>
            </a:pPr>
            <a:r>
              <a:rPr lang="en-US" sz="1050" dirty="0">
                <a:solidFill>
                  <a:srgbClr val="74898E"/>
                </a:solidFill>
                <a:latin typeface="Calibri" pitchFamily="34" charset="0"/>
                <a:ea typeface="Calibri" pitchFamily="34" charset="-122"/>
                <a:cs typeface="Calibri" pitchFamily="34" charset="-120"/>
              </a:rPr>
              <a:t>Evidence quoted from the trial text, generated by the same pass that produced the answer.</a:t>
            </a:r>
            <a:endParaRPr lang="en-US" sz="1050" dirty="0"/>
          </a:p>
        </p:txBody>
      </p:sp>
      <p:sp>
        <p:nvSpPr>
          <p:cNvPr id="21" name="Text 19"/>
          <p:cNvSpPr/>
          <p:nvPr/>
        </p:nvSpPr>
        <p:spPr>
          <a:xfrm>
            <a:off x="6675120" y="3465576"/>
            <a:ext cx="4892040" cy="457200"/>
          </a:xfrm>
          <a:prstGeom prst="rect">
            <a:avLst/>
          </a:prstGeom>
          <a:noFill/>
          <a:ln/>
        </p:spPr>
        <p:txBody>
          <a:bodyPr wrap="square" lIns="0" tIns="0" rIns="0" bIns="0" rtlCol="0" anchor="t"/>
          <a:lstStyle/>
          <a:p>
            <a:pPr indent="0" marL="0">
              <a:lnSpc>
                <a:spcPts val="1300"/>
              </a:lnSpc>
              <a:buNone/>
            </a:pPr>
            <a:r>
              <a:rPr lang="en-US" sz="1050" dirty="0">
                <a:solidFill>
                  <a:srgbClr val="3F5257"/>
                </a:solidFill>
                <a:latin typeface="Calibri" pitchFamily="34" charset="0"/>
                <a:ea typeface="Calibri" pitchFamily="34" charset="-122"/>
                <a:cs typeface="Calibri" pitchFamily="34" charset="-120"/>
              </a:rPr>
              <a:t>Character offsets into the patient record, emitted by the evaluator, not by a model.</a:t>
            </a:r>
            <a:endParaRPr lang="en-US" sz="1050" dirty="0"/>
          </a:p>
        </p:txBody>
      </p:sp>
      <p:sp>
        <p:nvSpPr>
          <p:cNvPr id="22" name="Shape 20"/>
          <p:cNvSpPr/>
          <p:nvPr/>
        </p:nvSpPr>
        <p:spPr>
          <a:xfrm>
            <a:off x="6675120" y="3986784"/>
            <a:ext cx="118872" cy="118872"/>
          </a:xfrm>
          <a:prstGeom prst="ellipse">
            <a:avLst/>
          </a:prstGeom>
          <a:solidFill>
            <a:srgbClr val="0E6B3E"/>
          </a:solidFill>
          <a:ln w="12700">
            <a:solidFill>
              <a:srgbClr val="0E6B3E"/>
            </a:solidFill>
            <a:prstDash val="solid"/>
          </a:ln>
        </p:spPr>
      </p:sp>
      <p:sp>
        <p:nvSpPr>
          <p:cNvPr id="23" name="Text 21"/>
          <p:cNvSpPr/>
          <p:nvPr/>
        </p:nvSpPr>
        <p:spPr>
          <a:xfrm>
            <a:off x="6858000" y="3904488"/>
            <a:ext cx="4709160" cy="274320"/>
          </a:xfrm>
          <a:prstGeom prst="rect">
            <a:avLst/>
          </a:prstGeom>
          <a:noFill/>
          <a:ln/>
        </p:spPr>
        <p:txBody>
          <a:bodyPr wrap="square" lIns="0" tIns="0" rIns="0" bIns="0" rtlCol="0" anchor="ctr"/>
          <a:lstStyle/>
          <a:p>
            <a:pPr indent="0" marL="0">
              <a:buNone/>
            </a:pPr>
            <a:r>
              <a:rPr lang="en-US" sz="1100" b="1" dirty="0">
                <a:solidFill>
                  <a:srgbClr val="0E6B3E"/>
                </a:solidFill>
                <a:latin typeface="Calibri" pitchFamily="34" charset="0"/>
                <a:ea typeface="Calibri" pitchFamily="34" charset="-122"/>
                <a:cs typeface="Calibri" pitchFamily="34" charset="-120"/>
              </a:rPr>
              <a:t>75.6% of verdicts click to their source sentence</a:t>
            </a:r>
            <a:endParaRPr lang="en-US" sz="1100" dirty="0"/>
          </a:p>
        </p:txBody>
      </p:sp>
      <p:sp>
        <p:nvSpPr>
          <p:cNvPr id="24" name="Shape 22"/>
          <p:cNvSpPr/>
          <p:nvPr/>
        </p:nvSpPr>
        <p:spPr>
          <a:xfrm>
            <a:off x="594360" y="4270248"/>
            <a:ext cx="5769864" cy="9144"/>
          </a:xfrm>
          <a:prstGeom prst="rect">
            <a:avLst/>
          </a:prstGeom>
          <a:solidFill>
            <a:srgbClr val="E2ECEF"/>
          </a:solidFill>
          <a:ln w="12700">
            <a:solidFill>
              <a:srgbClr val="E2ECEF"/>
            </a:solidFill>
            <a:prstDash val="solid"/>
          </a:ln>
        </p:spPr>
      </p:sp>
      <p:sp>
        <p:nvSpPr>
          <p:cNvPr id="25" name="Text 23"/>
          <p:cNvSpPr/>
          <p:nvPr/>
        </p:nvSpPr>
        <p:spPr>
          <a:xfrm>
            <a:off x="594360" y="4334256"/>
            <a:ext cx="2377440" cy="365760"/>
          </a:xfrm>
          <a:prstGeom prst="rect">
            <a:avLst/>
          </a:prstGeom>
          <a:noFill/>
          <a:ln/>
        </p:spPr>
        <p:txBody>
          <a:bodyPr wrap="square" lIns="0" tIns="0" rIns="0" bIns="0" rtlCol="0" anchor="ctr"/>
          <a:lstStyle/>
          <a:p>
            <a:pPr indent="0" marL="0">
              <a:buNone/>
            </a:pPr>
            <a:r>
              <a:rPr lang="en-US" sz="1600" b="1" dirty="0">
                <a:solidFill>
                  <a:srgbClr val="07161A"/>
                </a:solidFill>
                <a:latin typeface="Cambria" pitchFamily="34" charset="0"/>
                <a:ea typeface="Cambria" pitchFamily="34" charset="-122"/>
                <a:cs typeface="Cambria" pitchFamily="34" charset="-120"/>
              </a:rPr>
              <a:t>Missing data</a:t>
            </a:r>
            <a:endParaRPr lang="en-US" sz="1600" dirty="0"/>
          </a:p>
        </p:txBody>
      </p:sp>
      <p:sp>
        <p:nvSpPr>
          <p:cNvPr id="26" name="Text 24"/>
          <p:cNvSpPr/>
          <p:nvPr/>
        </p:nvSpPr>
        <p:spPr>
          <a:xfrm>
            <a:off x="3154680" y="4361688"/>
            <a:ext cx="3063240" cy="777240"/>
          </a:xfrm>
          <a:prstGeom prst="rect">
            <a:avLst/>
          </a:prstGeom>
          <a:noFill/>
          <a:ln/>
        </p:spPr>
        <p:txBody>
          <a:bodyPr wrap="square" lIns="0" tIns="0" rIns="0" bIns="0" rtlCol="0" anchor="t"/>
          <a:lstStyle/>
          <a:p>
            <a:pPr indent="0" marL="0">
              <a:lnSpc>
                <a:spcPts val="1300"/>
              </a:lnSpc>
              <a:buNone/>
            </a:pPr>
            <a:r>
              <a:rPr lang="en-US" sz="1050" dirty="0">
                <a:solidFill>
                  <a:srgbClr val="74898E"/>
                </a:solidFill>
                <a:latin typeface="Calibri" pitchFamily="34" charset="0"/>
                <a:ea typeface="Calibri" pitchFamily="34" charset="-122"/>
                <a:cs typeface="Calibri" pitchFamily="34" charset="-120"/>
              </a:rPr>
              <a:t>Answers regardless. A note that never mentions the field still yields a verdict rather than a question.</a:t>
            </a:r>
            <a:endParaRPr lang="en-US" sz="1050" dirty="0"/>
          </a:p>
        </p:txBody>
      </p:sp>
      <p:sp>
        <p:nvSpPr>
          <p:cNvPr id="27" name="Text 25"/>
          <p:cNvSpPr/>
          <p:nvPr/>
        </p:nvSpPr>
        <p:spPr>
          <a:xfrm>
            <a:off x="6675120" y="4361688"/>
            <a:ext cx="4892040" cy="457200"/>
          </a:xfrm>
          <a:prstGeom prst="rect">
            <a:avLst/>
          </a:prstGeom>
          <a:noFill/>
          <a:ln/>
        </p:spPr>
        <p:txBody>
          <a:bodyPr wrap="square" lIns="0" tIns="0" rIns="0" bIns="0" rtlCol="0" anchor="t"/>
          <a:lstStyle/>
          <a:p>
            <a:pPr indent="0" marL="0">
              <a:lnSpc>
                <a:spcPts val="1300"/>
              </a:lnSpc>
              <a:buNone/>
            </a:pPr>
            <a:r>
              <a:rPr lang="en-US" sz="1050" dirty="0">
                <a:solidFill>
                  <a:srgbClr val="3F5257"/>
                </a:solidFill>
                <a:latin typeface="Calibri" pitchFamily="34" charset="0"/>
                <a:ea typeface="Calibri" pitchFamily="34" charset="-122"/>
                <a:cs typeface="Calibri" pitchFamily="34" charset="-120"/>
              </a:rPr>
              <a:t>Abstains, and names the test that would settle it — a gap becomes a work order.</a:t>
            </a:r>
            <a:endParaRPr lang="en-US" sz="1050" dirty="0"/>
          </a:p>
        </p:txBody>
      </p:sp>
      <p:sp>
        <p:nvSpPr>
          <p:cNvPr id="28" name="Shape 26"/>
          <p:cNvSpPr/>
          <p:nvPr/>
        </p:nvSpPr>
        <p:spPr>
          <a:xfrm>
            <a:off x="6675120" y="4882896"/>
            <a:ext cx="118872" cy="118872"/>
          </a:xfrm>
          <a:prstGeom prst="ellipse">
            <a:avLst/>
          </a:prstGeom>
          <a:solidFill>
            <a:srgbClr val="55656A"/>
          </a:solidFill>
          <a:ln w="12700">
            <a:solidFill>
              <a:srgbClr val="55656A"/>
            </a:solidFill>
            <a:prstDash val="solid"/>
          </a:ln>
        </p:spPr>
      </p:sp>
      <p:sp>
        <p:nvSpPr>
          <p:cNvPr id="29" name="Text 27"/>
          <p:cNvSpPr/>
          <p:nvPr/>
        </p:nvSpPr>
        <p:spPr>
          <a:xfrm>
            <a:off x="6858000" y="4800600"/>
            <a:ext cx="4709160" cy="274320"/>
          </a:xfrm>
          <a:prstGeom prst="rect">
            <a:avLst/>
          </a:prstGeom>
          <a:noFill/>
          <a:ln/>
        </p:spPr>
        <p:txBody>
          <a:bodyPr wrap="square" lIns="0" tIns="0" rIns="0" bIns="0" rtlCol="0" anchor="ctr"/>
          <a:lstStyle/>
          <a:p>
            <a:pPr indent="0" marL="0">
              <a:buNone/>
            </a:pPr>
            <a:r>
              <a:rPr lang="en-US" sz="1100" b="1" dirty="0">
                <a:solidFill>
                  <a:srgbClr val="55656A"/>
                </a:solidFill>
                <a:latin typeface="Calibri" pitchFamily="34" charset="0"/>
                <a:ea typeface="Calibri" pitchFamily="34" charset="-122"/>
                <a:cs typeface="Calibri" pitchFamily="34" charset="-120"/>
              </a:rPr>
              <a:t>10.6% abstained · top 4 tests resolve 340 criteria</a:t>
            </a:r>
            <a:endParaRPr lang="en-US" sz="1100" dirty="0"/>
          </a:p>
        </p:txBody>
      </p:sp>
      <p:sp>
        <p:nvSpPr>
          <p:cNvPr id="30" name="Shape 28"/>
          <p:cNvSpPr/>
          <p:nvPr/>
        </p:nvSpPr>
        <p:spPr>
          <a:xfrm>
            <a:off x="594360" y="5431536"/>
            <a:ext cx="10972800" cy="603504"/>
          </a:xfrm>
          <a:prstGeom prst="roundRect">
            <a:avLst>
              <a:gd name="adj" fmla="val 9091"/>
            </a:avLst>
          </a:prstGeom>
          <a:solidFill>
            <a:srgbClr val="FDF0EF"/>
          </a:solidFill>
          <a:ln w="12700">
            <a:solidFill>
              <a:srgbClr val="F0C9C6"/>
            </a:solidFill>
            <a:prstDash val="solid"/>
          </a:ln>
        </p:spPr>
      </p:sp>
      <p:sp>
        <p:nvSpPr>
          <p:cNvPr id="31" name="Text 29"/>
          <p:cNvSpPr/>
          <p:nvPr/>
        </p:nvSpPr>
        <p:spPr>
          <a:xfrm>
            <a:off x="813816" y="5522976"/>
            <a:ext cx="10533888" cy="438912"/>
          </a:xfrm>
          <a:prstGeom prst="rect">
            <a:avLst/>
          </a:prstGeom>
          <a:noFill/>
          <a:ln/>
        </p:spPr>
        <p:txBody>
          <a:bodyPr wrap="square" lIns="0" tIns="0" rIns="0" bIns="0" rtlCol="0" anchor="t"/>
          <a:lstStyle/>
          <a:p>
            <a:pPr indent="0" marL="0">
              <a:lnSpc>
                <a:spcPts val="1400"/>
              </a:lnSpc>
              <a:buNone/>
            </a:pPr>
            <a:r>
              <a:rPr lang="en-US" sz="1100" b="1" dirty="0">
                <a:solidFill>
                  <a:srgbClr val="A81F17"/>
                </a:solidFill>
                <a:latin typeface="Calibri" pitchFamily="34" charset="0"/>
                <a:ea typeface="Calibri" pitchFamily="34" charset="-122"/>
                <a:cs typeface="Calibri" pitchFamily="34" charset="-120"/>
              </a:rPr>
              <a:t>Where this loses.  </a:t>
            </a:r>
            <a:pPr indent="0" marL="0">
              <a:lnSpc>
                <a:spcPts val="1400"/>
              </a:lnSpc>
              <a:buNone/>
            </a:pPr>
            <a:r>
              <a:rPr lang="en-US" sz="1100" dirty="0">
                <a:solidFill>
                  <a:srgbClr val="3F5257"/>
                </a:solidFill>
                <a:latin typeface="Calibri" pitchFamily="34" charset="0"/>
                <a:ea typeface="Calibri" pitchFamily="34" charset="-122"/>
                <a:cs typeface="Calibri" pitchFamily="34" charset="-120"/>
              </a:rPr>
              <a:t>TREC 2022 NDCG@10 0.3600 against TrialGPT’s published 0.7252 — those notes carry no lab values and no dates, so no washout predicate can fire. And the compiled-vs-prompted numeric head-to-head has not been run.</a:t>
            </a:r>
            <a:endParaRPr lang="en-US" sz="1100" dirty="0"/>
          </a:p>
        </p:txBody>
      </p:sp>
      <p:sp>
        <p:nvSpPr>
          <p:cNvPr id="32" name="Text 30"/>
          <p:cNvSpPr/>
          <p:nvPr/>
        </p:nvSpPr>
        <p:spPr>
          <a:xfrm>
            <a:off x="594360" y="6272784"/>
            <a:ext cx="10972800" cy="438912"/>
          </a:xfrm>
          <a:prstGeom prst="rect">
            <a:avLst/>
          </a:prstGeom>
          <a:noFill/>
          <a:ln/>
        </p:spPr>
        <p:txBody>
          <a:bodyPr wrap="square" lIns="0" tIns="0" rIns="0" bIns="0" rtlCol="0" anchor="t"/>
          <a:lstStyle/>
          <a:p>
            <a:pPr indent="0" marL="0">
              <a:lnSpc>
                <a:spcPts val="1200"/>
              </a:lnSpc>
              <a:buNone/>
            </a:pPr>
            <a:r>
              <a:rPr lang="en-US" sz="950" dirty="0">
                <a:solidFill>
                  <a:srgbClr val="74898E"/>
                </a:solidFill>
                <a:latin typeface="Calibri" pitchFamily="34" charset="0"/>
                <a:ea typeface="Calibri" pitchFamily="34" charset="-122"/>
                <a:cs typeface="Calibri" pitchFamily="34" charset="-120"/>
              </a:rPr>
              <a:t>Measured by eval/differentiation.py over the 500-trial corpus and one persona. Determinism excludes the timing block, which varies by construction.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182880"/>
            <a:ext cx="10972800" cy="237744"/>
          </a:xfrm>
          <a:prstGeom prst="rect">
            <a:avLst/>
          </a:prstGeom>
          <a:noFill/>
          <a:ln/>
        </p:spPr>
        <p:txBody>
          <a:bodyPr wrap="square" lIns="0" tIns="0" rIns="0" bIns="0" rtlCol="0" anchor="ctr"/>
          <a:lstStyle/>
          <a:p>
            <a:pPr indent="0" marL="0">
              <a:buNone/>
            </a:pPr>
            <a:r>
              <a:rPr lang="en-US" sz="1150" b="1" spc="160" kern="0" dirty="0">
                <a:solidFill>
                  <a:srgbClr val="74898E"/>
                </a:solidFill>
                <a:latin typeface="Calibri" pitchFamily="34" charset="0"/>
                <a:ea typeface="Calibri" pitchFamily="34" charset="-122"/>
                <a:cs typeface="Calibri" pitchFamily="34" charset="-120"/>
              </a:rPr>
              <a:t>ARCHITECTURE</a:t>
            </a:r>
            <a:endParaRPr lang="en-US" sz="1150" dirty="0"/>
          </a:p>
        </p:txBody>
      </p:sp>
      <p:sp>
        <p:nvSpPr>
          <p:cNvPr id="3" name="Text 1"/>
          <p:cNvSpPr/>
          <p:nvPr/>
        </p:nvSpPr>
        <p:spPr>
          <a:xfrm>
            <a:off x="594360" y="384048"/>
            <a:ext cx="10972800" cy="731520"/>
          </a:xfrm>
          <a:prstGeom prst="rect">
            <a:avLst/>
          </a:prstGeom>
          <a:noFill/>
          <a:ln/>
        </p:spPr>
        <p:txBody>
          <a:bodyPr wrap="square" lIns="0" tIns="0" rIns="0" bIns="0" rtlCol="0" anchor="t"/>
          <a:lstStyle/>
          <a:p>
            <a:pPr indent="0" marL="0">
              <a:buNone/>
            </a:pPr>
            <a:r>
              <a:rPr lang="en-US" sz="3400" b="1" dirty="0">
                <a:solidFill>
                  <a:srgbClr val="07161A"/>
                </a:solidFill>
                <a:latin typeface="Cambria" pitchFamily="34" charset="0"/>
                <a:ea typeface="Cambria" pitchFamily="34" charset="-122"/>
                <a:cs typeface="Cambria" pitchFamily="34" charset="-120"/>
              </a:rPr>
              <a:t>Do the hard work once, offline</a:t>
            </a:r>
            <a:endParaRPr lang="en-US" sz="3400" dirty="0"/>
          </a:p>
        </p:txBody>
      </p:sp>
      <p:sp>
        <p:nvSpPr>
          <p:cNvPr id="4" name="Shape 2"/>
          <p:cNvSpPr/>
          <p:nvPr/>
        </p:nvSpPr>
        <p:spPr>
          <a:xfrm>
            <a:off x="594360" y="1463040"/>
            <a:ext cx="5532120" cy="4114800"/>
          </a:xfrm>
          <a:prstGeom prst="roundRect">
            <a:avLst>
              <a:gd name="adj" fmla="val 1333"/>
            </a:avLst>
          </a:prstGeom>
          <a:solidFill>
            <a:srgbClr val="F2FBFC"/>
          </a:solidFill>
          <a:ln w="12700">
            <a:solidFill>
              <a:srgbClr val="E2ECEF"/>
            </a:solidFill>
            <a:prstDash val="solid"/>
          </a:ln>
        </p:spPr>
      </p:sp>
      <p:sp>
        <p:nvSpPr>
          <p:cNvPr id="5" name="Text 3"/>
          <p:cNvSpPr/>
          <p:nvPr/>
        </p:nvSpPr>
        <p:spPr>
          <a:xfrm>
            <a:off x="850392" y="1645920"/>
            <a:ext cx="5029200" cy="274320"/>
          </a:xfrm>
          <a:prstGeom prst="rect">
            <a:avLst/>
          </a:prstGeom>
          <a:noFill/>
          <a:ln/>
        </p:spPr>
        <p:txBody>
          <a:bodyPr wrap="square" lIns="0" tIns="0" rIns="0" bIns="0" rtlCol="0" anchor="ctr"/>
          <a:lstStyle/>
          <a:p>
            <a:pPr indent="0" marL="0">
              <a:buNone/>
            </a:pPr>
            <a:r>
              <a:rPr lang="en-US" sz="1100" b="1" spc="120" kern="0" dirty="0">
                <a:solidFill>
                  <a:srgbClr val="0A5F6E"/>
                </a:solidFill>
                <a:latin typeface="Calibri" pitchFamily="34" charset="0"/>
                <a:ea typeface="Calibri" pitchFamily="34" charset="-122"/>
                <a:cs typeface="Calibri" pitchFamily="34" charset="-120"/>
              </a:rPr>
              <a:t>OFFLINE  ·  run once, cached to disk</a:t>
            </a:r>
            <a:endParaRPr lang="en-US" sz="1100" dirty="0"/>
          </a:p>
        </p:txBody>
      </p:sp>
      <p:sp>
        <p:nvSpPr>
          <p:cNvPr id="6" name="Shape 4"/>
          <p:cNvSpPr/>
          <p:nvPr/>
        </p:nvSpPr>
        <p:spPr>
          <a:xfrm>
            <a:off x="850392" y="2121408"/>
            <a:ext cx="960120" cy="347472"/>
          </a:xfrm>
          <a:prstGeom prst="roundRect">
            <a:avLst>
              <a:gd name="adj" fmla="val 13158"/>
            </a:avLst>
          </a:prstGeom>
          <a:solidFill>
            <a:srgbClr val="0A5F6E"/>
          </a:solidFill>
          <a:ln w="12700">
            <a:solidFill>
              <a:srgbClr val="0A5F6E"/>
            </a:solidFill>
            <a:prstDash val="solid"/>
          </a:ln>
        </p:spPr>
      </p:sp>
      <p:sp>
        <p:nvSpPr>
          <p:cNvPr id="7" name="Text 5"/>
          <p:cNvSpPr/>
          <p:nvPr/>
        </p:nvSpPr>
        <p:spPr>
          <a:xfrm>
            <a:off x="850392" y="2157984"/>
            <a:ext cx="9601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Pull</a:t>
            </a:r>
            <a:endParaRPr lang="en-US" sz="1100" dirty="0"/>
          </a:p>
        </p:txBody>
      </p:sp>
      <p:sp>
        <p:nvSpPr>
          <p:cNvPr id="8" name="Text 6"/>
          <p:cNvSpPr/>
          <p:nvPr/>
        </p:nvSpPr>
        <p:spPr>
          <a:xfrm>
            <a:off x="1947672" y="2103120"/>
            <a:ext cx="4023360" cy="566928"/>
          </a:xfrm>
          <a:prstGeom prst="rect">
            <a:avLst/>
          </a:prstGeom>
          <a:noFill/>
          <a:ln/>
        </p:spPr>
        <p:txBody>
          <a:bodyPr wrap="square" lIns="0" tIns="0" rIns="0" bIns="0" rtlCol="0" anchor="t"/>
          <a:lstStyle/>
          <a:p>
            <a:pPr indent="0" marL="0">
              <a:lnSpc>
                <a:spcPts val="1600"/>
              </a:lnSpc>
              <a:buNone/>
            </a:pPr>
            <a:r>
              <a:rPr lang="en-US" sz="1200" dirty="0">
                <a:solidFill>
                  <a:srgbClr val="3F5257"/>
                </a:solidFill>
                <a:latin typeface="Calibri" pitchFamily="34" charset="0"/>
                <a:ea typeface="Calibri" pitchFamily="34" charset="-122"/>
                <a:cs typeface="Calibri" pitchFamily="34" charset="-120"/>
              </a:rPr>
              <a:t>500 recruiting NSCLC trials, ClinicalTrials.gov v2</a:t>
            </a:r>
            <a:endParaRPr lang="en-US" sz="1200" dirty="0"/>
          </a:p>
        </p:txBody>
      </p:sp>
      <p:sp>
        <p:nvSpPr>
          <p:cNvPr id="9" name="Shape 7"/>
          <p:cNvSpPr/>
          <p:nvPr/>
        </p:nvSpPr>
        <p:spPr>
          <a:xfrm>
            <a:off x="850392" y="2944368"/>
            <a:ext cx="960120" cy="347472"/>
          </a:xfrm>
          <a:prstGeom prst="roundRect">
            <a:avLst>
              <a:gd name="adj" fmla="val 13158"/>
            </a:avLst>
          </a:prstGeom>
          <a:solidFill>
            <a:srgbClr val="0A5F6E"/>
          </a:solidFill>
          <a:ln w="12700">
            <a:solidFill>
              <a:srgbClr val="0A5F6E"/>
            </a:solidFill>
            <a:prstDash val="solid"/>
          </a:ln>
        </p:spPr>
      </p:sp>
      <p:sp>
        <p:nvSpPr>
          <p:cNvPr id="10" name="Text 8"/>
          <p:cNvSpPr/>
          <p:nvPr/>
        </p:nvSpPr>
        <p:spPr>
          <a:xfrm>
            <a:off x="850392" y="2980944"/>
            <a:ext cx="9601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Split</a:t>
            </a:r>
            <a:endParaRPr lang="en-US" sz="1100" dirty="0"/>
          </a:p>
        </p:txBody>
      </p:sp>
      <p:sp>
        <p:nvSpPr>
          <p:cNvPr id="11" name="Text 9"/>
          <p:cNvSpPr/>
          <p:nvPr/>
        </p:nvSpPr>
        <p:spPr>
          <a:xfrm>
            <a:off x="1947672" y="2926080"/>
            <a:ext cx="4023360" cy="566928"/>
          </a:xfrm>
          <a:prstGeom prst="rect">
            <a:avLst/>
          </a:prstGeom>
          <a:noFill/>
          <a:ln/>
        </p:spPr>
        <p:txBody>
          <a:bodyPr wrap="square" lIns="0" tIns="0" rIns="0" bIns="0" rtlCol="0" anchor="t"/>
          <a:lstStyle/>
          <a:p>
            <a:pPr indent="0" marL="0">
              <a:lnSpc>
                <a:spcPts val="1600"/>
              </a:lnSpc>
              <a:buNone/>
            </a:pPr>
            <a:r>
              <a:rPr lang="en-US" sz="1200" dirty="0">
                <a:solidFill>
                  <a:srgbClr val="3F5257"/>
                </a:solidFill>
                <a:latin typeface="Calibri" pitchFamily="34" charset="0"/>
                <a:ea typeface="Calibri" pitchFamily="34" charset="-122"/>
                <a:cs typeface="Calibri" pitchFamily="34" charset="-120"/>
              </a:rPr>
              <a:t>eligibility blocks → 13,202 criteria</a:t>
            </a:r>
            <a:endParaRPr lang="en-US" sz="1200" dirty="0"/>
          </a:p>
        </p:txBody>
      </p:sp>
      <p:sp>
        <p:nvSpPr>
          <p:cNvPr id="12" name="Shape 10"/>
          <p:cNvSpPr/>
          <p:nvPr/>
        </p:nvSpPr>
        <p:spPr>
          <a:xfrm>
            <a:off x="850392" y="3767328"/>
            <a:ext cx="960120" cy="347472"/>
          </a:xfrm>
          <a:prstGeom prst="roundRect">
            <a:avLst>
              <a:gd name="adj" fmla="val 13158"/>
            </a:avLst>
          </a:prstGeom>
          <a:solidFill>
            <a:srgbClr val="0A5F6E"/>
          </a:solidFill>
          <a:ln w="12700">
            <a:solidFill>
              <a:srgbClr val="0A5F6E"/>
            </a:solidFill>
            <a:prstDash val="solid"/>
          </a:ln>
        </p:spPr>
      </p:sp>
      <p:sp>
        <p:nvSpPr>
          <p:cNvPr id="13" name="Text 11"/>
          <p:cNvSpPr/>
          <p:nvPr/>
        </p:nvSpPr>
        <p:spPr>
          <a:xfrm>
            <a:off x="850392" y="3803904"/>
            <a:ext cx="9601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Compile</a:t>
            </a:r>
            <a:endParaRPr lang="en-US" sz="1100" dirty="0"/>
          </a:p>
        </p:txBody>
      </p:sp>
      <p:sp>
        <p:nvSpPr>
          <p:cNvPr id="14" name="Text 12"/>
          <p:cNvSpPr/>
          <p:nvPr/>
        </p:nvSpPr>
        <p:spPr>
          <a:xfrm>
            <a:off x="1947672" y="3749040"/>
            <a:ext cx="4023360" cy="566928"/>
          </a:xfrm>
          <a:prstGeom prst="rect">
            <a:avLst/>
          </a:prstGeom>
          <a:noFill/>
          <a:ln/>
        </p:spPr>
        <p:txBody>
          <a:bodyPr wrap="square" lIns="0" tIns="0" rIns="0" bIns="0" rtlCol="0" anchor="t"/>
          <a:lstStyle/>
          <a:p>
            <a:pPr indent="0" marL="0">
              <a:lnSpc>
                <a:spcPts val="1600"/>
              </a:lnSpc>
              <a:buNone/>
            </a:pPr>
            <a:r>
              <a:rPr lang="en-US" sz="1200" dirty="0">
                <a:solidFill>
                  <a:srgbClr val="3F5257"/>
                </a:solidFill>
                <a:latin typeface="Calibri" pitchFamily="34" charset="0"/>
                <a:ea typeface="Calibri" pitchFamily="34" charset="-122"/>
                <a:cs typeface="Calibri" pitchFamily="34" charset="-120"/>
              </a:rPr>
              <a:t>criteria → 15,360 typed predicates</a:t>
            </a:r>
            <a:endParaRPr lang="en-US" sz="1200" dirty="0"/>
          </a:p>
        </p:txBody>
      </p:sp>
      <p:sp>
        <p:nvSpPr>
          <p:cNvPr id="15" name="Shape 13"/>
          <p:cNvSpPr/>
          <p:nvPr/>
        </p:nvSpPr>
        <p:spPr>
          <a:xfrm>
            <a:off x="850392" y="4590288"/>
            <a:ext cx="960120" cy="347472"/>
          </a:xfrm>
          <a:prstGeom prst="roundRect">
            <a:avLst>
              <a:gd name="adj" fmla="val 13158"/>
            </a:avLst>
          </a:prstGeom>
          <a:solidFill>
            <a:srgbClr val="0A5F6E"/>
          </a:solidFill>
          <a:ln w="12700">
            <a:solidFill>
              <a:srgbClr val="0A5F6E"/>
            </a:solidFill>
            <a:prstDash val="solid"/>
          </a:ln>
        </p:spPr>
      </p:sp>
      <p:sp>
        <p:nvSpPr>
          <p:cNvPr id="16" name="Text 14"/>
          <p:cNvSpPr/>
          <p:nvPr/>
        </p:nvSpPr>
        <p:spPr>
          <a:xfrm>
            <a:off x="850392" y="4626864"/>
            <a:ext cx="9601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Persist</a:t>
            </a:r>
            <a:endParaRPr lang="en-US" sz="1100" dirty="0"/>
          </a:p>
        </p:txBody>
      </p:sp>
      <p:sp>
        <p:nvSpPr>
          <p:cNvPr id="17" name="Text 15"/>
          <p:cNvSpPr/>
          <p:nvPr/>
        </p:nvSpPr>
        <p:spPr>
          <a:xfrm>
            <a:off x="1947672" y="4572000"/>
            <a:ext cx="4023360" cy="566928"/>
          </a:xfrm>
          <a:prstGeom prst="rect">
            <a:avLst/>
          </a:prstGeom>
          <a:noFill/>
          <a:ln/>
        </p:spPr>
        <p:txBody>
          <a:bodyPr wrap="square" lIns="0" tIns="0" rIns="0" bIns="0" rtlCol="0" anchor="t"/>
          <a:lstStyle/>
          <a:p>
            <a:pPr indent="0" marL="0">
              <a:lnSpc>
                <a:spcPts val="1600"/>
              </a:lnSpc>
              <a:buNone/>
            </a:pPr>
            <a:r>
              <a:rPr lang="en-US" sz="1200" dirty="0">
                <a:solidFill>
                  <a:srgbClr val="3F5257"/>
                </a:solidFill>
                <a:latin typeface="Calibri" pitchFamily="34" charset="0"/>
                <a:ea typeface="Calibri" pitchFamily="34" charset="-122"/>
                <a:cs typeface="Calibri" pitchFamily="34" charset="-120"/>
              </a:rPr>
              <a:t>predicate cache on disk</a:t>
            </a:r>
            <a:endParaRPr lang="en-US" sz="1200" dirty="0"/>
          </a:p>
        </p:txBody>
      </p:sp>
      <p:sp>
        <p:nvSpPr>
          <p:cNvPr id="18" name="Text 16"/>
          <p:cNvSpPr/>
          <p:nvPr/>
        </p:nvSpPr>
        <p:spPr>
          <a:xfrm>
            <a:off x="850392" y="5138928"/>
            <a:ext cx="5029200" cy="274320"/>
          </a:xfrm>
          <a:prstGeom prst="rect">
            <a:avLst/>
          </a:prstGeom>
          <a:noFill/>
          <a:ln/>
        </p:spPr>
        <p:txBody>
          <a:bodyPr wrap="square" lIns="0" tIns="0" rIns="0" bIns="0" rtlCol="0" anchor="ctr"/>
          <a:lstStyle/>
          <a:p>
            <a:pPr indent="0" marL="0">
              <a:buNone/>
            </a:pPr>
            <a:r>
              <a:rPr lang="en-US" sz="1100" i="1" dirty="0">
                <a:solidFill>
                  <a:srgbClr val="74898E"/>
                </a:solidFill>
                <a:latin typeface="Calibri" pitchFamily="34" charset="0"/>
                <a:ea typeface="Calibri" pitchFamily="34" charset="-122"/>
                <a:cs typeface="Calibri" pitchFamily="34" charset="-120"/>
              </a:rPr>
              <a:t>the entire technical contribution</a:t>
            </a:r>
            <a:endParaRPr lang="en-US" sz="1100" dirty="0"/>
          </a:p>
        </p:txBody>
      </p:sp>
      <p:sp>
        <p:nvSpPr>
          <p:cNvPr id="19" name="Shape 17"/>
          <p:cNvSpPr/>
          <p:nvPr/>
        </p:nvSpPr>
        <p:spPr>
          <a:xfrm>
            <a:off x="6400800" y="1463040"/>
            <a:ext cx="5166360" cy="4114800"/>
          </a:xfrm>
          <a:prstGeom prst="roundRect">
            <a:avLst>
              <a:gd name="adj" fmla="val 1333"/>
            </a:avLst>
          </a:prstGeom>
          <a:solidFill>
            <a:srgbClr val="FFFFFF"/>
          </a:solidFill>
          <a:ln w="12700">
            <a:solidFill>
              <a:srgbClr val="E2ECEF"/>
            </a:solidFill>
            <a:prstDash val="solid"/>
          </a:ln>
        </p:spPr>
      </p:sp>
      <p:sp>
        <p:nvSpPr>
          <p:cNvPr id="20" name="Text 18"/>
          <p:cNvSpPr/>
          <p:nvPr/>
        </p:nvSpPr>
        <p:spPr>
          <a:xfrm>
            <a:off x="6656832" y="1645920"/>
            <a:ext cx="4663440" cy="274320"/>
          </a:xfrm>
          <a:prstGeom prst="rect">
            <a:avLst/>
          </a:prstGeom>
          <a:noFill/>
          <a:ln/>
        </p:spPr>
        <p:txBody>
          <a:bodyPr wrap="square" lIns="0" tIns="0" rIns="0" bIns="0" rtlCol="0" anchor="ctr"/>
          <a:lstStyle/>
          <a:p>
            <a:pPr indent="0" marL="0">
              <a:buNone/>
            </a:pPr>
            <a:r>
              <a:rPr lang="en-US" sz="1100" b="1" spc="120" kern="0" dirty="0">
                <a:solidFill>
                  <a:srgbClr val="0E6B3E"/>
                </a:solidFill>
                <a:latin typeface="Calibri" pitchFamily="34" charset="0"/>
                <a:ea typeface="Calibri" pitchFamily="34" charset="-122"/>
                <a:cs typeface="Calibri" pitchFamily="34" charset="-120"/>
              </a:rPr>
              <a:t>ONLINE  ·  per patient query</a:t>
            </a:r>
            <a:endParaRPr lang="en-US" sz="1100" dirty="0"/>
          </a:p>
        </p:txBody>
      </p:sp>
      <p:sp>
        <p:nvSpPr>
          <p:cNvPr id="21" name="Shape 19"/>
          <p:cNvSpPr/>
          <p:nvPr/>
        </p:nvSpPr>
        <p:spPr>
          <a:xfrm>
            <a:off x="6656832" y="2121408"/>
            <a:ext cx="1051560" cy="347472"/>
          </a:xfrm>
          <a:prstGeom prst="roundRect">
            <a:avLst>
              <a:gd name="adj" fmla="val 13158"/>
            </a:avLst>
          </a:prstGeom>
          <a:solidFill>
            <a:srgbClr val="EDF6F1"/>
          </a:solidFill>
          <a:ln w="12700">
            <a:solidFill>
              <a:srgbClr val="0E6B3E"/>
            </a:solidFill>
            <a:prstDash val="solid"/>
          </a:ln>
        </p:spPr>
      </p:sp>
      <p:sp>
        <p:nvSpPr>
          <p:cNvPr id="22" name="Text 20"/>
          <p:cNvSpPr/>
          <p:nvPr/>
        </p:nvSpPr>
        <p:spPr>
          <a:xfrm>
            <a:off x="6656832" y="2157984"/>
            <a:ext cx="1051560" cy="274320"/>
          </a:xfrm>
          <a:prstGeom prst="rect">
            <a:avLst/>
          </a:prstGeom>
          <a:noFill/>
          <a:ln/>
        </p:spPr>
        <p:txBody>
          <a:bodyPr wrap="square" lIns="0" tIns="0" rIns="0" bIns="0" rtlCol="0" anchor="ctr"/>
          <a:lstStyle/>
          <a:p>
            <a:pPr algn="ctr" indent="0" marL="0">
              <a:buNone/>
            </a:pPr>
            <a:r>
              <a:rPr lang="en-US" sz="1100" b="1" dirty="0">
                <a:solidFill>
                  <a:srgbClr val="0E6B3E"/>
                </a:solidFill>
                <a:latin typeface="Calibri" pitchFamily="34" charset="0"/>
                <a:ea typeface="Calibri" pitchFamily="34" charset="-122"/>
                <a:cs typeface="Calibri" pitchFamily="34" charset="-120"/>
              </a:rPr>
              <a:t>Extract</a:t>
            </a:r>
            <a:endParaRPr lang="en-US" sz="1100" dirty="0"/>
          </a:p>
        </p:txBody>
      </p:sp>
      <p:sp>
        <p:nvSpPr>
          <p:cNvPr id="23" name="Text 21"/>
          <p:cNvSpPr/>
          <p:nvPr/>
        </p:nvSpPr>
        <p:spPr>
          <a:xfrm>
            <a:off x="7845552" y="2103120"/>
            <a:ext cx="3611880" cy="566928"/>
          </a:xfrm>
          <a:prstGeom prst="rect">
            <a:avLst/>
          </a:prstGeom>
          <a:noFill/>
          <a:ln/>
        </p:spPr>
        <p:txBody>
          <a:bodyPr wrap="square" lIns="0" tIns="0" rIns="0" bIns="0" rtlCol="0" anchor="t"/>
          <a:lstStyle/>
          <a:p>
            <a:pPr indent="0" marL="0">
              <a:lnSpc>
                <a:spcPts val="1600"/>
              </a:lnSpc>
              <a:buNone/>
            </a:pPr>
            <a:r>
              <a:rPr lang="en-US" sz="1200" dirty="0">
                <a:solidFill>
                  <a:srgbClr val="3F5257"/>
                </a:solidFill>
                <a:latin typeface="Calibri" pitchFamily="34" charset="0"/>
                <a:ea typeface="Calibri" pitchFamily="34" charset="-122"/>
                <a:cs typeface="Calibri" pitchFamily="34" charset="-120"/>
              </a:rPr>
              <a:t>report → patient record, with a character span on every field</a:t>
            </a:r>
            <a:endParaRPr lang="en-US" sz="1200" dirty="0"/>
          </a:p>
        </p:txBody>
      </p:sp>
      <p:sp>
        <p:nvSpPr>
          <p:cNvPr id="24" name="Shape 22"/>
          <p:cNvSpPr/>
          <p:nvPr/>
        </p:nvSpPr>
        <p:spPr>
          <a:xfrm>
            <a:off x="6656832" y="2944368"/>
            <a:ext cx="1051560" cy="347472"/>
          </a:xfrm>
          <a:prstGeom prst="roundRect">
            <a:avLst>
              <a:gd name="adj" fmla="val 13158"/>
            </a:avLst>
          </a:prstGeom>
          <a:solidFill>
            <a:srgbClr val="EDF6F1"/>
          </a:solidFill>
          <a:ln w="12700">
            <a:solidFill>
              <a:srgbClr val="0E6B3E"/>
            </a:solidFill>
            <a:prstDash val="solid"/>
          </a:ln>
        </p:spPr>
      </p:sp>
      <p:sp>
        <p:nvSpPr>
          <p:cNvPr id="25" name="Text 23"/>
          <p:cNvSpPr/>
          <p:nvPr/>
        </p:nvSpPr>
        <p:spPr>
          <a:xfrm>
            <a:off x="6656832" y="2980944"/>
            <a:ext cx="1051560" cy="274320"/>
          </a:xfrm>
          <a:prstGeom prst="rect">
            <a:avLst/>
          </a:prstGeom>
          <a:noFill/>
          <a:ln/>
        </p:spPr>
        <p:txBody>
          <a:bodyPr wrap="square" lIns="0" tIns="0" rIns="0" bIns="0" rtlCol="0" anchor="ctr"/>
          <a:lstStyle/>
          <a:p>
            <a:pPr algn="ctr" indent="0" marL="0">
              <a:buNone/>
            </a:pPr>
            <a:r>
              <a:rPr lang="en-US" sz="1100" b="1" dirty="0">
                <a:solidFill>
                  <a:srgbClr val="0E6B3E"/>
                </a:solidFill>
                <a:latin typeface="Calibri" pitchFamily="34" charset="0"/>
                <a:ea typeface="Calibri" pitchFamily="34" charset="-122"/>
                <a:cs typeface="Calibri" pitchFamily="34" charset="-120"/>
              </a:rPr>
              <a:t>Retrieve</a:t>
            </a:r>
            <a:endParaRPr lang="en-US" sz="1100" dirty="0"/>
          </a:p>
        </p:txBody>
      </p:sp>
      <p:sp>
        <p:nvSpPr>
          <p:cNvPr id="26" name="Text 24"/>
          <p:cNvSpPr/>
          <p:nvPr/>
        </p:nvSpPr>
        <p:spPr>
          <a:xfrm>
            <a:off x="7845552" y="2926080"/>
            <a:ext cx="3611880" cy="566928"/>
          </a:xfrm>
          <a:prstGeom prst="rect">
            <a:avLst/>
          </a:prstGeom>
          <a:noFill/>
          <a:ln/>
        </p:spPr>
        <p:txBody>
          <a:bodyPr wrap="square" lIns="0" tIns="0" rIns="0" bIns="0" rtlCol="0" anchor="t"/>
          <a:lstStyle/>
          <a:p>
            <a:pPr indent="0" marL="0">
              <a:lnSpc>
                <a:spcPts val="1600"/>
              </a:lnSpc>
              <a:buNone/>
            </a:pPr>
            <a:r>
              <a:rPr lang="en-US" sz="1200" dirty="0">
                <a:solidFill>
                  <a:srgbClr val="3F5257"/>
                </a:solidFill>
                <a:latin typeface="Calibri" pitchFamily="34" charset="0"/>
                <a:ea typeface="Calibri" pitchFamily="34" charset="-122"/>
                <a:cs typeface="Calibri" pitchFamily="34" charset="-120"/>
              </a:rPr>
              <a:t>candidate trials</a:t>
            </a:r>
            <a:endParaRPr lang="en-US" sz="1200" dirty="0"/>
          </a:p>
        </p:txBody>
      </p:sp>
      <p:sp>
        <p:nvSpPr>
          <p:cNvPr id="27" name="Shape 25"/>
          <p:cNvSpPr/>
          <p:nvPr/>
        </p:nvSpPr>
        <p:spPr>
          <a:xfrm>
            <a:off x="6656832" y="3767328"/>
            <a:ext cx="1051560" cy="347472"/>
          </a:xfrm>
          <a:prstGeom prst="roundRect">
            <a:avLst>
              <a:gd name="adj" fmla="val 13158"/>
            </a:avLst>
          </a:prstGeom>
          <a:solidFill>
            <a:srgbClr val="EDF6F1"/>
          </a:solidFill>
          <a:ln w="12700">
            <a:solidFill>
              <a:srgbClr val="0E6B3E"/>
            </a:solidFill>
            <a:prstDash val="solid"/>
          </a:ln>
        </p:spPr>
      </p:sp>
      <p:sp>
        <p:nvSpPr>
          <p:cNvPr id="28" name="Text 26"/>
          <p:cNvSpPr/>
          <p:nvPr/>
        </p:nvSpPr>
        <p:spPr>
          <a:xfrm>
            <a:off x="6656832" y="3803904"/>
            <a:ext cx="1051560" cy="274320"/>
          </a:xfrm>
          <a:prstGeom prst="rect">
            <a:avLst/>
          </a:prstGeom>
          <a:noFill/>
          <a:ln/>
        </p:spPr>
        <p:txBody>
          <a:bodyPr wrap="square" lIns="0" tIns="0" rIns="0" bIns="0" rtlCol="0" anchor="ctr"/>
          <a:lstStyle/>
          <a:p>
            <a:pPr algn="ctr" indent="0" marL="0">
              <a:buNone/>
            </a:pPr>
            <a:r>
              <a:rPr lang="en-US" sz="1100" b="1" dirty="0">
                <a:solidFill>
                  <a:srgbClr val="0E6B3E"/>
                </a:solidFill>
                <a:latin typeface="Calibri" pitchFamily="34" charset="0"/>
                <a:ea typeface="Calibri" pitchFamily="34" charset="-122"/>
                <a:cs typeface="Calibri" pitchFamily="34" charset="-120"/>
              </a:rPr>
              <a:t>Evaluate</a:t>
            </a:r>
            <a:endParaRPr lang="en-US" sz="1100" dirty="0"/>
          </a:p>
        </p:txBody>
      </p:sp>
      <p:sp>
        <p:nvSpPr>
          <p:cNvPr id="29" name="Text 27"/>
          <p:cNvSpPr/>
          <p:nvPr/>
        </p:nvSpPr>
        <p:spPr>
          <a:xfrm>
            <a:off x="7845552" y="3749040"/>
            <a:ext cx="3611880" cy="566928"/>
          </a:xfrm>
          <a:prstGeom prst="rect">
            <a:avLst/>
          </a:prstGeom>
          <a:noFill/>
          <a:ln/>
        </p:spPr>
        <p:txBody>
          <a:bodyPr wrap="square" lIns="0" tIns="0" rIns="0" bIns="0" rtlCol="0" anchor="t"/>
          <a:lstStyle/>
          <a:p>
            <a:pPr indent="0" marL="0">
              <a:lnSpc>
                <a:spcPts val="1600"/>
              </a:lnSpc>
              <a:buNone/>
            </a:pPr>
            <a:r>
              <a:rPr lang="en-US" sz="1200" dirty="0">
                <a:solidFill>
                  <a:srgbClr val="3F5257"/>
                </a:solidFill>
                <a:latin typeface="Calibri" pitchFamily="34" charset="0"/>
                <a:ea typeface="Calibri" pitchFamily="34" charset="-122"/>
                <a:cs typeface="Calibri" pitchFamily="34" charset="-120"/>
              </a:rPr>
              <a:t>predicates in Python — no model calls</a:t>
            </a:r>
            <a:endParaRPr lang="en-US" sz="1200" dirty="0"/>
          </a:p>
        </p:txBody>
      </p:sp>
      <p:sp>
        <p:nvSpPr>
          <p:cNvPr id="30" name="Shape 28"/>
          <p:cNvSpPr/>
          <p:nvPr/>
        </p:nvSpPr>
        <p:spPr>
          <a:xfrm>
            <a:off x="6656832" y="4590288"/>
            <a:ext cx="1051560" cy="347472"/>
          </a:xfrm>
          <a:prstGeom prst="roundRect">
            <a:avLst>
              <a:gd name="adj" fmla="val 13158"/>
            </a:avLst>
          </a:prstGeom>
          <a:solidFill>
            <a:srgbClr val="EDF6F1"/>
          </a:solidFill>
          <a:ln w="12700">
            <a:solidFill>
              <a:srgbClr val="0E6B3E"/>
            </a:solidFill>
            <a:prstDash val="solid"/>
          </a:ln>
        </p:spPr>
      </p:sp>
      <p:sp>
        <p:nvSpPr>
          <p:cNvPr id="31" name="Text 29"/>
          <p:cNvSpPr/>
          <p:nvPr/>
        </p:nvSpPr>
        <p:spPr>
          <a:xfrm>
            <a:off x="6656832" y="4626864"/>
            <a:ext cx="1051560" cy="274320"/>
          </a:xfrm>
          <a:prstGeom prst="rect">
            <a:avLst/>
          </a:prstGeom>
          <a:noFill/>
          <a:ln/>
        </p:spPr>
        <p:txBody>
          <a:bodyPr wrap="square" lIns="0" tIns="0" rIns="0" bIns="0" rtlCol="0" anchor="ctr"/>
          <a:lstStyle/>
          <a:p>
            <a:pPr algn="ctr" indent="0" marL="0">
              <a:buNone/>
            </a:pPr>
            <a:r>
              <a:rPr lang="en-US" sz="1100" b="1" dirty="0">
                <a:solidFill>
                  <a:srgbClr val="0E6B3E"/>
                </a:solidFill>
                <a:latin typeface="Calibri" pitchFamily="34" charset="0"/>
                <a:ea typeface="Calibri" pitchFamily="34" charset="-122"/>
                <a:cs typeface="Calibri" pitchFamily="34" charset="-120"/>
              </a:rPr>
              <a:t>Aggregate</a:t>
            </a:r>
            <a:endParaRPr lang="en-US" sz="1100" dirty="0"/>
          </a:p>
        </p:txBody>
      </p:sp>
      <p:sp>
        <p:nvSpPr>
          <p:cNvPr id="32" name="Text 30"/>
          <p:cNvSpPr/>
          <p:nvPr/>
        </p:nvSpPr>
        <p:spPr>
          <a:xfrm>
            <a:off x="7845552" y="4572000"/>
            <a:ext cx="3611880" cy="566928"/>
          </a:xfrm>
          <a:prstGeom prst="rect">
            <a:avLst/>
          </a:prstGeom>
          <a:noFill/>
          <a:ln/>
        </p:spPr>
        <p:txBody>
          <a:bodyPr wrap="square" lIns="0" tIns="0" rIns="0" bIns="0" rtlCol="0" anchor="t"/>
          <a:lstStyle/>
          <a:p>
            <a:pPr indent="0" marL="0">
              <a:lnSpc>
                <a:spcPts val="1600"/>
              </a:lnSpc>
              <a:buNone/>
            </a:pPr>
            <a:r>
              <a:rPr lang="en-US" sz="1200" dirty="0">
                <a:solidFill>
                  <a:srgbClr val="3F5257"/>
                </a:solidFill>
                <a:latin typeface="Calibri" pitchFamily="34" charset="0"/>
                <a:ea typeface="Calibri" pitchFamily="34" charset="-122"/>
                <a:cs typeface="Calibri" pitchFamily="34" charset="-120"/>
              </a:rPr>
              <a:t>to four states, with dates</a:t>
            </a:r>
            <a:endParaRPr lang="en-US" sz="1200" dirty="0"/>
          </a:p>
        </p:txBody>
      </p:sp>
      <p:sp>
        <p:nvSpPr>
          <p:cNvPr id="33" name="Text 31"/>
          <p:cNvSpPr/>
          <p:nvPr/>
        </p:nvSpPr>
        <p:spPr>
          <a:xfrm>
            <a:off x="6656832" y="5138928"/>
            <a:ext cx="4663440" cy="274320"/>
          </a:xfrm>
          <a:prstGeom prst="rect">
            <a:avLst/>
          </a:prstGeom>
          <a:noFill/>
          <a:ln/>
        </p:spPr>
        <p:txBody>
          <a:bodyPr wrap="square" lIns="0" tIns="0" rIns="0" bIns="0" rtlCol="0" anchor="ctr"/>
          <a:lstStyle/>
          <a:p>
            <a:pPr indent="0" marL="0">
              <a:buNone/>
            </a:pPr>
            <a:r>
              <a:rPr lang="en-US" sz="1100" i="1" dirty="0">
                <a:solidFill>
                  <a:srgbClr val="74898E"/>
                </a:solidFill>
                <a:latin typeface="Calibri" pitchFamily="34" charset="0"/>
                <a:ea typeface="Calibri" pitchFamily="34" charset="-122"/>
                <a:cs typeface="Calibri" pitchFamily="34" charset="-120"/>
              </a:rPr>
              <a:t>65 ms median for 500 trials · 50 warm runs</a:t>
            </a:r>
            <a:endParaRPr lang="en-US" sz="1100" dirty="0"/>
          </a:p>
        </p:txBody>
      </p:sp>
      <p:sp>
        <p:nvSpPr>
          <p:cNvPr id="34" name="Shape 32"/>
          <p:cNvSpPr/>
          <p:nvPr/>
        </p:nvSpPr>
        <p:spPr>
          <a:xfrm>
            <a:off x="594360" y="5742432"/>
            <a:ext cx="10972800" cy="621792"/>
          </a:xfrm>
          <a:prstGeom prst="roundRect">
            <a:avLst>
              <a:gd name="adj" fmla="val 8824"/>
            </a:avLst>
          </a:prstGeom>
          <a:solidFill>
            <a:srgbClr val="F2FBFC"/>
          </a:solidFill>
          <a:ln w="12700">
            <a:solidFill>
              <a:srgbClr val="E2ECEF"/>
            </a:solidFill>
            <a:prstDash val="solid"/>
          </a:ln>
        </p:spPr>
      </p:sp>
      <p:sp>
        <p:nvSpPr>
          <p:cNvPr id="35" name="Text 33"/>
          <p:cNvSpPr/>
          <p:nvPr/>
        </p:nvSpPr>
        <p:spPr>
          <a:xfrm>
            <a:off x="832104" y="5870448"/>
            <a:ext cx="10497312" cy="384048"/>
          </a:xfrm>
          <a:prstGeom prst="rect">
            <a:avLst/>
          </a:prstGeom>
          <a:noFill/>
          <a:ln/>
        </p:spPr>
        <p:txBody>
          <a:bodyPr wrap="square" lIns="0" tIns="0" rIns="0" bIns="0" rtlCol="0" anchor="ctr"/>
          <a:lstStyle/>
          <a:p>
            <a:pPr indent="0" marL="0">
              <a:buNone/>
            </a:pPr>
            <a:r>
              <a:rPr lang="en-US" sz="1250" b="1" dirty="0">
                <a:solidFill>
                  <a:srgbClr val="07161A"/>
                </a:solidFill>
                <a:latin typeface="Calibri" pitchFamily="34" charset="0"/>
                <a:ea typeface="Calibri" pitchFamily="34" charset="-122"/>
                <a:cs typeface="Calibri" pitchFamily="34" charset="-120"/>
              </a:rPr>
              <a:t>The LLM performs extraction only. It never performs a comparison, a unit conversion, or date arithmetic — every numeric and temporal verdict comes from Python.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182880"/>
            <a:ext cx="10972800" cy="237744"/>
          </a:xfrm>
          <a:prstGeom prst="rect">
            <a:avLst/>
          </a:prstGeom>
          <a:noFill/>
          <a:ln/>
        </p:spPr>
        <p:txBody>
          <a:bodyPr wrap="square" lIns="0" tIns="0" rIns="0" bIns="0" rtlCol="0" anchor="ctr"/>
          <a:lstStyle/>
          <a:p>
            <a:pPr indent="0" marL="0">
              <a:buNone/>
            </a:pPr>
            <a:r>
              <a:rPr lang="en-US" sz="1150" b="1" spc="160" kern="0" dirty="0">
                <a:solidFill>
                  <a:srgbClr val="74898E"/>
                </a:solidFill>
                <a:latin typeface="Calibri" pitchFamily="34" charset="0"/>
                <a:ea typeface="Calibri" pitchFamily="34" charset="-122"/>
                <a:cs typeface="Calibri" pitchFamily="34" charset="-120"/>
              </a:rPr>
              <a:t>METRIC 9.1</a:t>
            </a:r>
            <a:endParaRPr lang="en-US" sz="1150" dirty="0"/>
          </a:p>
        </p:txBody>
      </p:sp>
      <p:sp>
        <p:nvSpPr>
          <p:cNvPr id="3" name="Text 1"/>
          <p:cNvSpPr/>
          <p:nvPr/>
        </p:nvSpPr>
        <p:spPr>
          <a:xfrm>
            <a:off x="594360" y="384048"/>
            <a:ext cx="10972800" cy="731520"/>
          </a:xfrm>
          <a:prstGeom prst="rect">
            <a:avLst/>
          </a:prstGeom>
          <a:noFill/>
          <a:ln/>
        </p:spPr>
        <p:txBody>
          <a:bodyPr wrap="square" lIns="0" tIns="0" rIns="0" bIns="0" rtlCol="0" anchor="t"/>
          <a:lstStyle/>
          <a:p>
            <a:pPr indent="0" marL="0">
              <a:buNone/>
            </a:pPr>
            <a:r>
              <a:rPr lang="en-US" sz="3400" b="1" dirty="0">
                <a:solidFill>
                  <a:srgbClr val="07161A"/>
                </a:solidFill>
                <a:latin typeface="Cambria" pitchFamily="34" charset="0"/>
                <a:ea typeface="Cambria" pitchFamily="34" charset="-122"/>
                <a:cs typeface="Cambria" pitchFamily="34" charset="-120"/>
              </a:rPr>
              <a:t>How much of eligibility prose is deterministic?</a:t>
            </a:r>
            <a:endParaRPr lang="en-US" sz="3400" dirty="0"/>
          </a:p>
        </p:txBody>
      </p:sp>
      <p:sp>
        <p:nvSpPr>
          <p:cNvPr id="4" name="Text 2"/>
          <p:cNvSpPr/>
          <p:nvPr/>
        </p:nvSpPr>
        <p:spPr>
          <a:xfrm>
            <a:off x="594360" y="1307592"/>
            <a:ext cx="6949440" cy="292608"/>
          </a:xfrm>
          <a:prstGeom prst="rect">
            <a:avLst/>
          </a:prstGeom>
          <a:noFill/>
          <a:ln/>
        </p:spPr>
        <p:txBody>
          <a:bodyPr wrap="square" lIns="0" tIns="0" rIns="0" bIns="0" rtlCol="0" anchor="ctr"/>
          <a:lstStyle/>
          <a:p>
            <a:pPr indent="0" marL="0">
              <a:buNone/>
            </a:pPr>
            <a:r>
              <a:rPr lang="en-US" sz="1200" b="1" dirty="0">
                <a:solidFill>
                  <a:srgbClr val="07161A"/>
                </a:solidFill>
                <a:latin typeface="Calibri" pitchFamily="34" charset="0"/>
                <a:ea typeface="Calibri" pitchFamily="34" charset="-122"/>
                <a:cs typeface="Calibri" pitchFamily="34" charset="-120"/>
              </a:rPr>
              <a:t>Criteria compiled, by predicate type  (% of all criteria)</a:t>
            </a:r>
            <a:endParaRPr lang="en-US" sz="1200" dirty="0"/>
          </a:p>
        </p:txBody>
      </p:sp>
      <p:sp>
        <p:nvSpPr>
          <p:cNvPr id="5" name="Text 3"/>
          <p:cNvSpPr/>
          <p:nvPr/>
        </p:nvSpPr>
        <p:spPr>
          <a:xfrm>
            <a:off x="594360" y="1691640"/>
            <a:ext cx="201168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Comorbidity</a:t>
            </a:r>
            <a:endParaRPr lang="en-US" sz="1150" dirty="0"/>
          </a:p>
        </p:txBody>
      </p:sp>
      <p:sp>
        <p:nvSpPr>
          <p:cNvPr id="6" name="Shape 4"/>
          <p:cNvSpPr/>
          <p:nvPr/>
        </p:nvSpPr>
        <p:spPr>
          <a:xfrm>
            <a:off x="2743200" y="1755648"/>
            <a:ext cx="4023360" cy="182880"/>
          </a:xfrm>
          <a:prstGeom prst="rect">
            <a:avLst/>
          </a:prstGeom>
          <a:solidFill>
            <a:srgbClr val="F2FBFC"/>
          </a:solidFill>
          <a:ln w="12700">
            <a:solidFill>
              <a:srgbClr val="F2FBFC"/>
            </a:solidFill>
            <a:prstDash val="solid"/>
          </a:ln>
        </p:spPr>
      </p:sp>
      <p:sp>
        <p:nvSpPr>
          <p:cNvPr id="7" name="Shape 5"/>
          <p:cNvSpPr/>
          <p:nvPr/>
        </p:nvSpPr>
        <p:spPr>
          <a:xfrm>
            <a:off x="2743200" y="1755648"/>
            <a:ext cx="3904149" cy="182880"/>
          </a:xfrm>
          <a:prstGeom prst="rect">
            <a:avLst/>
          </a:prstGeom>
          <a:solidFill>
            <a:srgbClr val="0A5F6E"/>
          </a:solidFill>
          <a:ln w="12700">
            <a:solidFill>
              <a:srgbClr val="0A5F6E"/>
            </a:solidFill>
            <a:prstDash val="solid"/>
          </a:ln>
        </p:spPr>
      </p:sp>
      <p:sp>
        <p:nvSpPr>
          <p:cNvPr id="8" name="Text 6"/>
          <p:cNvSpPr/>
          <p:nvPr/>
        </p:nvSpPr>
        <p:spPr>
          <a:xfrm>
            <a:off x="6876288" y="1691640"/>
            <a:ext cx="658368" cy="292608"/>
          </a:xfrm>
          <a:prstGeom prst="rect">
            <a:avLst/>
          </a:prstGeom>
          <a:noFill/>
          <a:ln/>
        </p:spPr>
        <p:txBody>
          <a:bodyPr wrap="square" lIns="0" tIns="0" rIns="0" bIns="0" rtlCol="0" anchor="ctr"/>
          <a:lstStyle/>
          <a:p>
            <a:pPr indent="0" marL="0">
              <a:buNone/>
            </a:pPr>
            <a:r>
              <a:rPr lang="en-US" sz="1100" b="1" dirty="0">
                <a:solidFill>
                  <a:srgbClr val="07161A"/>
                </a:solidFill>
                <a:latin typeface="Calibri" pitchFamily="34" charset="0"/>
                <a:ea typeface="Calibri" pitchFamily="34" charset="-122"/>
                <a:cs typeface="Calibri" pitchFamily="34" charset="-120"/>
              </a:rPr>
              <a:t>26.2%</a:t>
            </a:r>
            <a:endParaRPr lang="en-US" sz="1100" dirty="0"/>
          </a:p>
        </p:txBody>
      </p:sp>
      <p:sp>
        <p:nvSpPr>
          <p:cNvPr id="9" name="Text 7"/>
          <p:cNvSpPr/>
          <p:nvPr/>
        </p:nvSpPr>
        <p:spPr>
          <a:xfrm>
            <a:off x="594360" y="2148840"/>
            <a:ext cx="201168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Washout</a:t>
            </a:r>
            <a:endParaRPr lang="en-US" sz="1150" dirty="0"/>
          </a:p>
        </p:txBody>
      </p:sp>
      <p:sp>
        <p:nvSpPr>
          <p:cNvPr id="10" name="Shape 8"/>
          <p:cNvSpPr/>
          <p:nvPr/>
        </p:nvSpPr>
        <p:spPr>
          <a:xfrm>
            <a:off x="2743200" y="2212848"/>
            <a:ext cx="4023360" cy="182880"/>
          </a:xfrm>
          <a:prstGeom prst="rect">
            <a:avLst/>
          </a:prstGeom>
          <a:solidFill>
            <a:srgbClr val="F2FBFC"/>
          </a:solidFill>
          <a:ln w="12700">
            <a:solidFill>
              <a:srgbClr val="F2FBFC"/>
            </a:solidFill>
            <a:prstDash val="solid"/>
          </a:ln>
        </p:spPr>
      </p:sp>
      <p:sp>
        <p:nvSpPr>
          <p:cNvPr id="11" name="Shape 9"/>
          <p:cNvSpPr/>
          <p:nvPr/>
        </p:nvSpPr>
        <p:spPr>
          <a:xfrm>
            <a:off x="2743200" y="2212848"/>
            <a:ext cx="2026581" cy="182880"/>
          </a:xfrm>
          <a:prstGeom prst="rect">
            <a:avLst/>
          </a:prstGeom>
          <a:solidFill>
            <a:srgbClr val="0A5F6E"/>
          </a:solidFill>
          <a:ln w="12700">
            <a:solidFill>
              <a:srgbClr val="0A5F6E"/>
            </a:solidFill>
            <a:prstDash val="solid"/>
          </a:ln>
        </p:spPr>
      </p:sp>
      <p:sp>
        <p:nvSpPr>
          <p:cNvPr id="12" name="Text 10"/>
          <p:cNvSpPr/>
          <p:nvPr/>
        </p:nvSpPr>
        <p:spPr>
          <a:xfrm>
            <a:off x="6876288" y="2148840"/>
            <a:ext cx="658368" cy="292608"/>
          </a:xfrm>
          <a:prstGeom prst="rect">
            <a:avLst/>
          </a:prstGeom>
          <a:noFill/>
          <a:ln/>
        </p:spPr>
        <p:txBody>
          <a:bodyPr wrap="square" lIns="0" tIns="0" rIns="0" bIns="0" rtlCol="0" anchor="ctr"/>
          <a:lstStyle/>
          <a:p>
            <a:pPr indent="0" marL="0">
              <a:buNone/>
            </a:pPr>
            <a:r>
              <a:rPr lang="en-US" sz="1100" b="1" dirty="0">
                <a:solidFill>
                  <a:srgbClr val="07161A"/>
                </a:solidFill>
                <a:latin typeface="Calibri" pitchFamily="34" charset="0"/>
                <a:ea typeface="Calibri" pitchFamily="34" charset="-122"/>
                <a:cs typeface="Calibri" pitchFamily="34" charset="-120"/>
              </a:rPr>
              <a:t>13.6%</a:t>
            </a:r>
            <a:endParaRPr lang="en-US" sz="1100" dirty="0"/>
          </a:p>
        </p:txBody>
      </p:sp>
      <p:sp>
        <p:nvSpPr>
          <p:cNvPr id="13" name="Text 11"/>
          <p:cNvSpPr/>
          <p:nvPr/>
        </p:nvSpPr>
        <p:spPr>
          <a:xfrm>
            <a:off x="594360" y="2606040"/>
            <a:ext cx="201168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Lab threshold</a:t>
            </a:r>
            <a:endParaRPr lang="en-US" sz="1150" dirty="0"/>
          </a:p>
        </p:txBody>
      </p:sp>
      <p:sp>
        <p:nvSpPr>
          <p:cNvPr id="14" name="Shape 12"/>
          <p:cNvSpPr/>
          <p:nvPr/>
        </p:nvSpPr>
        <p:spPr>
          <a:xfrm>
            <a:off x="2743200" y="2670048"/>
            <a:ext cx="4023360" cy="182880"/>
          </a:xfrm>
          <a:prstGeom prst="rect">
            <a:avLst/>
          </a:prstGeom>
          <a:solidFill>
            <a:srgbClr val="F2FBFC"/>
          </a:solidFill>
          <a:ln w="12700">
            <a:solidFill>
              <a:srgbClr val="F2FBFC"/>
            </a:solidFill>
            <a:prstDash val="solid"/>
          </a:ln>
        </p:spPr>
      </p:sp>
      <p:sp>
        <p:nvSpPr>
          <p:cNvPr id="15" name="Shape 13"/>
          <p:cNvSpPr/>
          <p:nvPr/>
        </p:nvSpPr>
        <p:spPr>
          <a:xfrm>
            <a:off x="2743200" y="2670048"/>
            <a:ext cx="1281515" cy="182880"/>
          </a:xfrm>
          <a:prstGeom prst="rect">
            <a:avLst/>
          </a:prstGeom>
          <a:solidFill>
            <a:srgbClr val="0A5F6E"/>
          </a:solidFill>
          <a:ln w="12700">
            <a:solidFill>
              <a:srgbClr val="0A5F6E"/>
            </a:solidFill>
            <a:prstDash val="solid"/>
          </a:ln>
        </p:spPr>
      </p:sp>
      <p:sp>
        <p:nvSpPr>
          <p:cNvPr id="16" name="Text 14"/>
          <p:cNvSpPr/>
          <p:nvPr/>
        </p:nvSpPr>
        <p:spPr>
          <a:xfrm>
            <a:off x="6876288" y="2606040"/>
            <a:ext cx="658368" cy="292608"/>
          </a:xfrm>
          <a:prstGeom prst="rect">
            <a:avLst/>
          </a:prstGeom>
          <a:noFill/>
          <a:ln/>
        </p:spPr>
        <p:txBody>
          <a:bodyPr wrap="square" lIns="0" tIns="0" rIns="0" bIns="0" rtlCol="0" anchor="ctr"/>
          <a:lstStyle/>
          <a:p>
            <a:pPr indent="0" marL="0">
              <a:buNone/>
            </a:pPr>
            <a:r>
              <a:rPr lang="en-US" sz="1100" b="1" dirty="0">
                <a:solidFill>
                  <a:srgbClr val="07161A"/>
                </a:solidFill>
                <a:latin typeface="Calibri" pitchFamily="34" charset="0"/>
                <a:ea typeface="Calibri" pitchFamily="34" charset="-122"/>
                <a:cs typeface="Calibri" pitchFamily="34" charset="-120"/>
              </a:rPr>
              <a:t>8.6%</a:t>
            </a:r>
            <a:endParaRPr lang="en-US" sz="1100" dirty="0"/>
          </a:p>
        </p:txBody>
      </p:sp>
      <p:sp>
        <p:nvSpPr>
          <p:cNvPr id="17" name="Text 15"/>
          <p:cNvSpPr/>
          <p:nvPr/>
        </p:nvSpPr>
        <p:spPr>
          <a:xfrm>
            <a:off x="594360" y="3063240"/>
            <a:ext cx="201168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Prior therapy</a:t>
            </a:r>
            <a:endParaRPr lang="en-US" sz="1150" dirty="0"/>
          </a:p>
        </p:txBody>
      </p:sp>
      <p:sp>
        <p:nvSpPr>
          <p:cNvPr id="18" name="Shape 16"/>
          <p:cNvSpPr/>
          <p:nvPr/>
        </p:nvSpPr>
        <p:spPr>
          <a:xfrm>
            <a:off x="2743200" y="3127248"/>
            <a:ext cx="4023360" cy="182880"/>
          </a:xfrm>
          <a:prstGeom prst="rect">
            <a:avLst/>
          </a:prstGeom>
          <a:solidFill>
            <a:srgbClr val="F2FBFC"/>
          </a:solidFill>
          <a:ln w="12700">
            <a:solidFill>
              <a:srgbClr val="F2FBFC"/>
            </a:solidFill>
            <a:prstDash val="solid"/>
          </a:ln>
        </p:spPr>
      </p:sp>
      <p:sp>
        <p:nvSpPr>
          <p:cNvPr id="19" name="Shape 17"/>
          <p:cNvSpPr/>
          <p:nvPr/>
        </p:nvSpPr>
        <p:spPr>
          <a:xfrm>
            <a:off x="2743200" y="3127248"/>
            <a:ext cx="1132501" cy="182880"/>
          </a:xfrm>
          <a:prstGeom prst="rect">
            <a:avLst/>
          </a:prstGeom>
          <a:solidFill>
            <a:srgbClr val="0A5F6E"/>
          </a:solidFill>
          <a:ln w="12700">
            <a:solidFill>
              <a:srgbClr val="0A5F6E"/>
            </a:solidFill>
            <a:prstDash val="solid"/>
          </a:ln>
        </p:spPr>
      </p:sp>
      <p:sp>
        <p:nvSpPr>
          <p:cNvPr id="20" name="Text 18"/>
          <p:cNvSpPr/>
          <p:nvPr/>
        </p:nvSpPr>
        <p:spPr>
          <a:xfrm>
            <a:off x="6876288" y="3063240"/>
            <a:ext cx="658368" cy="292608"/>
          </a:xfrm>
          <a:prstGeom prst="rect">
            <a:avLst/>
          </a:prstGeom>
          <a:noFill/>
          <a:ln/>
        </p:spPr>
        <p:txBody>
          <a:bodyPr wrap="square" lIns="0" tIns="0" rIns="0" bIns="0" rtlCol="0" anchor="ctr"/>
          <a:lstStyle/>
          <a:p>
            <a:pPr indent="0" marL="0">
              <a:buNone/>
            </a:pPr>
            <a:r>
              <a:rPr lang="en-US" sz="1100" b="1" dirty="0">
                <a:solidFill>
                  <a:srgbClr val="07161A"/>
                </a:solidFill>
                <a:latin typeface="Calibri" pitchFamily="34" charset="0"/>
                <a:ea typeface="Calibri" pitchFamily="34" charset="-122"/>
                <a:cs typeface="Calibri" pitchFamily="34" charset="-120"/>
              </a:rPr>
              <a:t>7.6%</a:t>
            </a:r>
            <a:endParaRPr lang="en-US" sz="1100" dirty="0"/>
          </a:p>
        </p:txBody>
      </p:sp>
      <p:sp>
        <p:nvSpPr>
          <p:cNvPr id="21" name="Text 19"/>
          <p:cNvSpPr/>
          <p:nvPr/>
        </p:nvSpPr>
        <p:spPr>
          <a:xfrm>
            <a:off x="594360" y="3520440"/>
            <a:ext cx="201168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Stage</a:t>
            </a:r>
            <a:endParaRPr lang="en-US" sz="1150" dirty="0"/>
          </a:p>
        </p:txBody>
      </p:sp>
      <p:sp>
        <p:nvSpPr>
          <p:cNvPr id="22" name="Shape 20"/>
          <p:cNvSpPr/>
          <p:nvPr/>
        </p:nvSpPr>
        <p:spPr>
          <a:xfrm>
            <a:off x="2743200" y="3584448"/>
            <a:ext cx="4023360" cy="182880"/>
          </a:xfrm>
          <a:prstGeom prst="rect">
            <a:avLst/>
          </a:prstGeom>
          <a:solidFill>
            <a:srgbClr val="F2FBFC"/>
          </a:solidFill>
          <a:ln w="12700">
            <a:solidFill>
              <a:srgbClr val="F2FBFC"/>
            </a:solidFill>
            <a:prstDash val="solid"/>
          </a:ln>
        </p:spPr>
      </p:sp>
      <p:sp>
        <p:nvSpPr>
          <p:cNvPr id="23" name="Shape 21"/>
          <p:cNvSpPr/>
          <p:nvPr/>
        </p:nvSpPr>
        <p:spPr>
          <a:xfrm>
            <a:off x="2743200" y="3584448"/>
            <a:ext cx="849376" cy="182880"/>
          </a:xfrm>
          <a:prstGeom prst="rect">
            <a:avLst/>
          </a:prstGeom>
          <a:solidFill>
            <a:srgbClr val="0A5F6E"/>
          </a:solidFill>
          <a:ln w="12700">
            <a:solidFill>
              <a:srgbClr val="0A5F6E"/>
            </a:solidFill>
            <a:prstDash val="solid"/>
          </a:ln>
        </p:spPr>
      </p:sp>
      <p:sp>
        <p:nvSpPr>
          <p:cNvPr id="24" name="Text 22"/>
          <p:cNvSpPr/>
          <p:nvPr/>
        </p:nvSpPr>
        <p:spPr>
          <a:xfrm>
            <a:off x="6876288" y="3520440"/>
            <a:ext cx="658368" cy="292608"/>
          </a:xfrm>
          <a:prstGeom prst="rect">
            <a:avLst/>
          </a:prstGeom>
          <a:noFill/>
          <a:ln/>
        </p:spPr>
        <p:txBody>
          <a:bodyPr wrap="square" lIns="0" tIns="0" rIns="0" bIns="0" rtlCol="0" anchor="ctr"/>
          <a:lstStyle/>
          <a:p>
            <a:pPr indent="0" marL="0">
              <a:buNone/>
            </a:pPr>
            <a:r>
              <a:rPr lang="en-US" sz="1100" b="1" dirty="0">
                <a:solidFill>
                  <a:srgbClr val="07161A"/>
                </a:solidFill>
                <a:latin typeface="Calibri" pitchFamily="34" charset="0"/>
                <a:ea typeface="Calibri" pitchFamily="34" charset="-122"/>
                <a:cs typeface="Calibri" pitchFamily="34" charset="-120"/>
              </a:rPr>
              <a:t>5.7%</a:t>
            </a:r>
            <a:endParaRPr lang="en-US" sz="1100" dirty="0"/>
          </a:p>
        </p:txBody>
      </p:sp>
      <p:sp>
        <p:nvSpPr>
          <p:cNvPr id="25" name="Text 23"/>
          <p:cNvSpPr/>
          <p:nvPr/>
        </p:nvSpPr>
        <p:spPr>
          <a:xfrm>
            <a:off x="594360" y="3977640"/>
            <a:ext cx="201168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Histology</a:t>
            </a:r>
            <a:endParaRPr lang="en-US" sz="1150" dirty="0"/>
          </a:p>
        </p:txBody>
      </p:sp>
      <p:sp>
        <p:nvSpPr>
          <p:cNvPr id="26" name="Shape 24"/>
          <p:cNvSpPr/>
          <p:nvPr/>
        </p:nvSpPr>
        <p:spPr>
          <a:xfrm>
            <a:off x="2743200" y="4041648"/>
            <a:ext cx="4023360" cy="182880"/>
          </a:xfrm>
          <a:prstGeom prst="rect">
            <a:avLst/>
          </a:prstGeom>
          <a:solidFill>
            <a:srgbClr val="F2FBFC"/>
          </a:solidFill>
          <a:ln w="12700">
            <a:solidFill>
              <a:srgbClr val="F2FBFC"/>
            </a:solidFill>
            <a:prstDash val="solid"/>
          </a:ln>
        </p:spPr>
      </p:sp>
      <p:sp>
        <p:nvSpPr>
          <p:cNvPr id="27" name="Shape 25"/>
          <p:cNvSpPr/>
          <p:nvPr/>
        </p:nvSpPr>
        <p:spPr>
          <a:xfrm>
            <a:off x="2743200" y="4041648"/>
            <a:ext cx="804672" cy="182880"/>
          </a:xfrm>
          <a:prstGeom prst="rect">
            <a:avLst/>
          </a:prstGeom>
          <a:solidFill>
            <a:srgbClr val="0A5F6E"/>
          </a:solidFill>
          <a:ln w="12700">
            <a:solidFill>
              <a:srgbClr val="0A5F6E"/>
            </a:solidFill>
            <a:prstDash val="solid"/>
          </a:ln>
        </p:spPr>
      </p:sp>
      <p:sp>
        <p:nvSpPr>
          <p:cNvPr id="28" name="Text 26"/>
          <p:cNvSpPr/>
          <p:nvPr/>
        </p:nvSpPr>
        <p:spPr>
          <a:xfrm>
            <a:off x="6876288" y="3977640"/>
            <a:ext cx="658368" cy="292608"/>
          </a:xfrm>
          <a:prstGeom prst="rect">
            <a:avLst/>
          </a:prstGeom>
          <a:noFill/>
          <a:ln/>
        </p:spPr>
        <p:txBody>
          <a:bodyPr wrap="square" lIns="0" tIns="0" rIns="0" bIns="0" rtlCol="0" anchor="ctr"/>
          <a:lstStyle/>
          <a:p>
            <a:pPr indent="0" marL="0">
              <a:buNone/>
            </a:pPr>
            <a:r>
              <a:rPr lang="en-US" sz="1100" b="1" dirty="0">
                <a:solidFill>
                  <a:srgbClr val="07161A"/>
                </a:solidFill>
                <a:latin typeface="Calibri" pitchFamily="34" charset="0"/>
                <a:ea typeface="Calibri" pitchFamily="34" charset="-122"/>
                <a:cs typeface="Calibri" pitchFamily="34" charset="-120"/>
              </a:rPr>
              <a:t>5.4%</a:t>
            </a:r>
            <a:endParaRPr lang="en-US" sz="1100" dirty="0"/>
          </a:p>
        </p:txBody>
      </p:sp>
      <p:sp>
        <p:nvSpPr>
          <p:cNvPr id="29" name="Text 27"/>
          <p:cNvSpPr/>
          <p:nvPr/>
        </p:nvSpPr>
        <p:spPr>
          <a:xfrm>
            <a:off x="594360" y="4434840"/>
            <a:ext cx="201168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Biomarker</a:t>
            </a:r>
            <a:endParaRPr lang="en-US" sz="1150" dirty="0"/>
          </a:p>
        </p:txBody>
      </p:sp>
      <p:sp>
        <p:nvSpPr>
          <p:cNvPr id="30" name="Shape 28"/>
          <p:cNvSpPr/>
          <p:nvPr/>
        </p:nvSpPr>
        <p:spPr>
          <a:xfrm>
            <a:off x="2743200" y="4498848"/>
            <a:ext cx="4023360" cy="182880"/>
          </a:xfrm>
          <a:prstGeom prst="rect">
            <a:avLst/>
          </a:prstGeom>
          <a:solidFill>
            <a:srgbClr val="F2FBFC"/>
          </a:solidFill>
          <a:ln w="12700">
            <a:solidFill>
              <a:srgbClr val="F2FBFC"/>
            </a:solidFill>
            <a:prstDash val="solid"/>
          </a:ln>
        </p:spPr>
      </p:sp>
      <p:sp>
        <p:nvSpPr>
          <p:cNvPr id="31" name="Shape 29"/>
          <p:cNvSpPr/>
          <p:nvPr/>
        </p:nvSpPr>
        <p:spPr>
          <a:xfrm>
            <a:off x="2743200" y="4498848"/>
            <a:ext cx="536448" cy="182880"/>
          </a:xfrm>
          <a:prstGeom prst="rect">
            <a:avLst/>
          </a:prstGeom>
          <a:solidFill>
            <a:srgbClr val="0A5F6E"/>
          </a:solidFill>
          <a:ln w="12700">
            <a:solidFill>
              <a:srgbClr val="0A5F6E"/>
            </a:solidFill>
            <a:prstDash val="solid"/>
          </a:ln>
        </p:spPr>
      </p:sp>
      <p:sp>
        <p:nvSpPr>
          <p:cNvPr id="32" name="Text 30"/>
          <p:cNvSpPr/>
          <p:nvPr/>
        </p:nvSpPr>
        <p:spPr>
          <a:xfrm>
            <a:off x="6876288" y="4434840"/>
            <a:ext cx="658368" cy="292608"/>
          </a:xfrm>
          <a:prstGeom prst="rect">
            <a:avLst/>
          </a:prstGeom>
          <a:noFill/>
          <a:ln/>
        </p:spPr>
        <p:txBody>
          <a:bodyPr wrap="square" lIns="0" tIns="0" rIns="0" bIns="0" rtlCol="0" anchor="ctr"/>
          <a:lstStyle/>
          <a:p>
            <a:pPr indent="0" marL="0">
              <a:buNone/>
            </a:pPr>
            <a:r>
              <a:rPr lang="en-US" sz="1100" b="1" dirty="0">
                <a:solidFill>
                  <a:srgbClr val="07161A"/>
                </a:solidFill>
                <a:latin typeface="Calibri" pitchFamily="34" charset="0"/>
                <a:ea typeface="Calibri" pitchFamily="34" charset="-122"/>
                <a:cs typeface="Calibri" pitchFamily="34" charset="-120"/>
              </a:rPr>
              <a:t>3.6%</a:t>
            </a:r>
            <a:endParaRPr lang="en-US" sz="1100" dirty="0"/>
          </a:p>
        </p:txBody>
      </p:sp>
      <p:sp>
        <p:nvSpPr>
          <p:cNvPr id="33" name="Text 31"/>
          <p:cNvSpPr/>
          <p:nvPr/>
        </p:nvSpPr>
        <p:spPr>
          <a:xfrm>
            <a:off x="594360" y="4892040"/>
            <a:ext cx="201168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Performance status</a:t>
            </a:r>
            <a:endParaRPr lang="en-US" sz="1150" dirty="0"/>
          </a:p>
        </p:txBody>
      </p:sp>
      <p:sp>
        <p:nvSpPr>
          <p:cNvPr id="34" name="Shape 32"/>
          <p:cNvSpPr/>
          <p:nvPr/>
        </p:nvSpPr>
        <p:spPr>
          <a:xfrm>
            <a:off x="2743200" y="4956048"/>
            <a:ext cx="4023360" cy="182880"/>
          </a:xfrm>
          <a:prstGeom prst="rect">
            <a:avLst/>
          </a:prstGeom>
          <a:solidFill>
            <a:srgbClr val="F2FBFC"/>
          </a:solidFill>
          <a:ln w="12700">
            <a:solidFill>
              <a:srgbClr val="F2FBFC"/>
            </a:solidFill>
            <a:prstDash val="solid"/>
          </a:ln>
        </p:spPr>
      </p:sp>
      <p:sp>
        <p:nvSpPr>
          <p:cNvPr id="35" name="Shape 33"/>
          <p:cNvSpPr/>
          <p:nvPr/>
        </p:nvSpPr>
        <p:spPr>
          <a:xfrm>
            <a:off x="2743200" y="4956048"/>
            <a:ext cx="491744" cy="182880"/>
          </a:xfrm>
          <a:prstGeom prst="rect">
            <a:avLst/>
          </a:prstGeom>
          <a:solidFill>
            <a:srgbClr val="0A5F6E"/>
          </a:solidFill>
          <a:ln w="12700">
            <a:solidFill>
              <a:srgbClr val="0A5F6E"/>
            </a:solidFill>
            <a:prstDash val="solid"/>
          </a:ln>
        </p:spPr>
      </p:sp>
      <p:sp>
        <p:nvSpPr>
          <p:cNvPr id="36" name="Text 34"/>
          <p:cNvSpPr/>
          <p:nvPr/>
        </p:nvSpPr>
        <p:spPr>
          <a:xfrm>
            <a:off x="6876288" y="4892040"/>
            <a:ext cx="658368" cy="292608"/>
          </a:xfrm>
          <a:prstGeom prst="rect">
            <a:avLst/>
          </a:prstGeom>
          <a:noFill/>
          <a:ln/>
        </p:spPr>
        <p:txBody>
          <a:bodyPr wrap="square" lIns="0" tIns="0" rIns="0" bIns="0" rtlCol="0" anchor="ctr"/>
          <a:lstStyle/>
          <a:p>
            <a:pPr indent="0" marL="0">
              <a:buNone/>
            </a:pPr>
            <a:r>
              <a:rPr lang="en-US" sz="1100" b="1" dirty="0">
                <a:solidFill>
                  <a:srgbClr val="07161A"/>
                </a:solidFill>
                <a:latin typeface="Calibri" pitchFamily="34" charset="0"/>
                <a:ea typeface="Calibri" pitchFamily="34" charset="-122"/>
                <a:cs typeface="Calibri" pitchFamily="34" charset="-120"/>
              </a:rPr>
              <a:t>3.3%</a:t>
            </a:r>
            <a:endParaRPr lang="en-US" sz="1100" dirty="0"/>
          </a:p>
        </p:txBody>
      </p:sp>
      <p:sp>
        <p:nvSpPr>
          <p:cNvPr id="37" name="Text 35"/>
          <p:cNvSpPr/>
          <p:nvPr/>
        </p:nvSpPr>
        <p:spPr>
          <a:xfrm>
            <a:off x="594360" y="5349240"/>
            <a:ext cx="201168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Age</a:t>
            </a:r>
            <a:endParaRPr lang="en-US" sz="1150" dirty="0"/>
          </a:p>
        </p:txBody>
      </p:sp>
      <p:sp>
        <p:nvSpPr>
          <p:cNvPr id="38" name="Shape 36"/>
          <p:cNvSpPr/>
          <p:nvPr/>
        </p:nvSpPr>
        <p:spPr>
          <a:xfrm>
            <a:off x="2743200" y="5413248"/>
            <a:ext cx="4023360" cy="182880"/>
          </a:xfrm>
          <a:prstGeom prst="rect">
            <a:avLst/>
          </a:prstGeom>
          <a:solidFill>
            <a:srgbClr val="F2FBFC"/>
          </a:solidFill>
          <a:ln w="12700">
            <a:solidFill>
              <a:srgbClr val="F2FBFC"/>
            </a:solidFill>
            <a:prstDash val="solid"/>
          </a:ln>
        </p:spPr>
      </p:sp>
      <p:sp>
        <p:nvSpPr>
          <p:cNvPr id="39" name="Shape 37"/>
          <p:cNvSpPr/>
          <p:nvPr/>
        </p:nvSpPr>
        <p:spPr>
          <a:xfrm>
            <a:off x="2743200" y="5413248"/>
            <a:ext cx="402336" cy="182880"/>
          </a:xfrm>
          <a:prstGeom prst="rect">
            <a:avLst/>
          </a:prstGeom>
          <a:solidFill>
            <a:srgbClr val="0A5F6E"/>
          </a:solidFill>
          <a:ln w="12700">
            <a:solidFill>
              <a:srgbClr val="0A5F6E"/>
            </a:solidFill>
            <a:prstDash val="solid"/>
          </a:ln>
        </p:spPr>
      </p:sp>
      <p:sp>
        <p:nvSpPr>
          <p:cNvPr id="40" name="Text 38"/>
          <p:cNvSpPr/>
          <p:nvPr/>
        </p:nvSpPr>
        <p:spPr>
          <a:xfrm>
            <a:off x="6876288" y="5349240"/>
            <a:ext cx="658368" cy="292608"/>
          </a:xfrm>
          <a:prstGeom prst="rect">
            <a:avLst/>
          </a:prstGeom>
          <a:noFill/>
          <a:ln/>
        </p:spPr>
        <p:txBody>
          <a:bodyPr wrap="square" lIns="0" tIns="0" rIns="0" bIns="0" rtlCol="0" anchor="ctr"/>
          <a:lstStyle/>
          <a:p>
            <a:pPr indent="0" marL="0">
              <a:buNone/>
            </a:pPr>
            <a:r>
              <a:rPr lang="en-US" sz="1100" b="1" dirty="0">
                <a:solidFill>
                  <a:srgbClr val="07161A"/>
                </a:solidFill>
                <a:latin typeface="Calibri" pitchFamily="34" charset="0"/>
                <a:ea typeface="Calibri" pitchFamily="34" charset="-122"/>
                <a:cs typeface="Calibri" pitchFamily="34" charset="-120"/>
              </a:rPr>
              <a:t>2.7%</a:t>
            </a:r>
            <a:endParaRPr lang="en-US" sz="1100" dirty="0"/>
          </a:p>
        </p:txBody>
      </p:sp>
      <p:sp>
        <p:nvSpPr>
          <p:cNvPr id="41" name="Text 39"/>
          <p:cNvSpPr/>
          <p:nvPr/>
        </p:nvSpPr>
        <p:spPr>
          <a:xfrm>
            <a:off x="594360" y="5815584"/>
            <a:ext cx="6949440" cy="292608"/>
          </a:xfrm>
          <a:prstGeom prst="rect">
            <a:avLst/>
          </a:prstGeom>
          <a:noFill/>
          <a:ln/>
        </p:spPr>
        <p:txBody>
          <a:bodyPr wrap="square" lIns="0" tIns="0" rIns="0" bIns="0" rtlCol="0" anchor="ctr"/>
          <a:lstStyle/>
          <a:p>
            <a:pPr indent="0" marL="0">
              <a:buNone/>
            </a:pPr>
            <a:r>
              <a:rPr lang="en-US" sz="1100" i="1" dirty="0">
                <a:solidFill>
                  <a:srgbClr val="74898E"/>
                </a:solidFill>
                <a:latin typeface="Calibri" pitchFamily="34" charset="0"/>
                <a:ea typeface="Calibri" pitchFamily="34" charset="-122"/>
                <a:cs typeface="Calibri" pitchFamily="34" charset="-120"/>
              </a:rPr>
              <a:t>39.7% stays free text and is routed to the model</a:t>
            </a:r>
            <a:endParaRPr lang="en-US" sz="1100" dirty="0"/>
          </a:p>
        </p:txBody>
      </p:sp>
      <p:sp>
        <p:nvSpPr>
          <p:cNvPr id="42" name="Shape 40"/>
          <p:cNvSpPr/>
          <p:nvPr/>
        </p:nvSpPr>
        <p:spPr>
          <a:xfrm>
            <a:off x="7818120" y="1463040"/>
            <a:ext cx="3749040" cy="1828800"/>
          </a:xfrm>
          <a:prstGeom prst="roundRect">
            <a:avLst>
              <a:gd name="adj" fmla="val 3000"/>
            </a:avLst>
          </a:prstGeom>
          <a:solidFill>
            <a:srgbClr val="FFFFFF"/>
          </a:solidFill>
          <a:ln w="12700">
            <a:solidFill>
              <a:srgbClr val="E2ECEF"/>
            </a:solidFill>
            <a:prstDash val="solid"/>
          </a:ln>
        </p:spPr>
      </p:sp>
      <p:sp>
        <p:nvSpPr>
          <p:cNvPr id="43" name="Text 41"/>
          <p:cNvSpPr/>
          <p:nvPr/>
        </p:nvSpPr>
        <p:spPr>
          <a:xfrm>
            <a:off x="8019288" y="1591056"/>
            <a:ext cx="3346704" cy="694944"/>
          </a:xfrm>
          <a:prstGeom prst="rect">
            <a:avLst/>
          </a:prstGeom>
          <a:noFill/>
          <a:ln/>
        </p:spPr>
        <p:txBody>
          <a:bodyPr wrap="square" lIns="0" tIns="0" rIns="0" bIns="0" rtlCol="0" anchor="ctr"/>
          <a:lstStyle/>
          <a:p>
            <a:pPr indent="0" marL="0">
              <a:buNone/>
            </a:pPr>
            <a:r>
              <a:rPr lang="en-US" sz="3800" b="1" dirty="0">
                <a:solidFill>
                  <a:srgbClr val="0A5F6E"/>
                </a:solidFill>
                <a:latin typeface="Cambria" pitchFamily="34" charset="0"/>
                <a:ea typeface="Cambria" pitchFamily="34" charset="-122"/>
                <a:cs typeface="Cambria" pitchFamily="34" charset="-120"/>
              </a:rPr>
              <a:t>60.3%</a:t>
            </a:r>
            <a:endParaRPr lang="en-US" sz="3800" dirty="0"/>
          </a:p>
        </p:txBody>
      </p:sp>
      <p:sp>
        <p:nvSpPr>
          <p:cNvPr id="44" name="Text 42"/>
          <p:cNvSpPr/>
          <p:nvPr/>
        </p:nvSpPr>
        <p:spPr>
          <a:xfrm>
            <a:off x="8019288" y="2286000"/>
            <a:ext cx="3346704" cy="475488"/>
          </a:xfrm>
          <a:prstGeom prst="rect">
            <a:avLst/>
          </a:prstGeom>
          <a:noFill/>
          <a:ln/>
        </p:spPr>
        <p:txBody>
          <a:bodyPr wrap="square" lIns="0" tIns="0" rIns="0" bIns="0" rtlCol="0" anchor="t"/>
          <a:lstStyle/>
          <a:p>
            <a:pPr indent="0" marL="0">
              <a:lnSpc>
                <a:spcPts val="1500"/>
              </a:lnSpc>
              <a:buNone/>
            </a:pPr>
            <a:r>
              <a:rPr lang="en-US" sz="1150" dirty="0">
                <a:solidFill>
                  <a:srgbClr val="3F5257"/>
                </a:solidFill>
                <a:latin typeface="Calibri" pitchFamily="34" charset="0"/>
                <a:ea typeface="Calibri" pitchFamily="34" charset="-122"/>
                <a:cs typeface="Calibri" pitchFamily="34" charset="-120"/>
              </a:rPr>
              <a:t>of all criteria compile to a typed predicate</a:t>
            </a:r>
            <a:endParaRPr lang="en-US" sz="1150" dirty="0"/>
          </a:p>
        </p:txBody>
      </p:sp>
      <p:sp>
        <p:nvSpPr>
          <p:cNvPr id="45" name="Text 43"/>
          <p:cNvSpPr/>
          <p:nvPr/>
        </p:nvSpPr>
        <p:spPr>
          <a:xfrm>
            <a:off x="8019288" y="2761488"/>
            <a:ext cx="3346704" cy="457200"/>
          </a:xfrm>
          <a:prstGeom prst="rect">
            <a:avLst/>
          </a:prstGeom>
          <a:noFill/>
          <a:ln/>
        </p:spPr>
        <p:txBody>
          <a:bodyPr wrap="square" lIns="0" tIns="0" rIns="0" bIns="0" rtlCol="0" anchor="t"/>
          <a:lstStyle/>
          <a:p>
            <a:pPr indent="0" marL="0">
              <a:lnSpc>
                <a:spcPts val="1300"/>
              </a:lnSpc>
              <a:buNone/>
            </a:pPr>
            <a:r>
              <a:rPr lang="en-US" sz="1000" i="1" dirty="0">
                <a:solidFill>
                  <a:srgbClr val="74898E"/>
                </a:solidFill>
                <a:latin typeface="Calibri" pitchFamily="34" charset="0"/>
                <a:ea typeface="Calibri" pitchFamily="34" charset="-122"/>
                <a:cs typeface="Calibri" pitchFamily="34" charset="-120"/>
              </a:rPr>
              <a:t>hand-read ceiling is 70.4% — the compiler reaches 86% of what the schema can cover</a:t>
            </a:r>
            <a:endParaRPr lang="en-US" sz="1000" dirty="0"/>
          </a:p>
        </p:txBody>
      </p:sp>
      <p:sp>
        <p:nvSpPr>
          <p:cNvPr id="46" name="Shape 44"/>
          <p:cNvSpPr/>
          <p:nvPr/>
        </p:nvSpPr>
        <p:spPr>
          <a:xfrm>
            <a:off x="7818120" y="3456432"/>
            <a:ext cx="3749040" cy="2194560"/>
          </a:xfrm>
          <a:prstGeom prst="roundRect">
            <a:avLst>
              <a:gd name="adj" fmla="val 2500"/>
            </a:avLst>
          </a:prstGeom>
          <a:solidFill>
            <a:srgbClr val="F2FBFC"/>
          </a:solidFill>
          <a:ln w="12700">
            <a:solidFill>
              <a:srgbClr val="E2ECEF"/>
            </a:solidFill>
            <a:prstDash val="solid"/>
          </a:ln>
        </p:spPr>
      </p:sp>
      <p:sp>
        <p:nvSpPr>
          <p:cNvPr id="47" name="Text 45"/>
          <p:cNvSpPr/>
          <p:nvPr/>
        </p:nvSpPr>
        <p:spPr>
          <a:xfrm>
            <a:off x="8019288" y="3621024"/>
            <a:ext cx="3383280" cy="457200"/>
          </a:xfrm>
          <a:prstGeom prst="rect">
            <a:avLst/>
          </a:prstGeom>
          <a:noFill/>
          <a:ln/>
        </p:spPr>
        <p:txBody>
          <a:bodyPr wrap="square" lIns="0" tIns="0" rIns="0" bIns="0" rtlCol="0" anchor="t"/>
          <a:lstStyle/>
          <a:p>
            <a:pPr indent="0" marL="0">
              <a:lnSpc>
                <a:spcPts val="1500"/>
              </a:lnSpc>
              <a:buNone/>
            </a:pPr>
            <a:r>
              <a:rPr lang="en-US" sz="1100" b="1" dirty="0">
                <a:solidFill>
                  <a:srgbClr val="07161A"/>
                </a:solidFill>
                <a:latin typeface="Calibri" pitchFamily="34" charset="0"/>
                <a:ea typeface="Calibri" pitchFamily="34" charset="-122"/>
                <a:cs typeface="Calibri" pitchFamily="34" charset="-120"/>
              </a:rPr>
              <a:t>Per-type F1, scored against 695 hand-read criteria</a:t>
            </a:r>
            <a:endParaRPr lang="en-US" sz="1100" dirty="0"/>
          </a:p>
        </p:txBody>
      </p:sp>
      <p:sp>
        <p:nvSpPr>
          <p:cNvPr id="48" name="Text 46"/>
          <p:cNvSpPr/>
          <p:nvPr/>
        </p:nvSpPr>
        <p:spPr>
          <a:xfrm>
            <a:off x="8019288" y="4114800"/>
            <a:ext cx="2651760" cy="182880"/>
          </a:xfrm>
          <a:prstGeom prst="rect">
            <a:avLst/>
          </a:prstGeom>
          <a:noFill/>
          <a:ln/>
        </p:spPr>
        <p:txBody>
          <a:bodyPr wrap="square" lIns="0" tIns="0" rIns="0" bIns="0" rtlCol="0" anchor="ctr"/>
          <a:lstStyle/>
          <a:p>
            <a:pPr indent="0" marL="0">
              <a:buNone/>
            </a:pPr>
            <a:r>
              <a:rPr lang="en-US" sz="1000" dirty="0">
                <a:solidFill>
                  <a:srgbClr val="3F5257"/>
                </a:solidFill>
                <a:latin typeface="Calibri" pitchFamily="34" charset="0"/>
                <a:ea typeface="Calibri" pitchFamily="34" charset="-122"/>
                <a:cs typeface="Calibri" pitchFamily="34" charset="-120"/>
              </a:rPr>
              <a:t>Age</a:t>
            </a:r>
            <a:endParaRPr lang="en-US" sz="1000" dirty="0"/>
          </a:p>
        </p:txBody>
      </p:sp>
      <p:sp>
        <p:nvSpPr>
          <p:cNvPr id="49" name="Text 47"/>
          <p:cNvSpPr/>
          <p:nvPr/>
        </p:nvSpPr>
        <p:spPr>
          <a:xfrm>
            <a:off x="10652760" y="4114800"/>
            <a:ext cx="731520" cy="182880"/>
          </a:xfrm>
          <a:prstGeom prst="rect">
            <a:avLst/>
          </a:prstGeom>
          <a:noFill/>
          <a:ln/>
        </p:spPr>
        <p:txBody>
          <a:bodyPr wrap="square" lIns="0" tIns="0" rIns="0" bIns="0" rtlCol="0" anchor="ctr"/>
          <a:lstStyle/>
          <a:p>
            <a:pPr algn="r" indent="0" marL="0">
              <a:buNone/>
            </a:pPr>
            <a:r>
              <a:rPr lang="en-US" sz="1000" b="1" dirty="0">
                <a:solidFill>
                  <a:srgbClr val="07161A"/>
                </a:solidFill>
                <a:latin typeface="Calibri" pitchFamily="34" charset="0"/>
                <a:ea typeface="Calibri" pitchFamily="34" charset="-122"/>
                <a:cs typeface="Calibri" pitchFamily="34" charset="-120"/>
              </a:rPr>
              <a:t>.978</a:t>
            </a:r>
            <a:endParaRPr lang="en-US" sz="1000" dirty="0"/>
          </a:p>
        </p:txBody>
      </p:sp>
      <p:sp>
        <p:nvSpPr>
          <p:cNvPr id="50" name="Text 48"/>
          <p:cNvSpPr/>
          <p:nvPr/>
        </p:nvSpPr>
        <p:spPr>
          <a:xfrm>
            <a:off x="8019288" y="4306824"/>
            <a:ext cx="2651760" cy="182880"/>
          </a:xfrm>
          <a:prstGeom prst="rect">
            <a:avLst/>
          </a:prstGeom>
          <a:noFill/>
          <a:ln/>
        </p:spPr>
        <p:txBody>
          <a:bodyPr wrap="square" lIns="0" tIns="0" rIns="0" bIns="0" rtlCol="0" anchor="ctr"/>
          <a:lstStyle/>
          <a:p>
            <a:pPr indent="0" marL="0">
              <a:buNone/>
            </a:pPr>
            <a:r>
              <a:rPr lang="en-US" sz="1000" dirty="0">
                <a:solidFill>
                  <a:srgbClr val="3F5257"/>
                </a:solidFill>
                <a:latin typeface="Calibri" pitchFamily="34" charset="0"/>
                <a:ea typeface="Calibri" pitchFamily="34" charset="-122"/>
                <a:cs typeface="Calibri" pitchFamily="34" charset="-120"/>
              </a:rPr>
              <a:t>Performance status</a:t>
            </a:r>
            <a:endParaRPr lang="en-US" sz="1000" dirty="0"/>
          </a:p>
        </p:txBody>
      </p:sp>
      <p:sp>
        <p:nvSpPr>
          <p:cNvPr id="51" name="Text 49"/>
          <p:cNvSpPr/>
          <p:nvPr/>
        </p:nvSpPr>
        <p:spPr>
          <a:xfrm>
            <a:off x="10652760" y="4306824"/>
            <a:ext cx="731520" cy="182880"/>
          </a:xfrm>
          <a:prstGeom prst="rect">
            <a:avLst/>
          </a:prstGeom>
          <a:noFill/>
          <a:ln/>
        </p:spPr>
        <p:txBody>
          <a:bodyPr wrap="square" lIns="0" tIns="0" rIns="0" bIns="0" rtlCol="0" anchor="ctr"/>
          <a:lstStyle/>
          <a:p>
            <a:pPr algn="r" indent="0" marL="0">
              <a:buNone/>
            </a:pPr>
            <a:r>
              <a:rPr lang="en-US" sz="1000" b="1" dirty="0">
                <a:solidFill>
                  <a:srgbClr val="07161A"/>
                </a:solidFill>
                <a:latin typeface="Calibri" pitchFamily="34" charset="0"/>
                <a:ea typeface="Calibri" pitchFamily="34" charset="-122"/>
                <a:cs typeface="Calibri" pitchFamily="34" charset="-120"/>
              </a:rPr>
              <a:t>.964</a:t>
            </a:r>
            <a:endParaRPr lang="en-US" sz="1000" dirty="0"/>
          </a:p>
        </p:txBody>
      </p:sp>
      <p:sp>
        <p:nvSpPr>
          <p:cNvPr id="52" name="Text 50"/>
          <p:cNvSpPr/>
          <p:nvPr/>
        </p:nvSpPr>
        <p:spPr>
          <a:xfrm>
            <a:off x="8019288" y="4498848"/>
            <a:ext cx="2651760" cy="182880"/>
          </a:xfrm>
          <a:prstGeom prst="rect">
            <a:avLst/>
          </a:prstGeom>
          <a:noFill/>
          <a:ln/>
        </p:spPr>
        <p:txBody>
          <a:bodyPr wrap="square" lIns="0" tIns="0" rIns="0" bIns="0" rtlCol="0" anchor="ctr"/>
          <a:lstStyle/>
          <a:p>
            <a:pPr indent="0" marL="0">
              <a:buNone/>
            </a:pPr>
            <a:r>
              <a:rPr lang="en-US" sz="1000" dirty="0">
                <a:solidFill>
                  <a:srgbClr val="3F5257"/>
                </a:solidFill>
                <a:latin typeface="Calibri" pitchFamily="34" charset="0"/>
                <a:ea typeface="Calibri" pitchFamily="34" charset="-122"/>
                <a:cs typeface="Calibri" pitchFamily="34" charset="-120"/>
              </a:rPr>
              <a:t>Lab threshold</a:t>
            </a:r>
            <a:endParaRPr lang="en-US" sz="1000" dirty="0"/>
          </a:p>
        </p:txBody>
      </p:sp>
      <p:sp>
        <p:nvSpPr>
          <p:cNvPr id="53" name="Text 51"/>
          <p:cNvSpPr/>
          <p:nvPr/>
        </p:nvSpPr>
        <p:spPr>
          <a:xfrm>
            <a:off x="10652760" y="4498848"/>
            <a:ext cx="731520" cy="182880"/>
          </a:xfrm>
          <a:prstGeom prst="rect">
            <a:avLst/>
          </a:prstGeom>
          <a:noFill/>
          <a:ln/>
        </p:spPr>
        <p:txBody>
          <a:bodyPr wrap="square" lIns="0" tIns="0" rIns="0" bIns="0" rtlCol="0" anchor="ctr"/>
          <a:lstStyle/>
          <a:p>
            <a:pPr algn="r" indent="0" marL="0">
              <a:buNone/>
            </a:pPr>
            <a:r>
              <a:rPr lang="en-US" sz="1000" b="1" dirty="0">
                <a:solidFill>
                  <a:srgbClr val="07161A"/>
                </a:solidFill>
                <a:latin typeface="Calibri" pitchFamily="34" charset="0"/>
                <a:ea typeface="Calibri" pitchFamily="34" charset="-122"/>
                <a:cs typeface="Calibri" pitchFamily="34" charset="-120"/>
              </a:rPr>
              <a:t>.951</a:t>
            </a:r>
            <a:endParaRPr lang="en-US" sz="1000" dirty="0"/>
          </a:p>
        </p:txBody>
      </p:sp>
      <p:sp>
        <p:nvSpPr>
          <p:cNvPr id="54" name="Text 52"/>
          <p:cNvSpPr/>
          <p:nvPr/>
        </p:nvSpPr>
        <p:spPr>
          <a:xfrm>
            <a:off x="8019288" y="4690872"/>
            <a:ext cx="2651760" cy="182880"/>
          </a:xfrm>
          <a:prstGeom prst="rect">
            <a:avLst/>
          </a:prstGeom>
          <a:noFill/>
          <a:ln/>
        </p:spPr>
        <p:txBody>
          <a:bodyPr wrap="square" lIns="0" tIns="0" rIns="0" bIns="0" rtlCol="0" anchor="ctr"/>
          <a:lstStyle/>
          <a:p>
            <a:pPr indent="0" marL="0">
              <a:buNone/>
            </a:pPr>
            <a:r>
              <a:rPr lang="en-US" sz="1000" dirty="0">
                <a:solidFill>
                  <a:srgbClr val="3F5257"/>
                </a:solidFill>
                <a:latin typeface="Calibri" pitchFamily="34" charset="0"/>
                <a:ea typeface="Calibri" pitchFamily="34" charset="-122"/>
                <a:cs typeface="Calibri" pitchFamily="34" charset="-120"/>
              </a:rPr>
              <a:t>Washout</a:t>
            </a:r>
            <a:endParaRPr lang="en-US" sz="1000" dirty="0"/>
          </a:p>
        </p:txBody>
      </p:sp>
      <p:sp>
        <p:nvSpPr>
          <p:cNvPr id="55" name="Text 53"/>
          <p:cNvSpPr/>
          <p:nvPr/>
        </p:nvSpPr>
        <p:spPr>
          <a:xfrm>
            <a:off x="10652760" y="4690872"/>
            <a:ext cx="731520" cy="182880"/>
          </a:xfrm>
          <a:prstGeom prst="rect">
            <a:avLst/>
          </a:prstGeom>
          <a:noFill/>
          <a:ln/>
        </p:spPr>
        <p:txBody>
          <a:bodyPr wrap="square" lIns="0" tIns="0" rIns="0" bIns="0" rtlCol="0" anchor="ctr"/>
          <a:lstStyle/>
          <a:p>
            <a:pPr algn="r" indent="0" marL="0">
              <a:buNone/>
            </a:pPr>
            <a:r>
              <a:rPr lang="en-US" sz="1000" b="1" dirty="0">
                <a:solidFill>
                  <a:srgbClr val="07161A"/>
                </a:solidFill>
                <a:latin typeface="Calibri" pitchFamily="34" charset="0"/>
                <a:ea typeface="Calibri" pitchFamily="34" charset="-122"/>
                <a:cs typeface="Calibri" pitchFamily="34" charset="-120"/>
              </a:rPr>
              <a:t>.926</a:t>
            </a:r>
            <a:endParaRPr lang="en-US" sz="1000" dirty="0"/>
          </a:p>
        </p:txBody>
      </p:sp>
      <p:sp>
        <p:nvSpPr>
          <p:cNvPr id="56" name="Text 54"/>
          <p:cNvSpPr/>
          <p:nvPr/>
        </p:nvSpPr>
        <p:spPr>
          <a:xfrm>
            <a:off x="8019288" y="4882896"/>
            <a:ext cx="2651760" cy="182880"/>
          </a:xfrm>
          <a:prstGeom prst="rect">
            <a:avLst/>
          </a:prstGeom>
          <a:noFill/>
          <a:ln/>
        </p:spPr>
        <p:txBody>
          <a:bodyPr wrap="square" lIns="0" tIns="0" rIns="0" bIns="0" rtlCol="0" anchor="ctr"/>
          <a:lstStyle/>
          <a:p>
            <a:pPr indent="0" marL="0">
              <a:buNone/>
            </a:pPr>
            <a:r>
              <a:rPr lang="en-US" sz="1000" dirty="0">
                <a:solidFill>
                  <a:srgbClr val="3F5257"/>
                </a:solidFill>
                <a:latin typeface="Calibri" pitchFamily="34" charset="0"/>
                <a:ea typeface="Calibri" pitchFamily="34" charset="-122"/>
                <a:cs typeface="Calibri" pitchFamily="34" charset="-120"/>
              </a:rPr>
              <a:t>Histology</a:t>
            </a:r>
            <a:endParaRPr lang="en-US" sz="1000" dirty="0"/>
          </a:p>
        </p:txBody>
      </p:sp>
      <p:sp>
        <p:nvSpPr>
          <p:cNvPr id="57" name="Text 55"/>
          <p:cNvSpPr/>
          <p:nvPr/>
        </p:nvSpPr>
        <p:spPr>
          <a:xfrm>
            <a:off x="10652760" y="4882896"/>
            <a:ext cx="731520" cy="182880"/>
          </a:xfrm>
          <a:prstGeom prst="rect">
            <a:avLst/>
          </a:prstGeom>
          <a:noFill/>
          <a:ln/>
        </p:spPr>
        <p:txBody>
          <a:bodyPr wrap="square" lIns="0" tIns="0" rIns="0" bIns="0" rtlCol="0" anchor="ctr"/>
          <a:lstStyle/>
          <a:p>
            <a:pPr algn="r" indent="0" marL="0">
              <a:buNone/>
            </a:pPr>
            <a:r>
              <a:rPr lang="en-US" sz="1000" b="1" dirty="0">
                <a:solidFill>
                  <a:srgbClr val="07161A"/>
                </a:solidFill>
                <a:latin typeface="Calibri" pitchFamily="34" charset="0"/>
                <a:ea typeface="Calibri" pitchFamily="34" charset="-122"/>
                <a:cs typeface="Calibri" pitchFamily="34" charset="-120"/>
              </a:rPr>
              <a:t>.892</a:t>
            </a:r>
            <a:endParaRPr lang="en-US" sz="1000" dirty="0"/>
          </a:p>
        </p:txBody>
      </p:sp>
      <p:sp>
        <p:nvSpPr>
          <p:cNvPr id="58" name="Text 56"/>
          <p:cNvSpPr/>
          <p:nvPr/>
        </p:nvSpPr>
        <p:spPr>
          <a:xfrm>
            <a:off x="8019288" y="5074920"/>
            <a:ext cx="2651760" cy="182880"/>
          </a:xfrm>
          <a:prstGeom prst="rect">
            <a:avLst/>
          </a:prstGeom>
          <a:noFill/>
          <a:ln/>
        </p:spPr>
        <p:txBody>
          <a:bodyPr wrap="square" lIns="0" tIns="0" rIns="0" bIns="0" rtlCol="0" anchor="ctr"/>
          <a:lstStyle/>
          <a:p>
            <a:pPr indent="0" marL="0">
              <a:buNone/>
            </a:pPr>
            <a:r>
              <a:rPr lang="en-US" sz="1000" dirty="0">
                <a:solidFill>
                  <a:srgbClr val="3F5257"/>
                </a:solidFill>
                <a:latin typeface="Calibri" pitchFamily="34" charset="0"/>
                <a:ea typeface="Calibri" pitchFamily="34" charset="-122"/>
                <a:cs typeface="Calibri" pitchFamily="34" charset="-120"/>
              </a:rPr>
              <a:t>Comorbidity</a:t>
            </a:r>
            <a:endParaRPr lang="en-US" sz="1000" dirty="0"/>
          </a:p>
        </p:txBody>
      </p:sp>
      <p:sp>
        <p:nvSpPr>
          <p:cNvPr id="59" name="Text 57"/>
          <p:cNvSpPr/>
          <p:nvPr/>
        </p:nvSpPr>
        <p:spPr>
          <a:xfrm>
            <a:off x="10652760" y="5074920"/>
            <a:ext cx="731520" cy="182880"/>
          </a:xfrm>
          <a:prstGeom prst="rect">
            <a:avLst/>
          </a:prstGeom>
          <a:noFill/>
          <a:ln/>
        </p:spPr>
        <p:txBody>
          <a:bodyPr wrap="square" lIns="0" tIns="0" rIns="0" bIns="0" rtlCol="0" anchor="ctr"/>
          <a:lstStyle/>
          <a:p>
            <a:pPr algn="r" indent="0" marL="0">
              <a:buNone/>
            </a:pPr>
            <a:r>
              <a:rPr lang="en-US" sz="1000" b="1" dirty="0">
                <a:solidFill>
                  <a:srgbClr val="07161A"/>
                </a:solidFill>
                <a:latin typeface="Calibri" pitchFamily="34" charset="0"/>
                <a:ea typeface="Calibri" pitchFamily="34" charset="-122"/>
                <a:cs typeface="Calibri" pitchFamily="34" charset="-120"/>
              </a:rPr>
              <a:t>.877</a:t>
            </a:r>
            <a:endParaRPr lang="en-US" sz="1000" dirty="0"/>
          </a:p>
        </p:txBody>
      </p:sp>
      <p:sp>
        <p:nvSpPr>
          <p:cNvPr id="60" name="Text 58"/>
          <p:cNvSpPr/>
          <p:nvPr/>
        </p:nvSpPr>
        <p:spPr>
          <a:xfrm>
            <a:off x="8019288" y="5266944"/>
            <a:ext cx="2651760" cy="182880"/>
          </a:xfrm>
          <a:prstGeom prst="rect">
            <a:avLst/>
          </a:prstGeom>
          <a:noFill/>
          <a:ln/>
        </p:spPr>
        <p:txBody>
          <a:bodyPr wrap="square" lIns="0" tIns="0" rIns="0" bIns="0" rtlCol="0" anchor="ctr"/>
          <a:lstStyle/>
          <a:p>
            <a:pPr indent="0" marL="0">
              <a:buNone/>
            </a:pPr>
            <a:r>
              <a:rPr lang="en-US" sz="1000" dirty="0">
                <a:solidFill>
                  <a:srgbClr val="3F5257"/>
                </a:solidFill>
                <a:latin typeface="Calibri" pitchFamily="34" charset="0"/>
                <a:ea typeface="Calibri" pitchFamily="34" charset="-122"/>
                <a:cs typeface="Calibri" pitchFamily="34" charset="-120"/>
              </a:rPr>
              <a:t>Stage / Biomarker</a:t>
            </a:r>
            <a:endParaRPr lang="en-US" sz="1000" dirty="0"/>
          </a:p>
        </p:txBody>
      </p:sp>
      <p:sp>
        <p:nvSpPr>
          <p:cNvPr id="61" name="Text 59"/>
          <p:cNvSpPr/>
          <p:nvPr/>
        </p:nvSpPr>
        <p:spPr>
          <a:xfrm>
            <a:off x="10652760" y="5266944"/>
            <a:ext cx="731520" cy="182880"/>
          </a:xfrm>
          <a:prstGeom prst="rect">
            <a:avLst/>
          </a:prstGeom>
          <a:noFill/>
          <a:ln/>
        </p:spPr>
        <p:txBody>
          <a:bodyPr wrap="square" lIns="0" tIns="0" rIns="0" bIns="0" rtlCol="0" anchor="ctr"/>
          <a:lstStyle/>
          <a:p>
            <a:pPr algn="r" indent="0" marL="0">
              <a:buNone/>
            </a:pPr>
            <a:r>
              <a:rPr lang="en-US" sz="1000" b="1" dirty="0">
                <a:solidFill>
                  <a:srgbClr val="07161A"/>
                </a:solidFill>
                <a:latin typeface="Calibri" pitchFamily="34" charset="0"/>
                <a:ea typeface="Calibri" pitchFamily="34" charset="-122"/>
                <a:cs typeface="Calibri" pitchFamily="34" charset="-120"/>
              </a:rPr>
              <a:t>.862</a:t>
            </a:r>
            <a:endParaRPr lang="en-US" sz="1000" dirty="0"/>
          </a:p>
        </p:txBody>
      </p:sp>
      <p:sp>
        <p:nvSpPr>
          <p:cNvPr id="62" name="Text 60"/>
          <p:cNvSpPr/>
          <p:nvPr/>
        </p:nvSpPr>
        <p:spPr>
          <a:xfrm>
            <a:off x="8019288" y="5458968"/>
            <a:ext cx="2651760" cy="182880"/>
          </a:xfrm>
          <a:prstGeom prst="rect">
            <a:avLst/>
          </a:prstGeom>
          <a:noFill/>
          <a:ln/>
        </p:spPr>
        <p:txBody>
          <a:bodyPr wrap="square" lIns="0" tIns="0" rIns="0" bIns="0" rtlCol="0" anchor="ctr"/>
          <a:lstStyle/>
          <a:p>
            <a:pPr indent="0" marL="0">
              <a:buNone/>
            </a:pPr>
            <a:r>
              <a:rPr lang="en-US" sz="1000" dirty="0">
                <a:solidFill>
                  <a:srgbClr val="3F5257"/>
                </a:solidFill>
                <a:latin typeface="Calibri" pitchFamily="34" charset="0"/>
                <a:ea typeface="Calibri" pitchFamily="34" charset="-122"/>
                <a:cs typeface="Calibri" pitchFamily="34" charset="-120"/>
              </a:rPr>
              <a:t>Prior therapy</a:t>
            </a:r>
            <a:endParaRPr lang="en-US" sz="1000" dirty="0"/>
          </a:p>
        </p:txBody>
      </p:sp>
      <p:sp>
        <p:nvSpPr>
          <p:cNvPr id="63" name="Text 61"/>
          <p:cNvSpPr/>
          <p:nvPr/>
        </p:nvSpPr>
        <p:spPr>
          <a:xfrm>
            <a:off x="10652760" y="5458968"/>
            <a:ext cx="731520" cy="182880"/>
          </a:xfrm>
          <a:prstGeom prst="rect">
            <a:avLst/>
          </a:prstGeom>
          <a:noFill/>
          <a:ln/>
        </p:spPr>
        <p:txBody>
          <a:bodyPr wrap="square" lIns="0" tIns="0" rIns="0" bIns="0" rtlCol="0" anchor="ctr"/>
          <a:lstStyle/>
          <a:p>
            <a:pPr algn="r" indent="0" marL="0">
              <a:buNone/>
            </a:pPr>
            <a:r>
              <a:rPr lang="en-US" sz="1000" b="1" dirty="0">
                <a:solidFill>
                  <a:srgbClr val="07161A"/>
                </a:solidFill>
                <a:latin typeface="Calibri" pitchFamily="34" charset="0"/>
                <a:ea typeface="Calibri" pitchFamily="34" charset="-122"/>
                <a:cs typeface="Calibri" pitchFamily="34" charset="-120"/>
              </a:rPr>
              <a:t>.832</a:t>
            </a:r>
            <a:endParaRPr lang="en-US" sz="1000" dirty="0"/>
          </a:p>
        </p:txBody>
      </p:sp>
      <p:sp>
        <p:nvSpPr>
          <p:cNvPr id="64" name="Text 62"/>
          <p:cNvSpPr/>
          <p:nvPr/>
        </p:nvSpPr>
        <p:spPr>
          <a:xfrm>
            <a:off x="594360" y="6272784"/>
            <a:ext cx="10972800" cy="438912"/>
          </a:xfrm>
          <a:prstGeom prst="rect">
            <a:avLst/>
          </a:prstGeom>
          <a:noFill/>
          <a:ln/>
        </p:spPr>
        <p:txBody>
          <a:bodyPr wrap="square" lIns="0" tIns="0" rIns="0" bIns="0" rtlCol="0" anchor="t"/>
          <a:lstStyle/>
          <a:p>
            <a:pPr indent="0" marL="0">
              <a:lnSpc>
                <a:spcPts val="1200"/>
              </a:lnSpc>
              <a:buNone/>
            </a:pPr>
            <a:r>
              <a:rPr lang="en-US" sz="950" dirty="0">
                <a:solidFill>
                  <a:srgbClr val="74898E"/>
                </a:solidFill>
                <a:latin typeface="Calibri" pitchFamily="34" charset="0"/>
                <a:ea typeface="Calibri" pitchFamily="34" charset="-122"/>
                <a:cs typeface="Calibri" pitchFamily="34" charset="-120"/>
              </a:rPr>
              <a:t>Nobody has published this number. It quantifies how much of trial eligibility is deterministic — reported as a finding, not a system statistic.</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182880"/>
            <a:ext cx="10972800" cy="237744"/>
          </a:xfrm>
          <a:prstGeom prst="rect">
            <a:avLst/>
          </a:prstGeom>
          <a:noFill/>
          <a:ln/>
        </p:spPr>
        <p:txBody>
          <a:bodyPr wrap="square" lIns="0" tIns="0" rIns="0" bIns="0" rtlCol="0" anchor="ctr"/>
          <a:lstStyle/>
          <a:p>
            <a:pPr indent="0" marL="0">
              <a:buNone/>
            </a:pPr>
            <a:r>
              <a:rPr lang="en-US" sz="1150" b="1" spc="160" kern="0" dirty="0">
                <a:solidFill>
                  <a:srgbClr val="74898E"/>
                </a:solidFill>
                <a:latin typeface="Calibri" pitchFamily="34" charset="0"/>
                <a:ea typeface="Calibri" pitchFamily="34" charset="-122"/>
                <a:cs typeface="Calibri" pitchFamily="34" charset="-120"/>
              </a:rPr>
              <a:t>METRIC 9.2  ·  THE HEADLINE</a:t>
            </a:r>
            <a:endParaRPr lang="en-US" sz="1150" dirty="0"/>
          </a:p>
        </p:txBody>
      </p:sp>
      <p:sp>
        <p:nvSpPr>
          <p:cNvPr id="3" name="Text 1"/>
          <p:cNvSpPr/>
          <p:nvPr/>
        </p:nvSpPr>
        <p:spPr>
          <a:xfrm>
            <a:off x="594360" y="384048"/>
            <a:ext cx="10972800" cy="731520"/>
          </a:xfrm>
          <a:prstGeom prst="rect">
            <a:avLst/>
          </a:prstGeom>
          <a:noFill/>
          <a:ln/>
        </p:spPr>
        <p:txBody>
          <a:bodyPr wrap="square" lIns="0" tIns="0" rIns="0" bIns="0" rtlCol="0" anchor="t"/>
          <a:lstStyle/>
          <a:p>
            <a:pPr indent="0" marL="0">
              <a:buNone/>
            </a:pPr>
            <a:r>
              <a:rPr lang="en-US" sz="3400" b="1" dirty="0">
                <a:solidFill>
                  <a:srgbClr val="07161A"/>
                </a:solidFill>
                <a:latin typeface="Cambria" pitchFamily="34" charset="0"/>
                <a:ea typeface="Cambria" pitchFamily="34" charset="-122"/>
                <a:cs typeface="Cambria" pitchFamily="34" charset="-120"/>
              </a:rPr>
              <a:t>Compiled numeric criterion accuracy</a:t>
            </a:r>
            <a:endParaRPr lang="en-US" sz="3400" dirty="0"/>
          </a:p>
        </p:txBody>
      </p:sp>
      <p:sp>
        <p:nvSpPr>
          <p:cNvPr id="4" name="Shape 2"/>
          <p:cNvSpPr/>
          <p:nvPr/>
        </p:nvSpPr>
        <p:spPr>
          <a:xfrm>
            <a:off x="594360" y="1371600"/>
            <a:ext cx="3429000" cy="1828800"/>
          </a:xfrm>
          <a:prstGeom prst="roundRect">
            <a:avLst>
              <a:gd name="adj" fmla="val 3000"/>
            </a:avLst>
          </a:prstGeom>
          <a:solidFill>
            <a:srgbClr val="FFFFFF"/>
          </a:solidFill>
          <a:ln w="12700">
            <a:solidFill>
              <a:srgbClr val="E2ECEF"/>
            </a:solidFill>
            <a:prstDash val="solid"/>
          </a:ln>
        </p:spPr>
      </p:sp>
      <p:sp>
        <p:nvSpPr>
          <p:cNvPr id="5" name="Text 3"/>
          <p:cNvSpPr/>
          <p:nvPr/>
        </p:nvSpPr>
        <p:spPr>
          <a:xfrm>
            <a:off x="795528" y="1499616"/>
            <a:ext cx="3026664" cy="694944"/>
          </a:xfrm>
          <a:prstGeom prst="rect">
            <a:avLst/>
          </a:prstGeom>
          <a:noFill/>
          <a:ln/>
        </p:spPr>
        <p:txBody>
          <a:bodyPr wrap="square" lIns="0" tIns="0" rIns="0" bIns="0" rtlCol="0" anchor="ctr"/>
          <a:lstStyle/>
          <a:p>
            <a:pPr indent="0" marL="0">
              <a:buNone/>
            </a:pPr>
            <a:r>
              <a:rPr lang="en-US" sz="3800" b="1" dirty="0">
                <a:solidFill>
                  <a:srgbClr val="0E6B3E"/>
                </a:solidFill>
                <a:latin typeface="Cambria" pitchFamily="34" charset="0"/>
                <a:ea typeface="Cambria" pitchFamily="34" charset="-122"/>
                <a:cs typeface="Cambria" pitchFamily="34" charset="-120"/>
              </a:rPr>
              <a:t>100%</a:t>
            </a:r>
            <a:endParaRPr lang="en-US" sz="3800" dirty="0"/>
          </a:p>
        </p:txBody>
      </p:sp>
      <p:sp>
        <p:nvSpPr>
          <p:cNvPr id="6" name="Text 4"/>
          <p:cNvSpPr/>
          <p:nvPr/>
        </p:nvSpPr>
        <p:spPr>
          <a:xfrm>
            <a:off x="795528" y="2194560"/>
            <a:ext cx="3026664" cy="475488"/>
          </a:xfrm>
          <a:prstGeom prst="rect">
            <a:avLst/>
          </a:prstGeom>
          <a:noFill/>
          <a:ln/>
        </p:spPr>
        <p:txBody>
          <a:bodyPr wrap="square" lIns="0" tIns="0" rIns="0" bIns="0" rtlCol="0" anchor="t"/>
          <a:lstStyle/>
          <a:p>
            <a:pPr indent="0" marL="0">
              <a:lnSpc>
                <a:spcPts val="1500"/>
              </a:lnSpc>
              <a:buNone/>
            </a:pPr>
            <a:r>
              <a:rPr lang="en-US" sz="1150" dirty="0">
                <a:solidFill>
                  <a:srgbClr val="3F5257"/>
                </a:solidFill>
                <a:latin typeface="Calibri" pitchFamily="34" charset="0"/>
                <a:ea typeface="Calibri" pitchFamily="34" charset="-122"/>
                <a:cs typeface="Calibri" pitchFamily="34" charset="-120"/>
              </a:rPr>
              <a:t>on 32 held-out numeric criteria</a:t>
            </a:r>
            <a:endParaRPr lang="en-US" sz="1150" dirty="0"/>
          </a:p>
        </p:txBody>
      </p:sp>
      <p:sp>
        <p:nvSpPr>
          <p:cNvPr id="7" name="Text 5"/>
          <p:cNvSpPr/>
          <p:nvPr/>
        </p:nvSpPr>
        <p:spPr>
          <a:xfrm>
            <a:off x="795528" y="2670048"/>
            <a:ext cx="3026664" cy="457200"/>
          </a:xfrm>
          <a:prstGeom prst="rect">
            <a:avLst/>
          </a:prstGeom>
          <a:noFill/>
          <a:ln/>
        </p:spPr>
        <p:txBody>
          <a:bodyPr wrap="square" lIns="0" tIns="0" rIns="0" bIns="0" rtlCol="0" anchor="t"/>
          <a:lstStyle/>
          <a:p>
            <a:pPr indent="0" marL="0">
              <a:lnSpc>
                <a:spcPts val="1300"/>
              </a:lnSpc>
              <a:buNone/>
            </a:pPr>
            <a:r>
              <a:rPr lang="en-US" sz="1000" i="1" dirty="0">
                <a:solidFill>
                  <a:srgbClr val="74898E"/>
                </a:solidFill>
                <a:latin typeface="Calibri" pitchFamily="34" charset="0"/>
                <a:ea typeface="Calibri" pitchFamily="34" charset="-122"/>
                <a:cs typeface="Calibri" pitchFamily="34" charset="-120"/>
              </a:rPr>
              <a:t>written after the fixes, run exactly once</a:t>
            </a:r>
            <a:endParaRPr lang="en-US" sz="1000" dirty="0"/>
          </a:p>
        </p:txBody>
      </p:sp>
      <p:sp>
        <p:nvSpPr>
          <p:cNvPr id="8" name="Shape 6"/>
          <p:cNvSpPr/>
          <p:nvPr/>
        </p:nvSpPr>
        <p:spPr>
          <a:xfrm>
            <a:off x="4206240" y="1371600"/>
            <a:ext cx="3429000" cy="1828800"/>
          </a:xfrm>
          <a:prstGeom prst="roundRect">
            <a:avLst>
              <a:gd name="adj" fmla="val 3000"/>
            </a:avLst>
          </a:prstGeom>
          <a:solidFill>
            <a:srgbClr val="FFFFFF"/>
          </a:solidFill>
          <a:ln w="12700">
            <a:solidFill>
              <a:srgbClr val="E2ECEF"/>
            </a:solidFill>
            <a:prstDash val="solid"/>
          </a:ln>
        </p:spPr>
      </p:sp>
      <p:sp>
        <p:nvSpPr>
          <p:cNvPr id="9" name="Text 7"/>
          <p:cNvSpPr/>
          <p:nvPr/>
        </p:nvSpPr>
        <p:spPr>
          <a:xfrm>
            <a:off x="4407408" y="1499616"/>
            <a:ext cx="3026664" cy="694944"/>
          </a:xfrm>
          <a:prstGeom prst="rect">
            <a:avLst/>
          </a:prstGeom>
          <a:noFill/>
          <a:ln/>
        </p:spPr>
        <p:txBody>
          <a:bodyPr wrap="square" lIns="0" tIns="0" rIns="0" bIns="0" rtlCol="0" anchor="ctr"/>
          <a:lstStyle/>
          <a:p>
            <a:pPr indent="0" marL="0">
              <a:buNone/>
            </a:pPr>
            <a:r>
              <a:rPr lang="en-US" sz="3800" b="1" dirty="0">
                <a:solidFill>
                  <a:srgbClr val="0A5F6E"/>
                </a:solidFill>
                <a:latin typeface="Cambria" pitchFamily="34" charset="0"/>
                <a:ea typeface="Cambria" pitchFamily="34" charset="-122"/>
                <a:cs typeface="Cambria" pitchFamily="34" charset="-120"/>
              </a:rPr>
              <a:t>146</a:t>
            </a:r>
            <a:endParaRPr lang="en-US" sz="3800" dirty="0"/>
          </a:p>
        </p:txBody>
      </p:sp>
      <p:sp>
        <p:nvSpPr>
          <p:cNvPr id="10" name="Text 8"/>
          <p:cNvSpPr/>
          <p:nvPr/>
        </p:nvSpPr>
        <p:spPr>
          <a:xfrm>
            <a:off x="4407408" y="2194560"/>
            <a:ext cx="3026664" cy="475488"/>
          </a:xfrm>
          <a:prstGeom prst="rect">
            <a:avLst/>
          </a:prstGeom>
          <a:noFill/>
          <a:ln/>
        </p:spPr>
        <p:txBody>
          <a:bodyPr wrap="square" lIns="0" tIns="0" rIns="0" bIns="0" rtlCol="0" anchor="t"/>
          <a:lstStyle/>
          <a:p>
            <a:pPr indent="0" marL="0">
              <a:lnSpc>
                <a:spcPts val="1500"/>
              </a:lnSpc>
              <a:buNone/>
            </a:pPr>
            <a:r>
              <a:rPr lang="en-US" sz="1150" dirty="0">
                <a:solidFill>
                  <a:srgbClr val="3F5257"/>
                </a:solidFill>
                <a:latin typeface="Calibri" pitchFamily="34" charset="0"/>
                <a:ea typeface="Calibri" pitchFamily="34" charset="-122"/>
                <a:cs typeface="Calibri" pitchFamily="34" charset="-120"/>
              </a:rPr>
              <a:t>hand-labelled criterion instances</a:t>
            </a:r>
            <a:endParaRPr lang="en-US" sz="1150" dirty="0"/>
          </a:p>
        </p:txBody>
      </p:sp>
      <p:sp>
        <p:nvSpPr>
          <p:cNvPr id="11" name="Text 9"/>
          <p:cNvSpPr/>
          <p:nvPr/>
        </p:nvSpPr>
        <p:spPr>
          <a:xfrm>
            <a:off x="4407408" y="2670048"/>
            <a:ext cx="3026664" cy="457200"/>
          </a:xfrm>
          <a:prstGeom prst="rect">
            <a:avLst/>
          </a:prstGeom>
          <a:noFill/>
          <a:ln/>
        </p:spPr>
        <p:txBody>
          <a:bodyPr wrap="square" lIns="0" tIns="0" rIns="0" bIns="0" rtlCol="0" anchor="t"/>
          <a:lstStyle/>
          <a:p>
            <a:pPr indent="0" marL="0">
              <a:lnSpc>
                <a:spcPts val="1300"/>
              </a:lnSpc>
              <a:buNone/>
            </a:pPr>
            <a:r>
              <a:rPr lang="en-US" sz="1000" i="1" dirty="0">
                <a:solidFill>
                  <a:srgbClr val="74898E"/>
                </a:solidFill>
                <a:latin typeface="Calibri" pitchFamily="34" charset="0"/>
                <a:ea typeface="Calibri" pitchFamily="34" charset="-122"/>
                <a:cs typeface="Calibri" pitchFamily="34" charset="-120"/>
              </a:rPr>
              <a:t>every criterion string verbatim from the corpus, with its NCT ID</a:t>
            </a:r>
            <a:endParaRPr lang="en-US" sz="1000" dirty="0"/>
          </a:p>
        </p:txBody>
      </p:sp>
      <p:sp>
        <p:nvSpPr>
          <p:cNvPr id="12" name="Shape 10"/>
          <p:cNvSpPr/>
          <p:nvPr/>
        </p:nvSpPr>
        <p:spPr>
          <a:xfrm>
            <a:off x="7818120" y="1371600"/>
            <a:ext cx="3749040" cy="1828800"/>
          </a:xfrm>
          <a:prstGeom prst="roundRect">
            <a:avLst>
              <a:gd name="adj" fmla="val 3000"/>
            </a:avLst>
          </a:prstGeom>
          <a:solidFill>
            <a:srgbClr val="FFFFFF"/>
          </a:solidFill>
          <a:ln w="12700">
            <a:solidFill>
              <a:srgbClr val="E2ECEF"/>
            </a:solidFill>
            <a:prstDash val="solid"/>
          </a:ln>
        </p:spPr>
      </p:sp>
      <p:sp>
        <p:nvSpPr>
          <p:cNvPr id="13" name="Text 11"/>
          <p:cNvSpPr/>
          <p:nvPr/>
        </p:nvSpPr>
        <p:spPr>
          <a:xfrm>
            <a:off x="8019288" y="1499616"/>
            <a:ext cx="3346704" cy="694944"/>
          </a:xfrm>
          <a:prstGeom prst="rect">
            <a:avLst/>
          </a:prstGeom>
          <a:noFill/>
          <a:ln/>
        </p:spPr>
        <p:txBody>
          <a:bodyPr wrap="square" lIns="0" tIns="0" rIns="0" bIns="0" rtlCol="0" anchor="ctr"/>
          <a:lstStyle/>
          <a:p>
            <a:pPr indent="0" marL="0">
              <a:buNone/>
            </a:pPr>
            <a:r>
              <a:rPr lang="en-US" sz="3800" b="1" dirty="0">
                <a:solidFill>
                  <a:srgbClr val="A81F17"/>
                </a:solidFill>
                <a:latin typeface="Cambria" pitchFamily="34" charset="0"/>
                <a:ea typeface="Cambria" pitchFamily="34" charset="-122"/>
                <a:cs typeface="Cambria" pitchFamily="34" charset="-120"/>
              </a:rPr>
              <a:t>8</a:t>
            </a:r>
            <a:endParaRPr lang="en-US" sz="3800" dirty="0"/>
          </a:p>
        </p:txBody>
      </p:sp>
      <p:sp>
        <p:nvSpPr>
          <p:cNvPr id="14" name="Text 12"/>
          <p:cNvSpPr/>
          <p:nvPr/>
        </p:nvSpPr>
        <p:spPr>
          <a:xfrm>
            <a:off x="8019288" y="2194560"/>
            <a:ext cx="3346704" cy="475488"/>
          </a:xfrm>
          <a:prstGeom prst="rect">
            <a:avLst/>
          </a:prstGeom>
          <a:noFill/>
          <a:ln/>
        </p:spPr>
        <p:txBody>
          <a:bodyPr wrap="square" lIns="0" tIns="0" rIns="0" bIns="0" rtlCol="0" anchor="t"/>
          <a:lstStyle/>
          <a:p>
            <a:pPr indent="0" marL="0">
              <a:lnSpc>
                <a:spcPts val="1500"/>
              </a:lnSpc>
              <a:buNone/>
            </a:pPr>
            <a:r>
              <a:rPr lang="en-US" sz="1150" dirty="0">
                <a:solidFill>
                  <a:srgbClr val="3F5257"/>
                </a:solidFill>
                <a:latin typeface="Calibri" pitchFamily="34" charset="0"/>
                <a:ea typeface="Calibri" pitchFamily="34" charset="-122"/>
                <a:cs typeface="Calibri" pitchFamily="34" charset="-120"/>
              </a:rPr>
              <a:t>real bugs the eval found before any chart existed</a:t>
            </a:r>
            <a:endParaRPr lang="en-US" sz="1150" dirty="0"/>
          </a:p>
        </p:txBody>
      </p:sp>
      <p:sp>
        <p:nvSpPr>
          <p:cNvPr id="15" name="Text 13"/>
          <p:cNvSpPr/>
          <p:nvPr/>
        </p:nvSpPr>
        <p:spPr>
          <a:xfrm>
            <a:off x="8019288" y="2670048"/>
            <a:ext cx="3346704" cy="457200"/>
          </a:xfrm>
          <a:prstGeom prst="rect">
            <a:avLst/>
          </a:prstGeom>
          <a:noFill/>
          <a:ln/>
        </p:spPr>
        <p:txBody>
          <a:bodyPr wrap="square" lIns="0" tIns="0" rIns="0" bIns="0" rtlCol="0" anchor="t"/>
          <a:lstStyle/>
          <a:p>
            <a:pPr indent="0" marL="0">
              <a:lnSpc>
                <a:spcPts val="1300"/>
              </a:lnSpc>
              <a:buNone/>
            </a:pPr>
            <a:r>
              <a:rPr lang="en-US" sz="1000" i="1" dirty="0">
                <a:solidFill>
                  <a:srgbClr val="74898E"/>
                </a:solidFill>
                <a:latin typeface="Calibri" pitchFamily="34" charset="0"/>
                <a:ea typeface="Calibri" pitchFamily="34" charset="-122"/>
                <a:cs typeface="Calibri" pitchFamily="34" charset="-120"/>
              </a:rPr>
              <a:t>none of which 368 unit tests had caught</a:t>
            </a:r>
            <a:endParaRPr lang="en-US" sz="1000" dirty="0"/>
          </a:p>
        </p:txBody>
      </p:sp>
      <p:sp>
        <p:nvSpPr>
          <p:cNvPr id="16" name="Shape 14"/>
          <p:cNvSpPr/>
          <p:nvPr/>
        </p:nvSpPr>
        <p:spPr>
          <a:xfrm>
            <a:off x="594360" y="3310128"/>
            <a:ext cx="10972800" cy="1298448"/>
          </a:xfrm>
          <a:prstGeom prst="roundRect">
            <a:avLst>
              <a:gd name="adj" fmla="val 4225"/>
            </a:avLst>
          </a:prstGeom>
          <a:solidFill>
            <a:srgbClr val="F2FBFC"/>
          </a:solidFill>
          <a:ln w="12700">
            <a:solidFill>
              <a:srgbClr val="F0DCB4"/>
            </a:solidFill>
            <a:prstDash val="solid"/>
          </a:ln>
        </p:spPr>
      </p:sp>
      <p:sp>
        <p:nvSpPr>
          <p:cNvPr id="17" name="Text 15"/>
          <p:cNvSpPr/>
          <p:nvPr/>
        </p:nvSpPr>
        <p:spPr>
          <a:xfrm>
            <a:off x="850392" y="3438144"/>
            <a:ext cx="10460736" cy="292608"/>
          </a:xfrm>
          <a:prstGeom prst="rect">
            <a:avLst/>
          </a:prstGeom>
          <a:noFill/>
          <a:ln/>
        </p:spPr>
        <p:txBody>
          <a:bodyPr wrap="square" lIns="0" tIns="0" rIns="0" bIns="0" rtlCol="0" anchor="ctr"/>
          <a:lstStyle/>
          <a:p>
            <a:pPr indent="0" marL="0">
              <a:buNone/>
            </a:pPr>
            <a:r>
              <a:rPr lang="en-US" sz="1300" b="1" dirty="0">
                <a:solidFill>
                  <a:srgbClr val="0E7A8C"/>
                </a:solidFill>
                <a:latin typeface="Calibri" pitchFamily="34" charset="0"/>
                <a:ea typeface="Calibri" pitchFamily="34" charset="-122"/>
                <a:cs typeface="Calibri" pitchFamily="34" charset="-120"/>
              </a:rPr>
              <a:t>Why a held-out split, and why the 146-case number is not quoted</a:t>
            </a:r>
            <a:endParaRPr lang="en-US" sz="1300" dirty="0"/>
          </a:p>
        </p:txBody>
      </p:sp>
      <p:sp>
        <p:nvSpPr>
          <p:cNvPr id="18" name="Text 16"/>
          <p:cNvSpPr/>
          <p:nvPr/>
        </p:nvSpPr>
        <p:spPr>
          <a:xfrm>
            <a:off x="850392" y="3767328"/>
            <a:ext cx="10460736" cy="768096"/>
          </a:xfrm>
          <a:prstGeom prst="rect">
            <a:avLst/>
          </a:prstGeom>
          <a:noFill/>
          <a:ln/>
        </p:spPr>
        <p:txBody>
          <a:bodyPr wrap="square" lIns="0" tIns="0" rIns="0" bIns="0" rtlCol="0" anchor="t"/>
          <a:lstStyle/>
          <a:p>
            <a:pPr indent="0" marL="0">
              <a:lnSpc>
                <a:spcPts val="1700"/>
              </a:lnSpc>
              <a:buNone/>
            </a:pPr>
            <a:r>
              <a:rPr lang="en-US" sz="1200" dirty="0">
                <a:solidFill>
                  <a:srgbClr val="3F5257"/>
                </a:solidFill>
                <a:latin typeface="Calibri" pitchFamily="34" charset="0"/>
                <a:ea typeface="Calibri" pitchFamily="34" charset="-122"/>
                <a:cs typeface="Calibri" pitchFamily="34" charset="-120"/>
              </a:rPr>
              <a:t>The development set found eight bugs, which were then fixed. That makes its post-fix score a regression suite, not an estimate — quoting it would be tuning on the test set. The held-out cases were written afterwards and run once. 100% of 32 has a wide interval (~89–100%); the honest statement is “no errors on 32 held-out numeric criteria”.</a:t>
            </a:r>
            <a:endParaRPr lang="en-US" sz="1200" dirty="0"/>
          </a:p>
        </p:txBody>
      </p:sp>
      <p:sp>
        <p:nvSpPr>
          <p:cNvPr id="19" name="Text 17"/>
          <p:cNvSpPr/>
          <p:nvPr/>
        </p:nvSpPr>
        <p:spPr>
          <a:xfrm>
            <a:off x="594360" y="4736592"/>
            <a:ext cx="6400800" cy="292608"/>
          </a:xfrm>
          <a:prstGeom prst="rect">
            <a:avLst/>
          </a:prstGeom>
          <a:noFill/>
          <a:ln/>
        </p:spPr>
        <p:txBody>
          <a:bodyPr wrap="square" lIns="0" tIns="0" rIns="0" bIns="0" rtlCol="0" anchor="ctr"/>
          <a:lstStyle/>
          <a:p>
            <a:pPr indent="0" marL="0">
              <a:buNone/>
            </a:pPr>
            <a:r>
              <a:rPr lang="en-US" sz="1300" b="1" dirty="0">
                <a:solidFill>
                  <a:srgbClr val="07161A"/>
                </a:solidFill>
                <a:latin typeface="Calibri" pitchFamily="34" charset="0"/>
                <a:ea typeface="Calibri" pitchFamily="34" charset="-122"/>
                <a:cs typeface="Calibri" pitchFamily="34" charset="-120"/>
              </a:rPr>
              <a:t>Clean on every category the thesis depends on</a:t>
            </a:r>
            <a:endParaRPr lang="en-US" sz="1300" dirty="0"/>
          </a:p>
        </p:txBody>
      </p:sp>
      <p:sp>
        <p:nvSpPr>
          <p:cNvPr id="20" name="Shape 18"/>
          <p:cNvSpPr/>
          <p:nvPr/>
        </p:nvSpPr>
        <p:spPr>
          <a:xfrm>
            <a:off x="594360" y="5175504"/>
            <a:ext cx="118872" cy="118872"/>
          </a:xfrm>
          <a:prstGeom prst="ellipse">
            <a:avLst/>
          </a:prstGeom>
          <a:solidFill>
            <a:srgbClr val="0E6B3E"/>
          </a:solidFill>
          <a:ln w="12700">
            <a:solidFill>
              <a:srgbClr val="0E6B3E"/>
            </a:solidFill>
            <a:prstDash val="solid"/>
          </a:ln>
        </p:spPr>
      </p:sp>
      <p:sp>
        <p:nvSpPr>
          <p:cNvPr id="21" name="Text 19"/>
          <p:cNvSpPr/>
          <p:nvPr/>
        </p:nvSpPr>
        <p:spPr>
          <a:xfrm>
            <a:off x="813816" y="5084064"/>
            <a:ext cx="251460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unit conversion</a:t>
            </a:r>
            <a:endParaRPr lang="en-US" sz="1150" dirty="0"/>
          </a:p>
        </p:txBody>
      </p:sp>
      <p:sp>
        <p:nvSpPr>
          <p:cNvPr id="22" name="Shape 20"/>
          <p:cNvSpPr/>
          <p:nvPr/>
        </p:nvSpPr>
        <p:spPr>
          <a:xfrm>
            <a:off x="3383280" y="5175504"/>
            <a:ext cx="118872" cy="118872"/>
          </a:xfrm>
          <a:prstGeom prst="ellipse">
            <a:avLst/>
          </a:prstGeom>
          <a:solidFill>
            <a:srgbClr val="0E6B3E"/>
          </a:solidFill>
          <a:ln w="12700">
            <a:solidFill>
              <a:srgbClr val="0E6B3E"/>
            </a:solidFill>
            <a:prstDash val="solid"/>
          </a:ln>
        </p:spPr>
      </p:sp>
      <p:sp>
        <p:nvSpPr>
          <p:cNvPr id="23" name="Text 21"/>
          <p:cNvSpPr/>
          <p:nvPr/>
        </p:nvSpPr>
        <p:spPr>
          <a:xfrm>
            <a:off x="3602736" y="5084064"/>
            <a:ext cx="251460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ULN-relative bounds</a:t>
            </a:r>
            <a:endParaRPr lang="en-US" sz="1150" dirty="0"/>
          </a:p>
        </p:txBody>
      </p:sp>
      <p:sp>
        <p:nvSpPr>
          <p:cNvPr id="24" name="Shape 22"/>
          <p:cNvSpPr/>
          <p:nvPr/>
        </p:nvSpPr>
        <p:spPr>
          <a:xfrm>
            <a:off x="6172200" y="5175504"/>
            <a:ext cx="118872" cy="118872"/>
          </a:xfrm>
          <a:prstGeom prst="ellipse">
            <a:avLst/>
          </a:prstGeom>
          <a:solidFill>
            <a:srgbClr val="0E6B3E"/>
          </a:solidFill>
          <a:ln w="12700">
            <a:solidFill>
              <a:srgbClr val="0E6B3E"/>
            </a:solidFill>
            <a:prstDash val="solid"/>
          </a:ln>
        </p:spPr>
      </p:sp>
      <p:sp>
        <p:nvSpPr>
          <p:cNvPr id="25" name="Text 23"/>
          <p:cNvSpPr/>
          <p:nvPr/>
        </p:nvSpPr>
        <p:spPr>
          <a:xfrm>
            <a:off x="6391656" y="5084064"/>
            <a:ext cx="251460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calendar months</a:t>
            </a:r>
            <a:endParaRPr lang="en-US" sz="1150" dirty="0"/>
          </a:p>
        </p:txBody>
      </p:sp>
      <p:sp>
        <p:nvSpPr>
          <p:cNvPr id="26" name="Shape 24"/>
          <p:cNvSpPr/>
          <p:nvPr/>
        </p:nvSpPr>
        <p:spPr>
          <a:xfrm>
            <a:off x="8961120" y="5175504"/>
            <a:ext cx="118872" cy="118872"/>
          </a:xfrm>
          <a:prstGeom prst="ellipse">
            <a:avLst/>
          </a:prstGeom>
          <a:solidFill>
            <a:srgbClr val="0E6B3E"/>
          </a:solidFill>
          <a:ln w="12700">
            <a:solidFill>
              <a:srgbClr val="0E6B3E"/>
            </a:solidFill>
            <a:prstDash val="solid"/>
          </a:ln>
        </p:spPr>
      </p:sp>
      <p:sp>
        <p:nvSpPr>
          <p:cNvPr id="27" name="Text 25"/>
          <p:cNvSpPr/>
          <p:nvPr/>
        </p:nvSpPr>
        <p:spPr>
          <a:xfrm>
            <a:off x="9180576" y="5084064"/>
            <a:ext cx="251460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month-end clamping</a:t>
            </a:r>
            <a:endParaRPr lang="en-US" sz="1150" dirty="0"/>
          </a:p>
        </p:txBody>
      </p:sp>
      <p:sp>
        <p:nvSpPr>
          <p:cNvPr id="28" name="Shape 26"/>
          <p:cNvSpPr/>
          <p:nvPr/>
        </p:nvSpPr>
        <p:spPr>
          <a:xfrm>
            <a:off x="594360" y="5577840"/>
            <a:ext cx="118872" cy="118872"/>
          </a:xfrm>
          <a:prstGeom prst="ellipse">
            <a:avLst/>
          </a:prstGeom>
          <a:solidFill>
            <a:srgbClr val="0E6B3E"/>
          </a:solidFill>
          <a:ln w="12700">
            <a:solidFill>
              <a:srgbClr val="0E6B3E"/>
            </a:solidFill>
            <a:prstDash val="solid"/>
          </a:ln>
        </p:spPr>
      </p:sp>
      <p:sp>
        <p:nvSpPr>
          <p:cNvPr id="29" name="Text 27"/>
          <p:cNvSpPr/>
          <p:nvPr/>
        </p:nvSpPr>
        <p:spPr>
          <a:xfrm>
            <a:off x="813816" y="5486400"/>
            <a:ext cx="251460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leap years</a:t>
            </a:r>
            <a:endParaRPr lang="en-US" sz="1150" dirty="0"/>
          </a:p>
        </p:txBody>
      </p:sp>
      <p:sp>
        <p:nvSpPr>
          <p:cNvPr id="30" name="Shape 28"/>
          <p:cNvSpPr/>
          <p:nvPr/>
        </p:nvSpPr>
        <p:spPr>
          <a:xfrm>
            <a:off x="3383280" y="5577840"/>
            <a:ext cx="118872" cy="118872"/>
          </a:xfrm>
          <a:prstGeom prst="ellipse">
            <a:avLst/>
          </a:prstGeom>
          <a:solidFill>
            <a:srgbClr val="0E6B3E"/>
          </a:solidFill>
          <a:ln w="12700">
            <a:solidFill>
              <a:srgbClr val="0E6B3E"/>
            </a:solidFill>
            <a:prstDash val="solid"/>
          </a:ln>
        </p:spPr>
      </p:sp>
      <p:sp>
        <p:nvSpPr>
          <p:cNvPr id="31" name="Text 29"/>
          <p:cNvSpPr/>
          <p:nvPr/>
        </p:nvSpPr>
        <p:spPr>
          <a:xfrm>
            <a:off x="3602736" y="5486400"/>
            <a:ext cx="251460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molar conversion</a:t>
            </a:r>
            <a:endParaRPr lang="en-US" sz="1150" dirty="0"/>
          </a:p>
        </p:txBody>
      </p:sp>
      <p:sp>
        <p:nvSpPr>
          <p:cNvPr id="32" name="Shape 30"/>
          <p:cNvSpPr/>
          <p:nvPr/>
        </p:nvSpPr>
        <p:spPr>
          <a:xfrm>
            <a:off x="6172200" y="5577840"/>
            <a:ext cx="118872" cy="118872"/>
          </a:xfrm>
          <a:prstGeom prst="ellipse">
            <a:avLst/>
          </a:prstGeom>
          <a:solidFill>
            <a:srgbClr val="0E6B3E"/>
          </a:solidFill>
          <a:ln w="12700">
            <a:solidFill>
              <a:srgbClr val="0E6B3E"/>
            </a:solidFill>
            <a:prstDash val="solid"/>
          </a:ln>
        </p:spPr>
      </p:sp>
      <p:sp>
        <p:nvSpPr>
          <p:cNvPr id="33" name="Text 31"/>
          <p:cNvSpPr/>
          <p:nvPr/>
        </p:nvSpPr>
        <p:spPr>
          <a:xfrm>
            <a:off x="6391656" y="5486400"/>
            <a:ext cx="251460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strict vs inclusive</a:t>
            </a:r>
            <a:endParaRPr lang="en-US" sz="1150" dirty="0"/>
          </a:p>
        </p:txBody>
      </p:sp>
      <p:sp>
        <p:nvSpPr>
          <p:cNvPr id="34" name="Shape 32"/>
          <p:cNvSpPr/>
          <p:nvPr/>
        </p:nvSpPr>
        <p:spPr>
          <a:xfrm>
            <a:off x="8961120" y="5577840"/>
            <a:ext cx="118872" cy="118872"/>
          </a:xfrm>
          <a:prstGeom prst="ellipse">
            <a:avLst/>
          </a:prstGeom>
          <a:solidFill>
            <a:srgbClr val="0E6B3E"/>
          </a:solidFill>
          <a:ln w="12700">
            <a:solidFill>
              <a:srgbClr val="0E6B3E"/>
            </a:solidFill>
            <a:prstDash val="solid"/>
          </a:ln>
        </p:spPr>
      </p:sp>
      <p:sp>
        <p:nvSpPr>
          <p:cNvPr id="35" name="Text 33"/>
          <p:cNvSpPr/>
          <p:nvPr/>
        </p:nvSpPr>
        <p:spPr>
          <a:xfrm>
            <a:off x="9180576" y="5486400"/>
            <a:ext cx="251460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exclusion polarity</a:t>
            </a:r>
            <a:endParaRPr lang="en-US" sz="1150" dirty="0"/>
          </a:p>
        </p:txBody>
      </p:sp>
      <p:sp>
        <p:nvSpPr>
          <p:cNvPr id="36" name="Shape 34"/>
          <p:cNvSpPr/>
          <p:nvPr/>
        </p:nvSpPr>
        <p:spPr>
          <a:xfrm>
            <a:off x="594360" y="5907024"/>
            <a:ext cx="10972800" cy="621792"/>
          </a:xfrm>
          <a:prstGeom prst="roundRect">
            <a:avLst>
              <a:gd name="adj" fmla="val 8824"/>
            </a:avLst>
          </a:prstGeom>
          <a:solidFill>
            <a:srgbClr val="F2FBFC"/>
          </a:solidFill>
          <a:ln w="12700">
            <a:solidFill>
              <a:srgbClr val="E2ECEF"/>
            </a:solidFill>
            <a:prstDash val="solid"/>
          </a:ln>
        </p:spPr>
      </p:sp>
      <p:sp>
        <p:nvSpPr>
          <p:cNvPr id="37" name="Text 35"/>
          <p:cNvSpPr/>
          <p:nvPr/>
        </p:nvSpPr>
        <p:spPr>
          <a:xfrm>
            <a:off x="832104" y="6016752"/>
            <a:ext cx="10497312" cy="420624"/>
          </a:xfrm>
          <a:prstGeom prst="rect">
            <a:avLst/>
          </a:prstGeom>
          <a:noFill/>
          <a:ln/>
        </p:spPr>
        <p:txBody>
          <a:bodyPr wrap="square" lIns="0" tIns="0" rIns="0" bIns="0" rtlCol="0" anchor="t"/>
          <a:lstStyle/>
          <a:p>
            <a:pPr indent="0" marL="0">
              <a:lnSpc>
                <a:spcPts val="1500"/>
              </a:lnSpc>
              <a:buNone/>
            </a:pPr>
            <a:r>
              <a:rPr lang="en-US" sz="1150" b="1" dirty="0">
                <a:solidFill>
                  <a:srgbClr val="07161A"/>
                </a:solidFill>
                <a:latin typeface="Calibri" pitchFamily="34" charset="0"/>
                <a:ea typeface="Calibri" pitchFamily="34" charset="-122"/>
                <a:cs typeface="Calibri" pitchFamily="34" charset="-120"/>
              </a:rPr>
              <a:t>Prompted baseline:  </a:t>
            </a:r>
            <a:pPr indent="0" marL="0">
              <a:lnSpc>
                <a:spcPts val="1500"/>
              </a:lnSpc>
              <a:buNone/>
            </a:pPr>
            <a:r>
              <a:rPr lang="en-US" sz="1150" dirty="0">
                <a:solidFill>
                  <a:srgbClr val="3F5257"/>
                </a:solidFill>
                <a:latin typeface="Calibri" pitchFamily="34" charset="0"/>
                <a:ea typeface="Calibri" pitchFamily="34" charset="-122"/>
                <a:cs typeface="Calibri" pitchFamily="34" charset="-120"/>
              </a:rPr>
              <a:t>harness built and fairness-audited — identical input string, all four verdicts defined, free to reason, temperature 0. Awaiting an API key; report whatever it yields.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182880"/>
            <a:ext cx="10972800" cy="237744"/>
          </a:xfrm>
          <a:prstGeom prst="rect">
            <a:avLst/>
          </a:prstGeom>
          <a:noFill/>
          <a:ln/>
        </p:spPr>
        <p:txBody>
          <a:bodyPr wrap="square" lIns="0" tIns="0" rIns="0" bIns="0" rtlCol="0" anchor="ctr"/>
          <a:lstStyle/>
          <a:p>
            <a:pPr indent="0" marL="0">
              <a:buNone/>
            </a:pPr>
            <a:r>
              <a:rPr lang="en-US" sz="1150" b="1" spc="160" kern="0" dirty="0">
                <a:solidFill>
                  <a:srgbClr val="74898E"/>
                </a:solidFill>
                <a:latin typeface="Calibri" pitchFamily="34" charset="0"/>
                <a:ea typeface="Calibri" pitchFamily="34" charset="-122"/>
                <a:cs typeface="Calibri" pitchFamily="34" charset="-120"/>
              </a:rPr>
              <a:t>WHY THE EVAL WAS WORTH BUILDING</a:t>
            </a:r>
            <a:endParaRPr lang="en-US" sz="1150" dirty="0"/>
          </a:p>
        </p:txBody>
      </p:sp>
      <p:sp>
        <p:nvSpPr>
          <p:cNvPr id="3" name="Text 1"/>
          <p:cNvSpPr/>
          <p:nvPr/>
        </p:nvSpPr>
        <p:spPr>
          <a:xfrm>
            <a:off x="594360" y="384048"/>
            <a:ext cx="10972800" cy="731520"/>
          </a:xfrm>
          <a:prstGeom prst="rect">
            <a:avLst/>
          </a:prstGeom>
          <a:noFill/>
          <a:ln/>
        </p:spPr>
        <p:txBody>
          <a:bodyPr wrap="square" lIns="0" tIns="0" rIns="0" bIns="0" rtlCol="0" anchor="t"/>
          <a:lstStyle/>
          <a:p>
            <a:pPr indent="0" marL="0">
              <a:buNone/>
            </a:pPr>
            <a:r>
              <a:rPr lang="en-US" sz="3400" b="1" dirty="0">
                <a:solidFill>
                  <a:srgbClr val="07161A"/>
                </a:solidFill>
                <a:latin typeface="Cambria" pitchFamily="34" charset="0"/>
                <a:ea typeface="Cambria" pitchFamily="34" charset="-122"/>
                <a:cs typeface="Cambria" pitchFamily="34" charset="-120"/>
              </a:rPr>
              <a:t>Eight bugs, none caught by 368 unit tests</a:t>
            </a:r>
            <a:endParaRPr lang="en-US" sz="3400" dirty="0"/>
          </a:p>
        </p:txBody>
      </p:sp>
      <p:sp>
        <p:nvSpPr>
          <p:cNvPr id="4" name="Shape 2"/>
          <p:cNvSpPr/>
          <p:nvPr/>
        </p:nvSpPr>
        <p:spPr>
          <a:xfrm>
            <a:off x="594360" y="1444752"/>
            <a:ext cx="10972800" cy="1024128"/>
          </a:xfrm>
          <a:prstGeom prst="roundRect">
            <a:avLst>
              <a:gd name="adj" fmla="val 5357"/>
            </a:avLst>
          </a:prstGeom>
          <a:solidFill>
            <a:srgbClr val="FFFFFF"/>
          </a:solidFill>
          <a:ln w="12700">
            <a:solidFill>
              <a:srgbClr val="E2ECEF"/>
            </a:solidFill>
            <a:prstDash val="solid"/>
          </a:ln>
        </p:spPr>
      </p:sp>
      <p:sp>
        <p:nvSpPr>
          <p:cNvPr id="5" name="Shape 3"/>
          <p:cNvSpPr/>
          <p:nvPr/>
        </p:nvSpPr>
        <p:spPr>
          <a:xfrm>
            <a:off x="850392" y="1737360"/>
            <a:ext cx="118872" cy="118872"/>
          </a:xfrm>
          <a:prstGeom prst="ellipse">
            <a:avLst/>
          </a:prstGeom>
          <a:solidFill>
            <a:srgbClr val="A81F17"/>
          </a:solidFill>
          <a:ln w="12700">
            <a:solidFill>
              <a:srgbClr val="A81F17"/>
            </a:solidFill>
            <a:prstDash val="solid"/>
          </a:ln>
        </p:spPr>
      </p:sp>
      <p:sp>
        <p:nvSpPr>
          <p:cNvPr id="6" name="Text 4"/>
          <p:cNvSpPr/>
          <p:nvPr/>
        </p:nvSpPr>
        <p:spPr>
          <a:xfrm>
            <a:off x="1106424" y="1609344"/>
            <a:ext cx="4206240" cy="365760"/>
          </a:xfrm>
          <a:prstGeom prst="rect">
            <a:avLst/>
          </a:prstGeom>
          <a:noFill/>
          <a:ln/>
        </p:spPr>
        <p:txBody>
          <a:bodyPr wrap="square" lIns="0" tIns="0" rIns="0" bIns="0" rtlCol="0" anchor="ctr"/>
          <a:lstStyle/>
          <a:p>
            <a:pPr indent="0" marL="0">
              <a:buNone/>
            </a:pPr>
            <a:r>
              <a:rPr lang="en-US" sz="1350" b="1" dirty="0">
                <a:solidFill>
                  <a:srgbClr val="07161A"/>
                </a:solidFill>
                <a:latin typeface="Calibri" pitchFamily="34" charset="0"/>
                <a:ea typeface="Calibri" pitchFamily="34" charset="-122"/>
                <a:cs typeface="Calibri" pitchFamily="34" charset="-120"/>
              </a:rPr>
              <a:t>Exclusion polarity never applied</a:t>
            </a:r>
            <a:endParaRPr lang="en-US" sz="1350" dirty="0"/>
          </a:p>
        </p:txBody>
      </p:sp>
      <p:sp>
        <p:nvSpPr>
          <p:cNvPr id="7" name="Text 5"/>
          <p:cNvSpPr/>
          <p:nvPr/>
        </p:nvSpPr>
        <p:spPr>
          <a:xfrm>
            <a:off x="5440680" y="1591056"/>
            <a:ext cx="5943600" cy="768096"/>
          </a:xfrm>
          <a:prstGeom prst="rect">
            <a:avLst/>
          </a:prstGeom>
          <a:noFill/>
          <a:ln/>
        </p:spPr>
        <p:txBody>
          <a:bodyPr wrap="square" lIns="0" tIns="0" rIns="0" bIns="0" rtlCol="0" anchor="t"/>
          <a:lstStyle/>
          <a:p>
            <a:pPr indent="0" marL="0">
              <a:lnSpc>
                <a:spcPts val="1600"/>
              </a:lnSpc>
              <a:buNone/>
            </a:pPr>
            <a:r>
              <a:rPr lang="en-US" sz="1150" dirty="0">
                <a:solidFill>
                  <a:srgbClr val="3F5257"/>
                </a:solidFill>
                <a:latin typeface="Calibri" pitchFamily="34" charset="0"/>
                <a:ea typeface="Calibri" pitchFamily="34" charset="-122"/>
                <a:cs typeface="Calibri" pitchFamily="34" charset="-120"/>
              </a:rPr>
              <a:t>Every exclusion criterion of six types evaluated backwards. A patient with a normal QTc was blocked; one with a prolonged QTc passed. This was live in the UI.</a:t>
            </a:r>
            <a:endParaRPr lang="en-US" sz="1150" dirty="0"/>
          </a:p>
        </p:txBody>
      </p:sp>
      <p:sp>
        <p:nvSpPr>
          <p:cNvPr id="8" name="Shape 6"/>
          <p:cNvSpPr/>
          <p:nvPr/>
        </p:nvSpPr>
        <p:spPr>
          <a:xfrm>
            <a:off x="594360" y="2615184"/>
            <a:ext cx="10972800" cy="1024128"/>
          </a:xfrm>
          <a:prstGeom prst="roundRect">
            <a:avLst>
              <a:gd name="adj" fmla="val 5357"/>
            </a:avLst>
          </a:prstGeom>
          <a:solidFill>
            <a:srgbClr val="FFFFFF"/>
          </a:solidFill>
          <a:ln w="12700">
            <a:solidFill>
              <a:srgbClr val="E2ECEF"/>
            </a:solidFill>
            <a:prstDash val="solid"/>
          </a:ln>
        </p:spPr>
      </p:sp>
      <p:sp>
        <p:nvSpPr>
          <p:cNvPr id="9" name="Shape 7"/>
          <p:cNvSpPr/>
          <p:nvPr/>
        </p:nvSpPr>
        <p:spPr>
          <a:xfrm>
            <a:off x="850392" y="2907792"/>
            <a:ext cx="118872" cy="118872"/>
          </a:xfrm>
          <a:prstGeom prst="ellipse">
            <a:avLst/>
          </a:prstGeom>
          <a:solidFill>
            <a:srgbClr val="A81F17"/>
          </a:solidFill>
          <a:ln w="12700">
            <a:solidFill>
              <a:srgbClr val="A81F17"/>
            </a:solidFill>
            <a:prstDash val="solid"/>
          </a:ln>
        </p:spPr>
      </p:sp>
      <p:sp>
        <p:nvSpPr>
          <p:cNvPr id="10" name="Text 8"/>
          <p:cNvSpPr/>
          <p:nvPr/>
        </p:nvSpPr>
        <p:spPr>
          <a:xfrm>
            <a:off x="1106424" y="2779776"/>
            <a:ext cx="4206240" cy="365760"/>
          </a:xfrm>
          <a:prstGeom prst="rect">
            <a:avLst/>
          </a:prstGeom>
          <a:noFill/>
          <a:ln/>
        </p:spPr>
        <p:txBody>
          <a:bodyPr wrap="square" lIns="0" tIns="0" rIns="0" bIns="0" rtlCol="0" anchor="ctr"/>
          <a:lstStyle/>
          <a:p>
            <a:pPr indent="0" marL="0">
              <a:buNone/>
            </a:pPr>
            <a:r>
              <a:rPr lang="en-US" sz="1350" b="1" dirty="0">
                <a:solidFill>
                  <a:srgbClr val="07161A"/>
                </a:solidFill>
                <a:latin typeface="Calibri" pitchFamily="34" charset="0"/>
                <a:ea typeface="Calibri" pitchFamily="34" charset="-122"/>
                <a:cs typeface="Calibri" pitchFamily="34" charset="-120"/>
              </a:rPr>
              <a:t>Floating point on ULN bounds</a:t>
            </a:r>
            <a:endParaRPr lang="en-US" sz="1350" dirty="0"/>
          </a:p>
        </p:txBody>
      </p:sp>
      <p:sp>
        <p:nvSpPr>
          <p:cNvPr id="11" name="Text 9"/>
          <p:cNvSpPr/>
          <p:nvPr/>
        </p:nvSpPr>
        <p:spPr>
          <a:xfrm>
            <a:off x="5440680" y="2761488"/>
            <a:ext cx="5943600" cy="768096"/>
          </a:xfrm>
          <a:prstGeom prst="rect">
            <a:avLst/>
          </a:prstGeom>
          <a:noFill/>
          <a:ln/>
        </p:spPr>
        <p:txBody>
          <a:bodyPr wrap="square" lIns="0" tIns="0" rIns="0" bIns="0" rtlCol="0" anchor="t"/>
          <a:lstStyle/>
          <a:p>
            <a:pPr indent="0" marL="0">
              <a:lnSpc>
                <a:spcPts val="1600"/>
              </a:lnSpc>
              <a:buNone/>
            </a:pPr>
            <a:r>
              <a:rPr lang="en-US" sz="1150" dirty="0">
                <a:solidFill>
                  <a:srgbClr val="3F5257"/>
                </a:solidFill>
                <a:latin typeface="Calibri" pitchFamily="34" charset="0"/>
                <a:ea typeface="Calibri" pitchFamily="34" charset="-122"/>
                <a:cs typeface="Calibri" pitchFamily="34" charset="-120"/>
              </a:rPr>
              <a:t>1.5 × 1.2 is 1.7999999999999998, so a patient at exactly 1.8 failed a ≤ 1.5× ULN bound — silently, precisely on the boundary the protocol cares about.</a:t>
            </a:r>
            <a:endParaRPr lang="en-US" sz="1150" dirty="0"/>
          </a:p>
        </p:txBody>
      </p:sp>
      <p:sp>
        <p:nvSpPr>
          <p:cNvPr id="12" name="Shape 10"/>
          <p:cNvSpPr/>
          <p:nvPr/>
        </p:nvSpPr>
        <p:spPr>
          <a:xfrm>
            <a:off x="594360" y="3785616"/>
            <a:ext cx="10972800" cy="1024128"/>
          </a:xfrm>
          <a:prstGeom prst="roundRect">
            <a:avLst>
              <a:gd name="adj" fmla="val 5357"/>
            </a:avLst>
          </a:prstGeom>
          <a:solidFill>
            <a:srgbClr val="FFFFFF"/>
          </a:solidFill>
          <a:ln w="12700">
            <a:solidFill>
              <a:srgbClr val="E2ECEF"/>
            </a:solidFill>
            <a:prstDash val="solid"/>
          </a:ln>
        </p:spPr>
      </p:sp>
      <p:sp>
        <p:nvSpPr>
          <p:cNvPr id="13" name="Shape 11"/>
          <p:cNvSpPr/>
          <p:nvPr/>
        </p:nvSpPr>
        <p:spPr>
          <a:xfrm>
            <a:off x="850392" y="4078224"/>
            <a:ext cx="118872" cy="118872"/>
          </a:xfrm>
          <a:prstGeom prst="ellipse">
            <a:avLst/>
          </a:prstGeom>
          <a:solidFill>
            <a:srgbClr val="0E7A8C"/>
          </a:solidFill>
          <a:ln w="12700">
            <a:solidFill>
              <a:srgbClr val="0E7A8C"/>
            </a:solidFill>
            <a:prstDash val="solid"/>
          </a:ln>
        </p:spPr>
      </p:sp>
      <p:sp>
        <p:nvSpPr>
          <p:cNvPr id="14" name="Text 12"/>
          <p:cNvSpPr/>
          <p:nvPr/>
        </p:nvSpPr>
        <p:spPr>
          <a:xfrm>
            <a:off x="1106424" y="3950208"/>
            <a:ext cx="4206240" cy="365760"/>
          </a:xfrm>
          <a:prstGeom prst="rect">
            <a:avLst/>
          </a:prstGeom>
          <a:noFill/>
          <a:ln/>
        </p:spPr>
        <p:txBody>
          <a:bodyPr wrap="square" lIns="0" tIns="0" rIns="0" bIns="0" rtlCol="0" anchor="ctr"/>
          <a:lstStyle/>
          <a:p>
            <a:pPr indent="0" marL="0">
              <a:buNone/>
            </a:pPr>
            <a:r>
              <a:rPr lang="en-US" sz="1350" b="1" dirty="0">
                <a:solidFill>
                  <a:srgbClr val="07161A"/>
                </a:solidFill>
                <a:latin typeface="Calibri" pitchFamily="34" charset="0"/>
                <a:ea typeface="Calibri" pitchFamily="34" charset="-122"/>
                <a:cs typeface="Calibri" pitchFamily="34" charset="-120"/>
              </a:rPr>
              <a:t>A conjunction compiled as a disjunction</a:t>
            </a:r>
            <a:endParaRPr lang="en-US" sz="1350" dirty="0"/>
          </a:p>
        </p:txBody>
      </p:sp>
      <p:sp>
        <p:nvSpPr>
          <p:cNvPr id="15" name="Text 13"/>
          <p:cNvSpPr/>
          <p:nvPr/>
        </p:nvSpPr>
        <p:spPr>
          <a:xfrm>
            <a:off x="5440680" y="3931920"/>
            <a:ext cx="5943600" cy="768096"/>
          </a:xfrm>
          <a:prstGeom prst="rect">
            <a:avLst/>
          </a:prstGeom>
          <a:noFill/>
          <a:ln/>
        </p:spPr>
        <p:txBody>
          <a:bodyPr wrap="square" lIns="0" tIns="0" rIns="0" bIns="0" rtlCol="0" anchor="t"/>
          <a:lstStyle/>
          <a:p>
            <a:pPr indent="0" marL="0">
              <a:lnSpc>
                <a:spcPts val="1600"/>
              </a:lnSpc>
              <a:buNone/>
            </a:pPr>
            <a:r>
              <a:rPr lang="en-US" sz="1150" dirty="0">
                <a:solidFill>
                  <a:srgbClr val="3F5257"/>
                </a:solidFill>
                <a:latin typeface="Calibri" pitchFamily="34" charset="0"/>
                <a:ea typeface="Calibri" pitchFamily="34" charset="-122"/>
                <a:cs typeface="Calibri" pitchFamily="34" charset="-120"/>
              </a:rPr>
              <a:t>“AST and ALT ≤ 3× ULN” shared one predicate group, so a passing AST masked a failing ALT.</a:t>
            </a:r>
            <a:endParaRPr lang="en-US" sz="1150" dirty="0"/>
          </a:p>
        </p:txBody>
      </p:sp>
      <p:sp>
        <p:nvSpPr>
          <p:cNvPr id="16" name="Shape 14"/>
          <p:cNvSpPr/>
          <p:nvPr/>
        </p:nvSpPr>
        <p:spPr>
          <a:xfrm>
            <a:off x="594360" y="4956048"/>
            <a:ext cx="10972800" cy="1024128"/>
          </a:xfrm>
          <a:prstGeom prst="roundRect">
            <a:avLst>
              <a:gd name="adj" fmla="val 5357"/>
            </a:avLst>
          </a:prstGeom>
          <a:solidFill>
            <a:srgbClr val="FFFFFF"/>
          </a:solidFill>
          <a:ln w="12700">
            <a:solidFill>
              <a:srgbClr val="E2ECEF"/>
            </a:solidFill>
            <a:prstDash val="solid"/>
          </a:ln>
        </p:spPr>
      </p:sp>
      <p:sp>
        <p:nvSpPr>
          <p:cNvPr id="17" name="Shape 15"/>
          <p:cNvSpPr/>
          <p:nvPr/>
        </p:nvSpPr>
        <p:spPr>
          <a:xfrm>
            <a:off x="850392" y="5248656"/>
            <a:ext cx="118872" cy="118872"/>
          </a:xfrm>
          <a:prstGeom prst="ellipse">
            <a:avLst/>
          </a:prstGeom>
          <a:solidFill>
            <a:srgbClr val="0E7A8C"/>
          </a:solidFill>
          <a:ln w="12700">
            <a:solidFill>
              <a:srgbClr val="0E7A8C"/>
            </a:solidFill>
            <a:prstDash val="solid"/>
          </a:ln>
        </p:spPr>
      </p:sp>
      <p:sp>
        <p:nvSpPr>
          <p:cNvPr id="18" name="Text 16"/>
          <p:cNvSpPr/>
          <p:nvPr/>
        </p:nvSpPr>
        <p:spPr>
          <a:xfrm>
            <a:off x="1106424" y="5120640"/>
            <a:ext cx="4206240" cy="365760"/>
          </a:xfrm>
          <a:prstGeom prst="rect">
            <a:avLst/>
          </a:prstGeom>
          <a:noFill/>
          <a:ln/>
        </p:spPr>
        <p:txBody>
          <a:bodyPr wrap="square" lIns="0" tIns="0" rIns="0" bIns="0" rtlCol="0" anchor="ctr"/>
          <a:lstStyle/>
          <a:p>
            <a:pPr indent="0" marL="0">
              <a:buNone/>
            </a:pPr>
            <a:r>
              <a:rPr lang="en-US" sz="1350" b="1" dirty="0">
                <a:solidFill>
                  <a:srgbClr val="07161A"/>
                </a:solidFill>
                <a:latin typeface="Calibri" pitchFamily="34" charset="0"/>
                <a:ea typeface="Calibri" pitchFamily="34" charset="-122"/>
                <a:cs typeface="Calibri" pitchFamily="34" charset="-120"/>
              </a:rPr>
              <a:t>QTc in seconds never converted</a:t>
            </a:r>
            <a:endParaRPr lang="en-US" sz="1350" dirty="0"/>
          </a:p>
        </p:txBody>
      </p:sp>
      <p:sp>
        <p:nvSpPr>
          <p:cNvPr id="19" name="Text 17"/>
          <p:cNvSpPr/>
          <p:nvPr/>
        </p:nvSpPr>
        <p:spPr>
          <a:xfrm>
            <a:off x="5440680" y="5102352"/>
            <a:ext cx="5943600" cy="768096"/>
          </a:xfrm>
          <a:prstGeom prst="rect">
            <a:avLst/>
          </a:prstGeom>
          <a:noFill/>
          <a:ln/>
        </p:spPr>
        <p:txBody>
          <a:bodyPr wrap="square" lIns="0" tIns="0" rIns="0" bIns="0" rtlCol="0" anchor="t"/>
          <a:lstStyle/>
          <a:p>
            <a:pPr indent="0" marL="0">
              <a:lnSpc>
                <a:spcPts val="1600"/>
              </a:lnSpc>
              <a:buNone/>
            </a:pPr>
            <a:r>
              <a:rPr lang="en-US" sz="1150" dirty="0">
                <a:solidFill>
                  <a:srgbClr val="3F5257"/>
                </a:solidFill>
                <a:latin typeface="Calibri" pitchFamily="34" charset="0"/>
                <a:ea typeface="Calibri" pitchFamily="34" charset="-122"/>
                <a:cs typeface="Calibri" pitchFamily="34" charset="-120"/>
              </a:rPr>
              <a:t>0.485 s read as 0.485 ms.</a:t>
            </a:r>
            <a:endParaRPr lang="en-US" sz="1150" dirty="0"/>
          </a:p>
        </p:txBody>
      </p:sp>
      <p:sp>
        <p:nvSpPr>
          <p:cNvPr id="20" name="Text 18"/>
          <p:cNvSpPr/>
          <p:nvPr/>
        </p:nvSpPr>
        <p:spPr>
          <a:xfrm>
            <a:off x="594360" y="6199632"/>
            <a:ext cx="10972800" cy="457200"/>
          </a:xfrm>
          <a:prstGeom prst="rect">
            <a:avLst/>
          </a:prstGeom>
          <a:noFill/>
          <a:ln/>
        </p:spPr>
        <p:txBody>
          <a:bodyPr wrap="square" lIns="0" tIns="0" rIns="0" bIns="0" rtlCol="0" anchor="t"/>
          <a:lstStyle/>
          <a:p>
            <a:pPr indent="0" marL="0">
              <a:lnSpc>
                <a:spcPts val="1500"/>
              </a:lnSpc>
              <a:buNone/>
            </a:pPr>
            <a:r>
              <a:rPr lang="en-US" sz="1100" dirty="0">
                <a:solidFill>
                  <a:srgbClr val="74898E"/>
                </a:solidFill>
                <a:latin typeface="Calibri" pitchFamily="34" charset="0"/>
                <a:ea typeface="Calibri" pitchFamily="34" charset="-122"/>
                <a:cs typeface="Calibri" pitchFamily="34" charset="-120"/>
              </a:rPr>
              <a:t>Also: a documented “never received” ignored · a parent drug class emitted alongside its child · an abbreviation counted as a second analyte · two names for one concept across two modules. Three of my own gold labels were wrong and are corrected in place, with the reasoning recorded.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5F6E"/>
        </a:solidFill>
      </p:bgPr>
    </p:bg>
    <p:spTree>
      <p:nvGrpSpPr>
        <p:cNvPr id="1" name=""/>
        <p:cNvGrpSpPr/>
        <p:nvPr/>
      </p:nvGrpSpPr>
      <p:grpSpPr>
        <a:xfrm>
          <a:off x="0" y="0"/>
          <a:ext cx="0" cy="0"/>
          <a:chOff x="0" y="0"/>
          <a:chExt cx="0" cy="0"/>
        </a:xfrm>
      </p:grpSpPr>
      <p:sp>
        <p:nvSpPr>
          <p:cNvPr id="2" name="Text 0"/>
          <p:cNvSpPr/>
          <p:nvPr/>
        </p:nvSpPr>
        <p:spPr>
          <a:xfrm>
            <a:off x="594360" y="182880"/>
            <a:ext cx="10972800" cy="237744"/>
          </a:xfrm>
          <a:prstGeom prst="rect">
            <a:avLst/>
          </a:prstGeom>
          <a:noFill/>
          <a:ln/>
        </p:spPr>
        <p:txBody>
          <a:bodyPr wrap="square" lIns="0" tIns="0" rIns="0" bIns="0" rtlCol="0" anchor="ctr"/>
          <a:lstStyle/>
          <a:p>
            <a:pPr indent="0" marL="0">
              <a:buNone/>
            </a:pPr>
            <a:r>
              <a:rPr lang="en-US" sz="1150" b="1" spc="160" kern="0" dirty="0">
                <a:solidFill>
                  <a:srgbClr val="95DEEA"/>
                </a:solidFill>
                <a:latin typeface="Calibri" pitchFamily="34" charset="0"/>
                <a:ea typeface="Calibri" pitchFamily="34" charset="-122"/>
                <a:cs typeface="Calibri" pitchFamily="34" charset="-120"/>
              </a:rPr>
              <a:t>METRIC 9.3  ·  COST AND LATENCY</a:t>
            </a:r>
            <a:endParaRPr lang="en-US" sz="1150" dirty="0"/>
          </a:p>
        </p:txBody>
      </p:sp>
      <p:sp>
        <p:nvSpPr>
          <p:cNvPr id="3" name="Text 1"/>
          <p:cNvSpPr/>
          <p:nvPr/>
        </p:nvSpPr>
        <p:spPr>
          <a:xfrm>
            <a:off x="594360" y="420624"/>
            <a:ext cx="1097280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At query time this is Python, not inference</a:t>
            </a:r>
            <a:endParaRPr lang="en-US" sz="3200" dirty="0"/>
          </a:p>
        </p:txBody>
      </p:sp>
      <p:sp>
        <p:nvSpPr>
          <p:cNvPr id="4" name="Shape 2"/>
          <p:cNvSpPr/>
          <p:nvPr/>
        </p:nvSpPr>
        <p:spPr>
          <a:xfrm>
            <a:off x="594360" y="1554480"/>
            <a:ext cx="3474720" cy="1691640"/>
          </a:xfrm>
          <a:prstGeom prst="roundRect">
            <a:avLst>
              <a:gd name="adj" fmla="val 3243"/>
            </a:avLst>
          </a:prstGeom>
          <a:solidFill>
            <a:srgbClr val="0D6C7D"/>
          </a:solidFill>
          <a:ln w="12700">
            <a:solidFill>
              <a:srgbClr val="1B8397"/>
            </a:solidFill>
            <a:prstDash val="solid"/>
          </a:ln>
        </p:spPr>
      </p:sp>
      <p:sp>
        <p:nvSpPr>
          <p:cNvPr id="5" name="Text 3"/>
          <p:cNvSpPr/>
          <p:nvPr/>
        </p:nvSpPr>
        <p:spPr>
          <a:xfrm>
            <a:off x="850392" y="1773936"/>
            <a:ext cx="2962656" cy="731520"/>
          </a:xfrm>
          <a:prstGeom prst="rect">
            <a:avLst/>
          </a:prstGeom>
          <a:noFill/>
          <a:ln/>
        </p:spPr>
        <p:txBody>
          <a:bodyPr wrap="square" lIns="0" tIns="0" rIns="0" bIns="0" rtlCol="0" anchor="ctr"/>
          <a:lstStyle/>
          <a:p>
            <a:pPr indent="0" marL="0">
              <a:buNone/>
            </a:pPr>
            <a:r>
              <a:rPr lang="en-US" sz="4400" b="1" dirty="0">
                <a:solidFill>
                  <a:srgbClr val="95DEEA"/>
                </a:solidFill>
                <a:latin typeface="Cambria" pitchFamily="34" charset="0"/>
                <a:ea typeface="Cambria" pitchFamily="34" charset="-122"/>
                <a:cs typeface="Cambria" pitchFamily="34" charset="-120"/>
              </a:rPr>
              <a:t>0</a:t>
            </a:r>
            <a:endParaRPr lang="en-US" sz="4400" dirty="0"/>
          </a:p>
        </p:txBody>
      </p:sp>
      <p:sp>
        <p:nvSpPr>
          <p:cNvPr id="6" name="Text 4"/>
          <p:cNvSpPr/>
          <p:nvPr/>
        </p:nvSpPr>
        <p:spPr>
          <a:xfrm>
            <a:off x="850392" y="2542032"/>
            <a:ext cx="2962656" cy="548640"/>
          </a:xfrm>
          <a:prstGeom prst="rect">
            <a:avLst/>
          </a:prstGeom>
          <a:noFill/>
          <a:ln/>
        </p:spPr>
        <p:txBody>
          <a:bodyPr wrap="square" lIns="0" tIns="0" rIns="0" bIns="0" rtlCol="0" anchor="t"/>
          <a:lstStyle/>
          <a:p>
            <a:pPr indent="0" marL="0">
              <a:lnSpc>
                <a:spcPts val="1700"/>
              </a:lnSpc>
              <a:buNone/>
            </a:pPr>
            <a:r>
              <a:rPr lang="en-US" sz="1250" dirty="0">
                <a:solidFill>
                  <a:srgbClr val="C2ECF3"/>
                </a:solidFill>
                <a:latin typeface="Calibri" pitchFamily="34" charset="0"/>
                <a:ea typeface="Calibri" pitchFamily="34" charset="-122"/>
                <a:cs typeface="Calibri" pitchFamily="34" charset="-120"/>
              </a:rPr>
              <a:t>model calls per patient query</a:t>
            </a:r>
            <a:endParaRPr lang="en-US" sz="1250" dirty="0"/>
          </a:p>
        </p:txBody>
      </p:sp>
      <p:sp>
        <p:nvSpPr>
          <p:cNvPr id="7" name="Shape 5"/>
          <p:cNvSpPr/>
          <p:nvPr/>
        </p:nvSpPr>
        <p:spPr>
          <a:xfrm>
            <a:off x="4343400" y="1554480"/>
            <a:ext cx="3474720" cy="1691640"/>
          </a:xfrm>
          <a:prstGeom prst="roundRect">
            <a:avLst>
              <a:gd name="adj" fmla="val 3243"/>
            </a:avLst>
          </a:prstGeom>
          <a:solidFill>
            <a:srgbClr val="0D6C7D"/>
          </a:solidFill>
          <a:ln w="12700">
            <a:solidFill>
              <a:srgbClr val="1B8397"/>
            </a:solidFill>
            <a:prstDash val="solid"/>
          </a:ln>
        </p:spPr>
      </p:sp>
      <p:sp>
        <p:nvSpPr>
          <p:cNvPr id="8" name="Text 6"/>
          <p:cNvSpPr/>
          <p:nvPr/>
        </p:nvSpPr>
        <p:spPr>
          <a:xfrm>
            <a:off x="4599432" y="1773936"/>
            <a:ext cx="2962656" cy="731520"/>
          </a:xfrm>
          <a:prstGeom prst="rect">
            <a:avLst/>
          </a:prstGeom>
          <a:noFill/>
          <a:ln/>
        </p:spPr>
        <p:txBody>
          <a:bodyPr wrap="square" lIns="0" tIns="0" rIns="0" bIns="0" rtlCol="0" anchor="ctr"/>
          <a:lstStyle/>
          <a:p>
            <a:pPr indent="0" marL="0">
              <a:buNone/>
            </a:pPr>
            <a:r>
              <a:rPr lang="en-US" sz="4400" b="1" dirty="0">
                <a:solidFill>
                  <a:srgbClr val="95DEEA"/>
                </a:solidFill>
                <a:latin typeface="Cambria" pitchFamily="34" charset="0"/>
                <a:ea typeface="Cambria" pitchFamily="34" charset="-122"/>
                <a:cs typeface="Cambria" pitchFamily="34" charset="-120"/>
              </a:rPr>
              <a:t>65 ms</a:t>
            </a:r>
            <a:endParaRPr lang="en-US" sz="4400" dirty="0"/>
          </a:p>
        </p:txBody>
      </p:sp>
      <p:sp>
        <p:nvSpPr>
          <p:cNvPr id="9" name="Text 7"/>
          <p:cNvSpPr/>
          <p:nvPr/>
        </p:nvSpPr>
        <p:spPr>
          <a:xfrm>
            <a:off x="4599432" y="2542032"/>
            <a:ext cx="2962656" cy="548640"/>
          </a:xfrm>
          <a:prstGeom prst="rect">
            <a:avLst/>
          </a:prstGeom>
          <a:noFill/>
          <a:ln/>
        </p:spPr>
        <p:txBody>
          <a:bodyPr wrap="square" lIns="0" tIns="0" rIns="0" bIns="0" rtlCol="0" anchor="t"/>
          <a:lstStyle/>
          <a:p>
            <a:pPr indent="0" marL="0">
              <a:lnSpc>
                <a:spcPts val="1700"/>
              </a:lnSpc>
              <a:buNone/>
            </a:pPr>
            <a:r>
              <a:rPr lang="en-US" sz="1250" dirty="0">
                <a:solidFill>
                  <a:srgbClr val="C2ECF3"/>
                </a:solidFill>
                <a:latin typeface="Calibri" pitchFamily="34" charset="0"/>
                <a:ea typeface="Calibri" pitchFamily="34" charset="-122"/>
                <a:cs typeface="Calibri" pitchFamily="34" charset="-120"/>
              </a:rPr>
              <a:t>median, to match one patient against all 500 trials</a:t>
            </a:r>
            <a:endParaRPr lang="en-US" sz="1250" dirty="0"/>
          </a:p>
        </p:txBody>
      </p:sp>
      <p:sp>
        <p:nvSpPr>
          <p:cNvPr id="10" name="Shape 8"/>
          <p:cNvSpPr/>
          <p:nvPr/>
        </p:nvSpPr>
        <p:spPr>
          <a:xfrm>
            <a:off x="8092440" y="1554480"/>
            <a:ext cx="3474720" cy="1691640"/>
          </a:xfrm>
          <a:prstGeom prst="roundRect">
            <a:avLst>
              <a:gd name="adj" fmla="val 3243"/>
            </a:avLst>
          </a:prstGeom>
          <a:solidFill>
            <a:srgbClr val="0D6C7D"/>
          </a:solidFill>
          <a:ln w="12700">
            <a:solidFill>
              <a:srgbClr val="1B8397"/>
            </a:solidFill>
            <a:prstDash val="solid"/>
          </a:ln>
        </p:spPr>
      </p:sp>
      <p:sp>
        <p:nvSpPr>
          <p:cNvPr id="11" name="Text 9"/>
          <p:cNvSpPr/>
          <p:nvPr/>
        </p:nvSpPr>
        <p:spPr>
          <a:xfrm>
            <a:off x="8348472" y="1773936"/>
            <a:ext cx="2962656" cy="731520"/>
          </a:xfrm>
          <a:prstGeom prst="rect">
            <a:avLst/>
          </a:prstGeom>
          <a:noFill/>
          <a:ln/>
        </p:spPr>
        <p:txBody>
          <a:bodyPr wrap="square" lIns="0" tIns="0" rIns="0" bIns="0" rtlCol="0" anchor="ctr"/>
          <a:lstStyle/>
          <a:p>
            <a:pPr indent="0" marL="0">
              <a:buNone/>
            </a:pPr>
            <a:r>
              <a:rPr lang="en-US" sz="4400" b="1" dirty="0">
                <a:solidFill>
                  <a:srgbClr val="95DEEA"/>
                </a:solidFill>
                <a:latin typeface="Cambria" pitchFamily="34" charset="0"/>
                <a:ea typeface="Cambria" pitchFamily="34" charset="-122"/>
                <a:cs typeface="Cambria" pitchFamily="34" charset="-120"/>
              </a:rPr>
              <a:t>$0.00</a:t>
            </a:r>
            <a:endParaRPr lang="en-US" sz="4400" dirty="0"/>
          </a:p>
        </p:txBody>
      </p:sp>
      <p:sp>
        <p:nvSpPr>
          <p:cNvPr id="12" name="Text 10"/>
          <p:cNvSpPr/>
          <p:nvPr/>
        </p:nvSpPr>
        <p:spPr>
          <a:xfrm>
            <a:off x="8348472" y="2542032"/>
            <a:ext cx="2962656" cy="548640"/>
          </a:xfrm>
          <a:prstGeom prst="rect">
            <a:avLst/>
          </a:prstGeom>
          <a:noFill/>
          <a:ln/>
        </p:spPr>
        <p:txBody>
          <a:bodyPr wrap="square" lIns="0" tIns="0" rIns="0" bIns="0" rtlCol="0" anchor="t"/>
          <a:lstStyle/>
          <a:p>
            <a:pPr indent="0" marL="0">
              <a:lnSpc>
                <a:spcPts val="1700"/>
              </a:lnSpc>
              <a:buNone/>
            </a:pPr>
            <a:r>
              <a:rPr lang="en-US" sz="1250" dirty="0">
                <a:solidFill>
                  <a:srgbClr val="C2ECF3"/>
                </a:solidFill>
                <a:latin typeface="Calibri" pitchFamily="34" charset="0"/>
                <a:ea typeface="Calibri" pitchFamily="34" charset="-122"/>
                <a:cs typeface="Calibri" pitchFamily="34" charset="-120"/>
              </a:rPr>
              <a:t>marginal cost per query</a:t>
            </a:r>
            <a:endParaRPr lang="en-US" sz="1250" dirty="0"/>
          </a:p>
        </p:txBody>
      </p:sp>
      <p:sp>
        <p:nvSpPr>
          <p:cNvPr id="13" name="Text 11"/>
          <p:cNvSpPr/>
          <p:nvPr/>
        </p:nvSpPr>
        <p:spPr>
          <a:xfrm>
            <a:off x="594360" y="3520440"/>
            <a:ext cx="1005840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Comparison of architecture, not of implementations</a:t>
            </a:r>
            <a:endParaRPr lang="en-US" sz="1300" dirty="0"/>
          </a:p>
        </p:txBody>
      </p:sp>
      <p:sp>
        <p:nvSpPr>
          <p:cNvPr id="14" name="Shape 12"/>
          <p:cNvSpPr/>
          <p:nvPr/>
        </p:nvSpPr>
        <p:spPr>
          <a:xfrm>
            <a:off x="594360" y="3950208"/>
            <a:ext cx="5349240" cy="1975104"/>
          </a:xfrm>
          <a:prstGeom prst="roundRect">
            <a:avLst>
              <a:gd name="adj" fmla="val 2778"/>
            </a:avLst>
          </a:prstGeom>
          <a:solidFill>
            <a:srgbClr val="0D6C7D"/>
          </a:solidFill>
          <a:ln w="12700">
            <a:solidFill>
              <a:srgbClr val="1B8397"/>
            </a:solidFill>
            <a:prstDash val="solid"/>
          </a:ln>
        </p:spPr>
      </p:sp>
      <p:sp>
        <p:nvSpPr>
          <p:cNvPr id="15" name="Text 13"/>
          <p:cNvSpPr/>
          <p:nvPr/>
        </p:nvSpPr>
        <p:spPr>
          <a:xfrm>
            <a:off x="868680" y="4133088"/>
            <a:ext cx="4800600" cy="292608"/>
          </a:xfrm>
          <a:prstGeom prst="rect">
            <a:avLst/>
          </a:prstGeom>
          <a:noFill/>
          <a:ln/>
        </p:spPr>
        <p:txBody>
          <a:bodyPr wrap="square" lIns="0" tIns="0" rIns="0" bIns="0" rtlCol="0" anchor="ctr"/>
          <a:lstStyle/>
          <a:p>
            <a:pPr indent="0" marL="0">
              <a:buNone/>
            </a:pPr>
            <a:r>
              <a:rPr lang="en-US" sz="1200" b="1" spc="80" kern="0" dirty="0">
                <a:solidFill>
                  <a:srgbClr val="E8AFA9"/>
                </a:solidFill>
                <a:latin typeface="Calibri" pitchFamily="34" charset="0"/>
                <a:ea typeface="Calibri" pitchFamily="34" charset="-122"/>
                <a:cs typeface="Calibri" pitchFamily="34" charset="-120"/>
              </a:rPr>
              <a:t>Kentucky pipeline</a:t>
            </a:r>
            <a:endParaRPr lang="en-US" sz="1200" dirty="0"/>
          </a:p>
        </p:txBody>
      </p:sp>
      <p:sp>
        <p:nvSpPr>
          <p:cNvPr id="16" name="Text 14"/>
          <p:cNvSpPr/>
          <p:nvPr/>
        </p:nvSpPr>
        <p:spPr>
          <a:xfrm>
            <a:off x="868680" y="4480560"/>
            <a:ext cx="2286000" cy="749808"/>
          </a:xfrm>
          <a:prstGeom prst="rect">
            <a:avLst/>
          </a:prstGeom>
          <a:noFill/>
          <a:ln/>
        </p:spPr>
        <p:txBody>
          <a:bodyPr wrap="square" lIns="0" tIns="0" rIns="0" bIns="0" rtlCol="0" anchor="ctr"/>
          <a:lstStyle/>
          <a:p>
            <a:pPr indent="0" marL="0">
              <a:buNone/>
            </a:pPr>
            <a:r>
              <a:rPr lang="en-US" sz="4200" b="1" dirty="0">
                <a:solidFill>
                  <a:srgbClr val="C86B62"/>
                </a:solidFill>
                <a:latin typeface="Cambria" pitchFamily="34" charset="0"/>
                <a:ea typeface="Cambria" pitchFamily="34" charset="-122"/>
                <a:cs typeface="Cambria" pitchFamily="34" charset="-120"/>
              </a:rPr>
              <a:t>~950</a:t>
            </a:r>
            <a:endParaRPr lang="en-US" sz="4200" dirty="0"/>
          </a:p>
        </p:txBody>
      </p:sp>
      <p:sp>
        <p:nvSpPr>
          <p:cNvPr id="17" name="Text 15"/>
          <p:cNvSpPr/>
          <p:nvPr/>
        </p:nvSpPr>
        <p:spPr>
          <a:xfrm>
            <a:off x="3108960" y="4718304"/>
            <a:ext cx="2560320" cy="457200"/>
          </a:xfrm>
          <a:prstGeom prst="rect">
            <a:avLst/>
          </a:prstGeom>
          <a:noFill/>
          <a:ln/>
        </p:spPr>
        <p:txBody>
          <a:bodyPr wrap="square" lIns="0" tIns="0" rIns="0" bIns="0" rtlCol="0" anchor="t"/>
          <a:lstStyle/>
          <a:p>
            <a:pPr indent="0" marL="0">
              <a:lnSpc>
                <a:spcPts val="1700"/>
              </a:lnSpc>
              <a:buNone/>
            </a:pPr>
            <a:r>
              <a:rPr lang="en-US" sz="1300" dirty="0">
                <a:solidFill>
                  <a:srgbClr val="C2ECF3"/>
                </a:solidFill>
                <a:latin typeface="Calibri" pitchFamily="34" charset="0"/>
                <a:ea typeface="Calibri" pitchFamily="34" charset="-122"/>
                <a:cs typeface="Calibri" pitchFamily="34" charset="-120"/>
              </a:rPr>
              <a:t>LLM calls per patient</a:t>
            </a:r>
            <a:endParaRPr lang="en-US" sz="1300" dirty="0"/>
          </a:p>
        </p:txBody>
      </p:sp>
      <p:sp>
        <p:nvSpPr>
          <p:cNvPr id="18" name="Text 16"/>
          <p:cNvSpPr/>
          <p:nvPr/>
        </p:nvSpPr>
        <p:spPr>
          <a:xfrm>
            <a:off x="868680" y="5303520"/>
            <a:ext cx="4800600" cy="420624"/>
          </a:xfrm>
          <a:prstGeom prst="rect">
            <a:avLst/>
          </a:prstGeom>
          <a:noFill/>
          <a:ln/>
        </p:spPr>
        <p:txBody>
          <a:bodyPr wrap="square" lIns="0" tIns="0" rIns="0" bIns="0" rtlCol="0" anchor="t"/>
          <a:lstStyle/>
          <a:p>
            <a:pPr indent="0" marL="0">
              <a:lnSpc>
                <a:spcPts val="1500"/>
              </a:lnSpc>
              <a:buNone/>
            </a:pPr>
            <a:r>
              <a:rPr lang="en-US" sz="1150" dirty="0">
                <a:solidFill>
                  <a:srgbClr val="95C6D2"/>
                </a:solidFill>
                <a:latin typeface="Calibri" pitchFamily="34" charset="0"/>
                <a:ea typeface="Calibri" pitchFamily="34" charset="-122"/>
                <a:cs typeface="Calibri" pitchFamily="34" charset="-120"/>
              </a:rPr>
              <a:t>one model call per candidate trial</a:t>
            </a:r>
            <a:endParaRPr lang="en-US" sz="1150" dirty="0"/>
          </a:p>
        </p:txBody>
      </p:sp>
      <p:sp>
        <p:nvSpPr>
          <p:cNvPr id="19" name="Shape 17"/>
          <p:cNvSpPr/>
          <p:nvPr/>
        </p:nvSpPr>
        <p:spPr>
          <a:xfrm>
            <a:off x="6217920" y="3950208"/>
            <a:ext cx="5349240" cy="1975104"/>
          </a:xfrm>
          <a:prstGeom prst="roundRect">
            <a:avLst>
              <a:gd name="adj" fmla="val 2778"/>
            </a:avLst>
          </a:prstGeom>
          <a:solidFill>
            <a:srgbClr val="0D6C7D"/>
          </a:solidFill>
          <a:ln w="12700">
            <a:solidFill>
              <a:srgbClr val="1B8397"/>
            </a:solidFill>
            <a:prstDash val="solid"/>
          </a:ln>
        </p:spPr>
      </p:sp>
      <p:sp>
        <p:nvSpPr>
          <p:cNvPr id="20" name="Text 18"/>
          <p:cNvSpPr/>
          <p:nvPr/>
        </p:nvSpPr>
        <p:spPr>
          <a:xfrm>
            <a:off x="6492240" y="4133088"/>
            <a:ext cx="4800600" cy="292608"/>
          </a:xfrm>
          <a:prstGeom prst="rect">
            <a:avLst/>
          </a:prstGeom>
          <a:noFill/>
          <a:ln/>
        </p:spPr>
        <p:txBody>
          <a:bodyPr wrap="square" lIns="0" tIns="0" rIns="0" bIns="0" rtlCol="0" anchor="ctr"/>
          <a:lstStyle/>
          <a:p>
            <a:pPr indent="0" marL="0">
              <a:buNone/>
            </a:pPr>
            <a:r>
              <a:rPr lang="en-US" sz="1200" b="1" spc="80" kern="0" dirty="0">
                <a:solidFill>
                  <a:srgbClr val="95DEEA"/>
                </a:solidFill>
                <a:latin typeface="Calibri" pitchFamily="34" charset="0"/>
                <a:ea typeface="Calibri" pitchFamily="34" charset="-122"/>
                <a:cs typeface="Calibri" pitchFamily="34" charset="-120"/>
              </a:rPr>
              <a:t>This system</a:t>
            </a:r>
            <a:endParaRPr lang="en-US" sz="1200" dirty="0"/>
          </a:p>
        </p:txBody>
      </p:sp>
      <p:sp>
        <p:nvSpPr>
          <p:cNvPr id="21" name="Text 19"/>
          <p:cNvSpPr/>
          <p:nvPr/>
        </p:nvSpPr>
        <p:spPr>
          <a:xfrm>
            <a:off x="6492240" y="4480560"/>
            <a:ext cx="2286000" cy="749808"/>
          </a:xfrm>
          <a:prstGeom prst="rect">
            <a:avLst/>
          </a:prstGeom>
          <a:noFill/>
          <a:ln/>
        </p:spPr>
        <p:txBody>
          <a:bodyPr wrap="square" lIns="0" tIns="0" rIns="0" bIns="0" rtlCol="0" anchor="ctr"/>
          <a:lstStyle/>
          <a:p>
            <a:pPr indent="0" marL="0">
              <a:buNone/>
            </a:pPr>
            <a:r>
              <a:rPr lang="en-US" sz="4200" b="1" dirty="0">
                <a:solidFill>
                  <a:srgbClr val="95DEEA"/>
                </a:solidFill>
                <a:latin typeface="Cambria" pitchFamily="34" charset="0"/>
                <a:ea typeface="Cambria" pitchFamily="34" charset="-122"/>
                <a:cs typeface="Cambria" pitchFamily="34" charset="-120"/>
              </a:rPr>
              <a:t>0</a:t>
            </a:r>
            <a:endParaRPr lang="en-US" sz="4200" dirty="0"/>
          </a:p>
        </p:txBody>
      </p:sp>
      <p:sp>
        <p:nvSpPr>
          <p:cNvPr id="22" name="Text 20"/>
          <p:cNvSpPr/>
          <p:nvPr/>
        </p:nvSpPr>
        <p:spPr>
          <a:xfrm>
            <a:off x="8732520" y="4718304"/>
            <a:ext cx="2560320" cy="457200"/>
          </a:xfrm>
          <a:prstGeom prst="rect">
            <a:avLst/>
          </a:prstGeom>
          <a:noFill/>
          <a:ln/>
        </p:spPr>
        <p:txBody>
          <a:bodyPr wrap="square" lIns="0" tIns="0" rIns="0" bIns="0" rtlCol="0" anchor="t"/>
          <a:lstStyle/>
          <a:p>
            <a:pPr indent="0" marL="0">
              <a:lnSpc>
                <a:spcPts val="1700"/>
              </a:lnSpc>
              <a:buNone/>
            </a:pPr>
            <a:r>
              <a:rPr lang="en-US" sz="1300" dirty="0">
                <a:solidFill>
                  <a:srgbClr val="C2ECF3"/>
                </a:solidFill>
                <a:latin typeface="Calibri" pitchFamily="34" charset="0"/>
                <a:ea typeface="Calibri" pitchFamily="34" charset="-122"/>
                <a:cs typeface="Calibri" pitchFamily="34" charset="-120"/>
              </a:rPr>
              <a:t>LLM calls per patient</a:t>
            </a:r>
            <a:endParaRPr lang="en-US" sz="1300" dirty="0"/>
          </a:p>
        </p:txBody>
      </p:sp>
      <p:sp>
        <p:nvSpPr>
          <p:cNvPr id="23" name="Text 21"/>
          <p:cNvSpPr/>
          <p:nvPr/>
        </p:nvSpPr>
        <p:spPr>
          <a:xfrm>
            <a:off x="6492240" y="5303520"/>
            <a:ext cx="4800600" cy="420624"/>
          </a:xfrm>
          <a:prstGeom prst="rect">
            <a:avLst/>
          </a:prstGeom>
          <a:noFill/>
          <a:ln/>
        </p:spPr>
        <p:txBody>
          <a:bodyPr wrap="square" lIns="0" tIns="0" rIns="0" bIns="0" rtlCol="0" anchor="t"/>
          <a:lstStyle/>
          <a:p>
            <a:pPr indent="0" marL="0">
              <a:lnSpc>
                <a:spcPts val="1500"/>
              </a:lnSpc>
              <a:buNone/>
            </a:pPr>
            <a:r>
              <a:rPr lang="en-US" sz="1150" dirty="0">
                <a:solidFill>
                  <a:srgbClr val="95C6D2"/>
                </a:solidFill>
                <a:latin typeface="Calibri" pitchFamily="34" charset="0"/>
                <a:ea typeface="Calibri" pitchFamily="34" charset="-122"/>
                <a:cs typeface="Calibri" pitchFamily="34" charset="-120"/>
              </a:rPr>
              <a:t>predicates compiled once, then evaluated in Python</a:t>
            </a:r>
            <a:endParaRPr lang="en-US" sz="1150" dirty="0"/>
          </a:p>
        </p:txBody>
      </p:sp>
      <p:sp>
        <p:nvSpPr>
          <p:cNvPr id="24" name="Text 22"/>
          <p:cNvSpPr/>
          <p:nvPr/>
        </p:nvSpPr>
        <p:spPr>
          <a:xfrm>
            <a:off x="594360" y="6144768"/>
            <a:ext cx="10972800" cy="310896"/>
          </a:xfrm>
          <a:prstGeom prst="rect">
            <a:avLst/>
          </a:prstGeom>
          <a:noFill/>
          <a:ln/>
        </p:spPr>
        <p:txBody>
          <a:bodyPr wrap="square" lIns="0" tIns="0" rIns="0" bIns="0" rtlCol="0" anchor="ctr"/>
          <a:lstStyle/>
          <a:p>
            <a:pPr indent="0" marL="0">
              <a:buNone/>
            </a:pPr>
            <a:r>
              <a:rPr lang="en-US" sz="1100" i="1" dirty="0">
                <a:solidFill>
                  <a:srgbClr val="95C6D2"/>
                </a:solidFill>
                <a:latin typeface="Calibri" pitchFamily="34" charset="0"/>
                <a:ea typeface="Calibri" pitchFamily="34" charset="-122"/>
                <a:cs typeface="Calibri" pitchFamily="34" charset="-120"/>
              </a:rPr>
              <a:t>Extraction is one call per patient and is cached, so the demo never touches the network.</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182880"/>
            <a:ext cx="10972800" cy="237744"/>
          </a:xfrm>
          <a:prstGeom prst="rect">
            <a:avLst/>
          </a:prstGeom>
          <a:noFill/>
          <a:ln/>
        </p:spPr>
        <p:txBody>
          <a:bodyPr wrap="square" lIns="0" tIns="0" rIns="0" bIns="0" rtlCol="0" anchor="ctr"/>
          <a:lstStyle/>
          <a:p>
            <a:pPr indent="0" marL="0">
              <a:buNone/>
            </a:pPr>
            <a:r>
              <a:rPr lang="en-US" sz="1150" b="1" spc="160" kern="0" dirty="0">
                <a:solidFill>
                  <a:srgbClr val="74898E"/>
                </a:solidFill>
                <a:latin typeface="Calibri" pitchFamily="34" charset="0"/>
                <a:ea typeface="Calibri" pitchFamily="34" charset="-122"/>
                <a:cs typeface="Calibri" pitchFamily="34" charset="-120"/>
              </a:rPr>
              <a:t>THE OUTPUT</a:t>
            </a:r>
            <a:endParaRPr lang="en-US" sz="1150" dirty="0"/>
          </a:p>
        </p:txBody>
      </p:sp>
      <p:sp>
        <p:nvSpPr>
          <p:cNvPr id="3" name="Text 1"/>
          <p:cNvSpPr/>
          <p:nvPr/>
        </p:nvSpPr>
        <p:spPr>
          <a:xfrm>
            <a:off x="594360" y="384048"/>
            <a:ext cx="10972800" cy="731520"/>
          </a:xfrm>
          <a:prstGeom prst="rect">
            <a:avLst/>
          </a:prstGeom>
          <a:noFill/>
          <a:ln/>
        </p:spPr>
        <p:txBody>
          <a:bodyPr wrap="square" lIns="0" tIns="0" rIns="0" bIns="0" rtlCol="0" anchor="t"/>
          <a:lstStyle/>
          <a:p>
            <a:pPr indent="0" marL="0">
              <a:buNone/>
            </a:pPr>
            <a:r>
              <a:rPr lang="en-US" sz="3400" b="1" dirty="0">
                <a:solidFill>
                  <a:srgbClr val="07161A"/>
                </a:solidFill>
                <a:latin typeface="Cambria" pitchFamily="34" charset="0"/>
                <a:ea typeface="Cambria" pitchFamily="34" charset="-122"/>
                <a:cs typeface="Cambria" pitchFamily="34" charset="-120"/>
              </a:rPr>
              <a:t>Four states, and a date instead of a label</a:t>
            </a:r>
            <a:endParaRPr lang="en-US" sz="3400" dirty="0"/>
          </a:p>
        </p:txBody>
      </p:sp>
      <p:sp>
        <p:nvSpPr>
          <p:cNvPr id="4" name="Shape 2"/>
          <p:cNvSpPr/>
          <p:nvPr/>
        </p:nvSpPr>
        <p:spPr>
          <a:xfrm>
            <a:off x="594360" y="1417320"/>
            <a:ext cx="2537460" cy="2286000"/>
          </a:xfrm>
          <a:prstGeom prst="roundRect">
            <a:avLst>
              <a:gd name="adj" fmla="val 2400"/>
            </a:avLst>
          </a:prstGeom>
          <a:solidFill>
            <a:srgbClr val="EDF6F1"/>
          </a:solidFill>
          <a:ln w="12700">
            <a:solidFill>
              <a:srgbClr val="0E6B3E"/>
            </a:solidFill>
            <a:prstDash val="solid"/>
          </a:ln>
        </p:spPr>
      </p:sp>
      <p:sp>
        <p:nvSpPr>
          <p:cNvPr id="5" name="Text 3"/>
          <p:cNvSpPr/>
          <p:nvPr/>
        </p:nvSpPr>
        <p:spPr>
          <a:xfrm>
            <a:off x="813816" y="1572768"/>
            <a:ext cx="2098548" cy="658368"/>
          </a:xfrm>
          <a:prstGeom prst="rect">
            <a:avLst/>
          </a:prstGeom>
          <a:noFill/>
          <a:ln/>
        </p:spPr>
        <p:txBody>
          <a:bodyPr wrap="square" lIns="0" tIns="0" rIns="0" bIns="0" rtlCol="0" anchor="ctr"/>
          <a:lstStyle/>
          <a:p>
            <a:pPr indent="0" marL="0">
              <a:buNone/>
            </a:pPr>
            <a:r>
              <a:rPr lang="en-US" sz="3600" b="1" dirty="0">
                <a:solidFill>
                  <a:srgbClr val="0E6B3E"/>
                </a:solidFill>
                <a:latin typeface="Cambria" pitchFamily="34" charset="0"/>
                <a:ea typeface="Cambria" pitchFamily="34" charset="-122"/>
                <a:cs typeface="Cambria" pitchFamily="34" charset="-120"/>
              </a:rPr>
              <a:t>42</a:t>
            </a:r>
            <a:endParaRPr lang="en-US" sz="3600" dirty="0"/>
          </a:p>
        </p:txBody>
      </p:sp>
      <p:sp>
        <p:nvSpPr>
          <p:cNvPr id="6" name="Text 4"/>
          <p:cNvSpPr/>
          <p:nvPr/>
        </p:nvSpPr>
        <p:spPr>
          <a:xfrm>
            <a:off x="813816" y="2267712"/>
            <a:ext cx="2098548" cy="329184"/>
          </a:xfrm>
          <a:prstGeom prst="rect">
            <a:avLst/>
          </a:prstGeom>
          <a:noFill/>
          <a:ln/>
        </p:spPr>
        <p:txBody>
          <a:bodyPr wrap="square" lIns="0" tIns="0" rIns="0" bIns="0" rtlCol="0" anchor="ctr"/>
          <a:lstStyle/>
          <a:p>
            <a:pPr indent="0" marL="0">
              <a:buNone/>
            </a:pPr>
            <a:r>
              <a:rPr lang="en-US" sz="1300" b="1" dirty="0">
                <a:solidFill>
                  <a:srgbClr val="07161A"/>
                </a:solidFill>
                <a:latin typeface="Calibri" pitchFamily="34" charset="0"/>
                <a:ea typeface="Calibri" pitchFamily="34" charset="-122"/>
                <a:cs typeface="Calibri" pitchFamily="34" charset="-120"/>
              </a:rPr>
              <a:t>Eligible now</a:t>
            </a:r>
            <a:endParaRPr lang="en-US" sz="1300" dirty="0"/>
          </a:p>
        </p:txBody>
      </p:sp>
      <p:sp>
        <p:nvSpPr>
          <p:cNvPr id="7" name="Text 5"/>
          <p:cNvSpPr/>
          <p:nvPr/>
        </p:nvSpPr>
        <p:spPr>
          <a:xfrm>
            <a:off x="813816" y="2615184"/>
            <a:ext cx="2098548" cy="914400"/>
          </a:xfrm>
          <a:prstGeom prst="rect">
            <a:avLst/>
          </a:prstGeom>
          <a:noFill/>
          <a:ln/>
        </p:spPr>
        <p:txBody>
          <a:bodyPr wrap="square" lIns="0" tIns="0" rIns="0" bIns="0" rtlCol="0" anchor="t"/>
          <a:lstStyle/>
          <a:p>
            <a:pPr indent="0" marL="0">
              <a:lnSpc>
                <a:spcPts val="1500"/>
              </a:lnSpc>
              <a:buNone/>
            </a:pPr>
            <a:r>
              <a:rPr lang="en-US" sz="1100" dirty="0">
                <a:solidFill>
                  <a:srgbClr val="3F5257"/>
                </a:solidFill>
                <a:latin typeface="Calibri" pitchFamily="34" charset="0"/>
                <a:ea typeface="Calibri" pitchFamily="34" charset="-122"/>
                <a:cs typeface="Calibri" pitchFamily="34" charset="-120"/>
              </a:rPr>
              <a:t>every criterion satisfied</a:t>
            </a:r>
            <a:endParaRPr lang="en-US" sz="1100" dirty="0"/>
          </a:p>
        </p:txBody>
      </p:sp>
      <p:sp>
        <p:nvSpPr>
          <p:cNvPr id="8" name="Shape 6"/>
          <p:cNvSpPr/>
          <p:nvPr/>
        </p:nvSpPr>
        <p:spPr>
          <a:xfrm>
            <a:off x="3406140" y="1417320"/>
            <a:ext cx="2537460" cy="2286000"/>
          </a:xfrm>
          <a:prstGeom prst="roundRect">
            <a:avLst>
              <a:gd name="adj" fmla="val 2400"/>
            </a:avLst>
          </a:prstGeom>
          <a:solidFill>
            <a:srgbClr val="F2FBFC"/>
          </a:solidFill>
          <a:ln w="12700">
            <a:solidFill>
              <a:srgbClr val="0E7A8C"/>
            </a:solidFill>
            <a:prstDash val="solid"/>
          </a:ln>
        </p:spPr>
      </p:sp>
      <p:sp>
        <p:nvSpPr>
          <p:cNvPr id="9" name="Text 7"/>
          <p:cNvSpPr/>
          <p:nvPr/>
        </p:nvSpPr>
        <p:spPr>
          <a:xfrm>
            <a:off x="3625596" y="1572768"/>
            <a:ext cx="2098548" cy="658368"/>
          </a:xfrm>
          <a:prstGeom prst="rect">
            <a:avLst/>
          </a:prstGeom>
          <a:noFill/>
          <a:ln/>
        </p:spPr>
        <p:txBody>
          <a:bodyPr wrap="square" lIns="0" tIns="0" rIns="0" bIns="0" rtlCol="0" anchor="ctr"/>
          <a:lstStyle/>
          <a:p>
            <a:pPr indent="0" marL="0">
              <a:buNone/>
            </a:pPr>
            <a:r>
              <a:rPr lang="en-US" sz="3600" b="1" dirty="0">
                <a:solidFill>
                  <a:srgbClr val="0E7A8C"/>
                </a:solidFill>
                <a:latin typeface="Cambria" pitchFamily="34" charset="0"/>
                <a:ea typeface="Cambria" pitchFamily="34" charset="-122"/>
                <a:cs typeface="Cambria" pitchFamily="34" charset="-120"/>
              </a:rPr>
              <a:t>2</a:t>
            </a:r>
            <a:endParaRPr lang="en-US" sz="3600" dirty="0"/>
          </a:p>
        </p:txBody>
      </p:sp>
      <p:sp>
        <p:nvSpPr>
          <p:cNvPr id="10" name="Text 8"/>
          <p:cNvSpPr/>
          <p:nvPr/>
        </p:nvSpPr>
        <p:spPr>
          <a:xfrm>
            <a:off x="3625596" y="2267712"/>
            <a:ext cx="2098548" cy="329184"/>
          </a:xfrm>
          <a:prstGeom prst="rect">
            <a:avLst/>
          </a:prstGeom>
          <a:noFill/>
          <a:ln/>
        </p:spPr>
        <p:txBody>
          <a:bodyPr wrap="square" lIns="0" tIns="0" rIns="0" bIns="0" rtlCol="0" anchor="ctr"/>
          <a:lstStyle/>
          <a:p>
            <a:pPr indent="0" marL="0">
              <a:buNone/>
            </a:pPr>
            <a:r>
              <a:rPr lang="en-US" sz="1300" b="1" dirty="0">
                <a:solidFill>
                  <a:srgbClr val="07161A"/>
                </a:solidFill>
                <a:latin typeface="Calibri" pitchFamily="34" charset="0"/>
                <a:ea typeface="Calibri" pitchFamily="34" charset="-122"/>
                <a:cs typeface="Calibri" pitchFamily="34" charset="-120"/>
              </a:rPr>
              <a:t>Eligible on a date</a:t>
            </a:r>
            <a:endParaRPr lang="en-US" sz="1300" dirty="0"/>
          </a:p>
        </p:txBody>
      </p:sp>
      <p:sp>
        <p:nvSpPr>
          <p:cNvPr id="11" name="Text 9"/>
          <p:cNvSpPr/>
          <p:nvPr/>
        </p:nvSpPr>
        <p:spPr>
          <a:xfrm>
            <a:off x="3625596" y="2615184"/>
            <a:ext cx="2098548" cy="914400"/>
          </a:xfrm>
          <a:prstGeom prst="rect">
            <a:avLst/>
          </a:prstGeom>
          <a:noFill/>
          <a:ln/>
        </p:spPr>
        <p:txBody>
          <a:bodyPr wrap="square" lIns="0" tIns="0" rIns="0" bIns="0" rtlCol="0" anchor="t"/>
          <a:lstStyle/>
          <a:p>
            <a:pPr indent="0" marL="0">
              <a:lnSpc>
                <a:spcPts val="1500"/>
              </a:lnSpc>
              <a:buNone/>
            </a:pPr>
            <a:r>
              <a:rPr lang="en-US" sz="1100" dirty="0">
                <a:solidFill>
                  <a:srgbClr val="3F5257"/>
                </a:solidFill>
                <a:latin typeface="Calibri" pitchFamily="34" charset="0"/>
                <a:ea typeface="Calibri" pitchFamily="34" charset="-122"/>
                <a:cs typeface="Calibri" pitchFamily="34" charset="-120"/>
              </a:rPr>
              <a:t>blocked only by a washout; reports the date and the anchor</a:t>
            </a:r>
            <a:endParaRPr lang="en-US" sz="1100" dirty="0"/>
          </a:p>
        </p:txBody>
      </p:sp>
      <p:sp>
        <p:nvSpPr>
          <p:cNvPr id="12" name="Shape 10"/>
          <p:cNvSpPr/>
          <p:nvPr/>
        </p:nvSpPr>
        <p:spPr>
          <a:xfrm>
            <a:off x="6217920" y="1417320"/>
            <a:ext cx="2537460" cy="2286000"/>
          </a:xfrm>
          <a:prstGeom prst="roundRect">
            <a:avLst>
              <a:gd name="adj" fmla="val 2400"/>
            </a:avLst>
          </a:prstGeom>
          <a:solidFill>
            <a:srgbClr val="F1F5F6"/>
          </a:solidFill>
          <a:ln w="12700">
            <a:solidFill>
              <a:srgbClr val="55656A"/>
            </a:solidFill>
            <a:prstDash val="solid"/>
          </a:ln>
        </p:spPr>
      </p:sp>
      <p:sp>
        <p:nvSpPr>
          <p:cNvPr id="13" name="Text 11"/>
          <p:cNvSpPr/>
          <p:nvPr/>
        </p:nvSpPr>
        <p:spPr>
          <a:xfrm>
            <a:off x="6437376" y="1572768"/>
            <a:ext cx="2098548" cy="658368"/>
          </a:xfrm>
          <a:prstGeom prst="rect">
            <a:avLst/>
          </a:prstGeom>
          <a:noFill/>
          <a:ln/>
        </p:spPr>
        <p:txBody>
          <a:bodyPr wrap="square" lIns="0" tIns="0" rIns="0" bIns="0" rtlCol="0" anchor="ctr"/>
          <a:lstStyle/>
          <a:p>
            <a:pPr indent="0" marL="0">
              <a:buNone/>
            </a:pPr>
            <a:r>
              <a:rPr lang="en-US" sz="3600" b="1" dirty="0">
                <a:solidFill>
                  <a:srgbClr val="55656A"/>
                </a:solidFill>
                <a:latin typeface="Cambria" pitchFamily="34" charset="0"/>
                <a:ea typeface="Cambria" pitchFamily="34" charset="-122"/>
                <a:cs typeface="Cambria" pitchFamily="34" charset="-120"/>
              </a:rPr>
              <a:t>35</a:t>
            </a:r>
            <a:endParaRPr lang="en-US" sz="3600" dirty="0"/>
          </a:p>
        </p:txBody>
      </p:sp>
      <p:sp>
        <p:nvSpPr>
          <p:cNvPr id="14" name="Text 12"/>
          <p:cNvSpPr/>
          <p:nvPr/>
        </p:nvSpPr>
        <p:spPr>
          <a:xfrm>
            <a:off x="6437376" y="2267712"/>
            <a:ext cx="2098548" cy="329184"/>
          </a:xfrm>
          <a:prstGeom prst="rect">
            <a:avLst/>
          </a:prstGeom>
          <a:noFill/>
          <a:ln/>
        </p:spPr>
        <p:txBody>
          <a:bodyPr wrap="square" lIns="0" tIns="0" rIns="0" bIns="0" rtlCol="0" anchor="ctr"/>
          <a:lstStyle/>
          <a:p>
            <a:pPr indent="0" marL="0">
              <a:buNone/>
            </a:pPr>
            <a:r>
              <a:rPr lang="en-US" sz="1300" b="1" dirty="0">
                <a:solidFill>
                  <a:srgbClr val="07161A"/>
                </a:solidFill>
                <a:latin typeface="Calibri" pitchFamily="34" charset="0"/>
                <a:ea typeface="Calibri" pitchFamily="34" charset="-122"/>
                <a:cs typeface="Calibri" pitchFamily="34" charset="-120"/>
              </a:rPr>
              <a:t>Undetermined</a:t>
            </a:r>
            <a:endParaRPr lang="en-US" sz="1300" dirty="0"/>
          </a:p>
        </p:txBody>
      </p:sp>
      <p:sp>
        <p:nvSpPr>
          <p:cNvPr id="15" name="Text 13"/>
          <p:cNvSpPr/>
          <p:nvPr/>
        </p:nvSpPr>
        <p:spPr>
          <a:xfrm>
            <a:off x="6437376" y="2615184"/>
            <a:ext cx="2098548" cy="914400"/>
          </a:xfrm>
          <a:prstGeom prst="rect">
            <a:avLst/>
          </a:prstGeom>
          <a:noFill/>
          <a:ln/>
        </p:spPr>
        <p:txBody>
          <a:bodyPr wrap="square" lIns="0" tIns="0" rIns="0" bIns="0" rtlCol="0" anchor="t"/>
          <a:lstStyle/>
          <a:p>
            <a:pPr indent="0" marL="0">
              <a:lnSpc>
                <a:spcPts val="1500"/>
              </a:lnSpc>
              <a:buNone/>
            </a:pPr>
            <a:r>
              <a:rPr lang="en-US" sz="1100" dirty="0">
                <a:solidFill>
                  <a:srgbClr val="3F5257"/>
                </a:solidFill>
                <a:latin typeface="Calibri" pitchFamily="34" charset="0"/>
                <a:ea typeface="Calibri" pitchFamily="34" charset="-122"/>
                <a:cs typeface="Calibri" pitchFamily="34" charset="-120"/>
              </a:rPr>
              <a:t>no hard block, but data is missing — lists exactly which</a:t>
            </a:r>
            <a:endParaRPr lang="en-US" sz="1100" dirty="0"/>
          </a:p>
        </p:txBody>
      </p:sp>
      <p:sp>
        <p:nvSpPr>
          <p:cNvPr id="16" name="Shape 14"/>
          <p:cNvSpPr/>
          <p:nvPr/>
        </p:nvSpPr>
        <p:spPr>
          <a:xfrm>
            <a:off x="9029700" y="1417320"/>
            <a:ext cx="2537460" cy="2286000"/>
          </a:xfrm>
          <a:prstGeom prst="roundRect">
            <a:avLst>
              <a:gd name="adj" fmla="val 2400"/>
            </a:avLst>
          </a:prstGeom>
          <a:solidFill>
            <a:srgbClr val="FDF0EF"/>
          </a:solidFill>
          <a:ln w="12700">
            <a:solidFill>
              <a:srgbClr val="A81F17"/>
            </a:solidFill>
            <a:prstDash val="solid"/>
          </a:ln>
        </p:spPr>
      </p:sp>
      <p:sp>
        <p:nvSpPr>
          <p:cNvPr id="17" name="Text 15"/>
          <p:cNvSpPr/>
          <p:nvPr/>
        </p:nvSpPr>
        <p:spPr>
          <a:xfrm>
            <a:off x="9249156" y="1572768"/>
            <a:ext cx="2098548" cy="658368"/>
          </a:xfrm>
          <a:prstGeom prst="rect">
            <a:avLst/>
          </a:prstGeom>
          <a:noFill/>
          <a:ln/>
        </p:spPr>
        <p:txBody>
          <a:bodyPr wrap="square" lIns="0" tIns="0" rIns="0" bIns="0" rtlCol="0" anchor="ctr"/>
          <a:lstStyle/>
          <a:p>
            <a:pPr indent="0" marL="0">
              <a:buNone/>
            </a:pPr>
            <a:r>
              <a:rPr lang="en-US" sz="3600" b="1" dirty="0">
                <a:solidFill>
                  <a:srgbClr val="A81F17"/>
                </a:solidFill>
                <a:latin typeface="Cambria" pitchFamily="34" charset="0"/>
                <a:ea typeface="Cambria" pitchFamily="34" charset="-122"/>
                <a:cs typeface="Cambria" pitchFamily="34" charset="-120"/>
              </a:rPr>
              <a:t>421</a:t>
            </a:r>
            <a:endParaRPr lang="en-US" sz="3600" dirty="0"/>
          </a:p>
        </p:txBody>
      </p:sp>
      <p:sp>
        <p:nvSpPr>
          <p:cNvPr id="18" name="Text 16"/>
          <p:cNvSpPr/>
          <p:nvPr/>
        </p:nvSpPr>
        <p:spPr>
          <a:xfrm>
            <a:off x="9249156" y="2267712"/>
            <a:ext cx="2098548" cy="329184"/>
          </a:xfrm>
          <a:prstGeom prst="rect">
            <a:avLst/>
          </a:prstGeom>
          <a:noFill/>
          <a:ln/>
        </p:spPr>
        <p:txBody>
          <a:bodyPr wrap="square" lIns="0" tIns="0" rIns="0" bIns="0" rtlCol="0" anchor="ctr"/>
          <a:lstStyle/>
          <a:p>
            <a:pPr indent="0" marL="0">
              <a:buNone/>
            </a:pPr>
            <a:r>
              <a:rPr lang="en-US" sz="1300" b="1" dirty="0">
                <a:solidFill>
                  <a:srgbClr val="07161A"/>
                </a:solidFill>
                <a:latin typeface="Calibri" pitchFamily="34" charset="0"/>
                <a:ea typeface="Calibri" pitchFamily="34" charset="-122"/>
                <a:cs typeface="Calibri" pitchFamily="34" charset="-120"/>
              </a:rPr>
              <a:t>Blocked</a:t>
            </a:r>
            <a:endParaRPr lang="en-US" sz="1300" dirty="0"/>
          </a:p>
        </p:txBody>
      </p:sp>
      <p:sp>
        <p:nvSpPr>
          <p:cNvPr id="19" name="Text 17"/>
          <p:cNvSpPr/>
          <p:nvPr/>
        </p:nvSpPr>
        <p:spPr>
          <a:xfrm>
            <a:off x="9249156" y="2615184"/>
            <a:ext cx="2098548" cy="914400"/>
          </a:xfrm>
          <a:prstGeom prst="rect">
            <a:avLst/>
          </a:prstGeom>
          <a:noFill/>
          <a:ln/>
        </p:spPr>
        <p:txBody>
          <a:bodyPr wrap="square" lIns="0" tIns="0" rIns="0" bIns="0" rtlCol="0" anchor="t"/>
          <a:lstStyle/>
          <a:p>
            <a:pPr indent="0" marL="0">
              <a:lnSpc>
                <a:spcPts val="1500"/>
              </a:lnSpc>
              <a:buNone/>
            </a:pPr>
            <a:r>
              <a:rPr lang="en-US" sz="1100" dirty="0">
                <a:solidFill>
                  <a:srgbClr val="3F5257"/>
                </a:solidFill>
                <a:latin typeface="Calibri" pitchFamily="34" charset="0"/>
                <a:ea typeface="Calibri" pitchFamily="34" charset="-122"/>
                <a:cs typeface="Calibri" pitchFamily="34" charset="-120"/>
              </a:rPr>
              <a:t>an immutable criterion fails; one-line reason</a:t>
            </a:r>
            <a:endParaRPr lang="en-US" sz="1100" dirty="0"/>
          </a:p>
        </p:txBody>
      </p:sp>
      <p:sp>
        <p:nvSpPr>
          <p:cNvPr id="20" name="Shape 18"/>
          <p:cNvSpPr/>
          <p:nvPr/>
        </p:nvSpPr>
        <p:spPr>
          <a:xfrm>
            <a:off x="594360" y="3931920"/>
            <a:ext cx="6766560" cy="1965960"/>
          </a:xfrm>
          <a:prstGeom prst="roundRect">
            <a:avLst>
              <a:gd name="adj" fmla="val 2791"/>
            </a:avLst>
          </a:prstGeom>
          <a:solidFill>
            <a:srgbClr val="F2FBFC"/>
          </a:solidFill>
          <a:ln w="12700">
            <a:solidFill>
              <a:srgbClr val="E2ECEF"/>
            </a:solidFill>
            <a:prstDash val="solid"/>
          </a:ln>
        </p:spPr>
      </p:sp>
      <p:sp>
        <p:nvSpPr>
          <p:cNvPr id="21" name="Text 19"/>
          <p:cNvSpPr/>
          <p:nvPr/>
        </p:nvSpPr>
        <p:spPr>
          <a:xfrm>
            <a:off x="850392" y="4096512"/>
            <a:ext cx="6217920" cy="292608"/>
          </a:xfrm>
          <a:prstGeom prst="rect">
            <a:avLst/>
          </a:prstGeom>
          <a:noFill/>
          <a:ln/>
        </p:spPr>
        <p:txBody>
          <a:bodyPr wrap="square" lIns="0" tIns="0" rIns="0" bIns="0" rtlCol="0" anchor="ctr"/>
          <a:lstStyle/>
          <a:p>
            <a:pPr indent="0" marL="0">
              <a:buNone/>
            </a:pPr>
            <a:r>
              <a:rPr lang="en-US" sz="1300" b="1" dirty="0">
                <a:solidFill>
                  <a:srgbClr val="07161A"/>
                </a:solidFill>
                <a:latin typeface="Calibri" pitchFamily="34" charset="0"/>
                <a:ea typeface="Calibri" pitchFamily="34" charset="-122"/>
                <a:cs typeface="Calibri" pitchFamily="34" charset="-120"/>
              </a:rPr>
              <a:t>The date is computed, not guessed</a:t>
            </a:r>
            <a:endParaRPr lang="en-US" sz="1300" dirty="0"/>
          </a:p>
        </p:txBody>
      </p:sp>
      <p:sp>
        <p:nvSpPr>
          <p:cNvPr id="22" name="Text 20"/>
          <p:cNvSpPr/>
          <p:nvPr/>
        </p:nvSpPr>
        <p:spPr>
          <a:xfrm>
            <a:off x="850392" y="4443984"/>
            <a:ext cx="6217920" cy="310896"/>
          </a:xfrm>
          <a:prstGeom prst="rect">
            <a:avLst/>
          </a:prstGeom>
          <a:noFill/>
          <a:ln/>
        </p:spPr>
        <p:txBody>
          <a:bodyPr wrap="square" lIns="0" tIns="0" rIns="0" bIns="0" rtlCol="0" anchor="ctr"/>
          <a:lstStyle/>
          <a:p>
            <a:pPr indent="0" marL="0">
              <a:buNone/>
            </a:pPr>
            <a:r>
              <a:rPr lang="en-US" sz="1350" b="1" dirty="0">
                <a:solidFill>
                  <a:srgbClr val="0E7A8C"/>
                </a:solidFill>
                <a:latin typeface="Calibri" pitchFamily="34" charset="0"/>
                <a:ea typeface="Calibri" pitchFamily="34" charset="-122"/>
                <a:cs typeface="Calibri" pitchFamily="34" charset="-120"/>
              </a:rPr>
              <a:t>last dose 19 Aug 2026  +  4-week washout  →  eligible 16 Sep 2026</a:t>
            </a:r>
            <a:endParaRPr lang="en-US" sz="1350" dirty="0"/>
          </a:p>
        </p:txBody>
      </p:sp>
      <p:sp>
        <p:nvSpPr>
          <p:cNvPr id="23" name="Text 21"/>
          <p:cNvSpPr/>
          <p:nvPr/>
        </p:nvSpPr>
        <p:spPr>
          <a:xfrm>
            <a:off x="850392" y="4846320"/>
            <a:ext cx="6217920" cy="914400"/>
          </a:xfrm>
          <a:prstGeom prst="rect">
            <a:avLst/>
          </a:prstGeom>
          <a:noFill/>
          <a:ln/>
        </p:spPr>
        <p:txBody>
          <a:bodyPr wrap="square" lIns="0" tIns="0" rIns="0" bIns="0" rtlCol="0" anchor="t"/>
          <a:lstStyle/>
          <a:p>
            <a:pPr indent="0" marL="0">
              <a:lnSpc>
                <a:spcPts val="1600"/>
              </a:lnSpc>
              <a:buNone/>
            </a:pPr>
            <a:r>
              <a:rPr lang="en-US" sz="1150" dirty="0">
                <a:solidFill>
                  <a:srgbClr val="3F5257"/>
                </a:solidFill>
                <a:latin typeface="Calibri" pitchFamily="34" charset="0"/>
                <a:ea typeface="Calibri" pitchFamily="34" charset="-122"/>
                <a:cs typeface="Calibri" pitchFamily="34" charset="-120"/>
              </a:rPr>
              <a:t>Calendar arithmetic, not 30-day months: six months from 31 Aug is 28 Feb, and 31 Jan + 1 month clamps to 28 Feb — 29 Feb in a leap year. If the anchor date is absent the verdict is Undetermined, never an estimate.</a:t>
            </a:r>
            <a:endParaRPr lang="en-US" sz="1150" dirty="0"/>
          </a:p>
        </p:txBody>
      </p:sp>
      <p:sp>
        <p:nvSpPr>
          <p:cNvPr id="24" name="Shape 22"/>
          <p:cNvSpPr/>
          <p:nvPr/>
        </p:nvSpPr>
        <p:spPr>
          <a:xfrm>
            <a:off x="7635240" y="3931920"/>
            <a:ext cx="3931920" cy="1965960"/>
          </a:xfrm>
          <a:prstGeom prst="roundRect">
            <a:avLst>
              <a:gd name="adj" fmla="val 2791"/>
            </a:avLst>
          </a:prstGeom>
          <a:solidFill>
            <a:srgbClr val="F2FBFC"/>
          </a:solidFill>
          <a:ln w="12700">
            <a:solidFill>
              <a:srgbClr val="E2ECEF"/>
            </a:solidFill>
            <a:prstDash val="solid"/>
          </a:ln>
        </p:spPr>
      </p:sp>
      <p:sp>
        <p:nvSpPr>
          <p:cNvPr id="25" name="Text 23"/>
          <p:cNvSpPr/>
          <p:nvPr/>
        </p:nvSpPr>
        <p:spPr>
          <a:xfrm>
            <a:off x="7891272" y="4096512"/>
            <a:ext cx="3474720" cy="292608"/>
          </a:xfrm>
          <a:prstGeom prst="rect">
            <a:avLst/>
          </a:prstGeom>
          <a:noFill/>
          <a:ln/>
        </p:spPr>
        <p:txBody>
          <a:bodyPr wrap="square" lIns="0" tIns="0" rIns="0" bIns="0" rtlCol="0" anchor="ctr"/>
          <a:lstStyle/>
          <a:p>
            <a:pPr indent="0" marL="0">
              <a:buNone/>
            </a:pPr>
            <a:r>
              <a:rPr lang="en-US" sz="1300" b="1" dirty="0">
                <a:solidFill>
                  <a:srgbClr val="07161A"/>
                </a:solidFill>
                <a:latin typeface="Calibri" pitchFamily="34" charset="0"/>
                <a:ea typeface="Calibri" pitchFamily="34" charset="-122"/>
                <a:cs typeface="Calibri" pitchFamily="34" charset="-120"/>
              </a:rPr>
              <a:t>Missing-data panel</a:t>
            </a:r>
            <a:endParaRPr lang="en-US" sz="1300" dirty="0"/>
          </a:p>
        </p:txBody>
      </p:sp>
      <p:sp>
        <p:nvSpPr>
          <p:cNvPr id="26" name="Text 24"/>
          <p:cNvSpPr/>
          <p:nvPr/>
        </p:nvSpPr>
        <p:spPr>
          <a:xfrm>
            <a:off x="7891272" y="4443984"/>
            <a:ext cx="3474720" cy="457200"/>
          </a:xfrm>
          <a:prstGeom prst="rect">
            <a:avLst/>
          </a:prstGeom>
          <a:noFill/>
          <a:ln/>
        </p:spPr>
        <p:txBody>
          <a:bodyPr wrap="square" lIns="0" tIns="0" rIns="0" bIns="0" rtlCol="0" anchor="t"/>
          <a:lstStyle/>
          <a:p>
            <a:pPr indent="0" marL="0">
              <a:lnSpc>
                <a:spcPts val="1700"/>
              </a:lnSpc>
              <a:buNone/>
            </a:pPr>
            <a:r>
              <a:rPr lang="en-US" sz="1250" b="1" dirty="0">
                <a:solidFill>
                  <a:srgbClr val="0A5F6E"/>
                </a:solidFill>
                <a:latin typeface="Calibri" pitchFamily="34" charset="0"/>
                <a:ea typeface="Calibri" pitchFamily="34" charset="-122"/>
                <a:cs typeface="Calibri" pitchFamily="34" charset="-120"/>
              </a:rPr>
              <a:t>Order 4 tests to resolve 340 criteria across 220 trials.</a:t>
            </a:r>
            <a:endParaRPr lang="en-US" sz="1250" dirty="0"/>
          </a:p>
        </p:txBody>
      </p:sp>
      <p:sp>
        <p:nvSpPr>
          <p:cNvPr id="27" name="Text 25"/>
          <p:cNvSpPr/>
          <p:nvPr/>
        </p:nvSpPr>
        <p:spPr>
          <a:xfrm>
            <a:off x="7891272" y="4992624"/>
            <a:ext cx="3474720" cy="786384"/>
          </a:xfrm>
          <a:prstGeom prst="rect">
            <a:avLst/>
          </a:prstGeom>
          <a:noFill/>
          <a:ln/>
        </p:spPr>
        <p:txBody>
          <a:bodyPr wrap="square" lIns="0" tIns="0" rIns="0" bIns="0" rtlCol="0" anchor="t"/>
          <a:lstStyle/>
          <a:p>
            <a:pPr indent="0" marL="0">
              <a:lnSpc>
                <a:spcPts val="1500"/>
              </a:lnSpc>
              <a:buNone/>
            </a:pPr>
            <a:r>
              <a:rPr lang="en-US" sz="1100" dirty="0">
                <a:solidFill>
                  <a:srgbClr val="3F5257"/>
                </a:solidFill>
                <a:latin typeface="Calibri" pitchFamily="34" charset="0"/>
                <a:ea typeface="Calibri" pitchFamily="34" charset="-122"/>
                <a:cs typeface="Calibri" pitchFamily="34" charset="-120"/>
              </a:rPr>
              <a:t>Silence is not absence. A condition absent from the record is Undetermined, never “negative” — which is what makes this list actionable.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182880"/>
            <a:ext cx="10972800" cy="237744"/>
          </a:xfrm>
          <a:prstGeom prst="rect">
            <a:avLst/>
          </a:prstGeom>
          <a:noFill/>
          <a:ln/>
        </p:spPr>
        <p:txBody>
          <a:bodyPr wrap="square" lIns="0" tIns="0" rIns="0" bIns="0" rtlCol="0" anchor="ctr"/>
          <a:lstStyle/>
          <a:p>
            <a:pPr indent="0" marL="0">
              <a:buNone/>
            </a:pPr>
            <a:r>
              <a:rPr lang="en-US" sz="1150" b="1" spc="160" kern="0" dirty="0">
                <a:solidFill>
                  <a:srgbClr val="74898E"/>
                </a:solidFill>
                <a:latin typeface="Calibri" pitchFamily="34" charset="0"/>
                <a:ea typeface="Calibri" pitchFamily="34" charset="-122"/>
                <a:cs typeface="Calibri" pitchFamily="34" charset="-120"/>
              </a:rPr>
              <a:t>METRIC 9.4  ·  REPORTED, NOT LED WITH</a:t>
            </a:r>
            <a:endParaRPr lang="en-US" sz="1150" dirty="0"/>
          </a:p>
        </p:txBody>
      </p:sp>
      <p:sp>
        <p:nvSpPr>
          <p:cNvPr id="3" name="Text 1"/>
          <p:cNvSpPr/>
          <p:nvPr/>
        </p:nvSpPr>
        <p:spPr>
          <a:xfrm>
            <a:off x="594360" y="384048"/>
            <a:ext cx="10972800" cy="731520"/>
          </a:xfrm>
          <a:prstGeom prst="rect">
            <a:avLst/>
          </a:prstGeom>
          <a:noFill/>
          <a:ln/>
        </p:spPr>
        <p:txBody>
          <a:bodyPr wrap="square" lIns="0" tIns="0" rIns="0" bIns="0" rtlCol="0" anchor="t"/>
          <a:lstStyle/>
          <a:p>
            <a:pPr indent="0" marL="0">
              <a:buNone/>
            </a:pPr>
            <a:r>
              <a:rPr lang="en-US" sz="3400" b="1" dirty="0">
                <a:solidFill>
                  <a:srgbClr val="07161A"/>
                </a:solidFill>
                <a:latin typeface="Cambria" pitchFamily="34" charset="0"/>
                <a:ea typeface="Cambria" pitchFamily="34" charset="-122"/>
                <a:cs typeface="Cambria" pitchFamily="34" charset="-120"/>
              </a:rPr>
              <a:t>Ranking on TREC Clinical Trials 2022</a:t>
            </a:r>
            <a:endParaRPr lang="en-US" sz="3400" dirty="0"/>
          </a:p>
        </p:txBody>
      </p:sp>
      <p:sp>
        <p:nvSpPr>
          <p:cNvPr id="4" name="Text 2"/>
          <p:cNvSpPr/>
          <p:nvPr/>
        </p:nvSpPr>
        <p:spPr>
          <a:xfrm>
            <a:off x="594360" y="1444752"/>
            <a:ext cx="6309360" cy="292608"/>
          </a:xfrm>
          <a:prstGeom prst="rect">
            <a:avLst/>
          </a:prstGeom>
          <a:noFill/>
          <a:ln/>
        </p:spPr>
        <p:txBody>
          <a:bodyPr wrap="square" lIns="0" tIns="0" rIns="0" bIns="0" rtlCol="0" anchor="ctr"/>
          <a:lstStyle/>
          <a:p>
            <a:pPr indent="0" marL="0">
              <a:buNone/>
            </a:pPr>
            <a:r>
              <a:rPr lang="en-US" sz="1200" b="1" dirty="0">
                <a:solidFill>
                  <a:srgbClr val="07161A"/>
                </a:solidFill>
                <a:latin typeface="Calibri" pitchFamily="34" charset="0"/>
                <a:ea typeface="Calibri" pitchFamily="34" charset="-122"/>
                <a:cs typeface="Calibri" pitchFamily="34" charset="-120"/>
              </a:rPr>
              <a:t>NDCG@10  ·  50 topics, 12,682 candidate trials</a:t>
            </a:r>
            <a:endParaRPr lang="en-US" sz="1200" dirty="0"/>
          </a:p>
        </p:txBody>
      </p:sp>
      <p:sp>
        <p:nvSpPr>
          <p:cNvPr id="5" name="Text 3"/>
          <p:cNvSpPr/>
          <p:nvPr/>
        </p:nvSpPr>
        <p:spPr>
          <a:xfrm>
            <a:off x="594360" y="1828800"/>
            <a:ext cx="214884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Predicates only</a:t>
            </a:r>
            <a:endParaRPr lang="en-US" sz="1150" dirty="0"/>
          </a:p>
        </p:txBody>
      </p:sp>
      <p:sp>
        <p:nvSpPr>
          <p:cNvPr id="6" name="Shape 4"/>
          <p:cNvSpPr/>
          <p:nvPr/>
        </p:nvSpPr>
        <p:spPr>
          <a:xfrm>
            <a:off x="2880360" y="1892808"/>
            <a:ext cx="3246120" cy="182880"/>
          </a:xfrm>
          <a:prstGeom prst="rect">
            <a:avLst/>
          </a:prstGeom>
          <a:solidFill>
            <a:srgbClr val="F2FBFC"/>
          </a:solidFill>
          <a:ln w="12700">
            <a:solidFill>
              <a:srgbClr val="F2FBFC"/>
            </a:solidFill>
            <a:prstDash val="solid"/>
          </a:ln>
        </p:spPr>
      </p:sp>
      <p:sp>
        <p:nvSpPr>
          <p:cNvPr id="7" name="Shape 5"/>
          <p:cNvSpPr/>
          <p:nvPr/>
        </p:nvSpPr>
        <p:spPr>
          <a:xfrm>
            <a:off x="2880360" y="1892808"/>
            <a:ext cx="61177" cy="182880"/>
          </a:xfrm>
          <a:prstGeom prst="rect">
            <a:avLst/>
          </a:prstGeom>
          <a:solidFill>
            <a:srgbClr val="55656A"/>
          </a:solidFill>
          <a:ln w="12700">
            <a:solidFill>
              <a:srgbClr val="55656A"/>
            </a:solidFill>
            <a:prstDash val="solid"/>
          </a:ln>
        </p:spPr>
      </p:sp>
      <p:sp>
        <p:nvSpPr>
          <p:cNvPr id="8" name="Text 6"/>
          <p:cNvSpPr/>
          <p:nvPr/>
        </p:nvSpPr>
        <p:spPr>
          <a:xfrm>
            <a:off x="6236208" y="1828800"/>
            <a:ext cx="658368" cy="292608"/>
          </a:xfrm>
          <a:prstGeom prst="rect">
            <a:avLst/>
          </a:prstGeom>
          <a:noFill/>
          <a:ln/>
        </p:spPr>
        <p:txBody>
          <a:bodyPr wrap="square" lIns="0" tIns="0" rIns="0" bIns="0" rtlCol="0" anchor="ctr"/>
          <a:lstStyle/>
          <a:p>
            <a:pPr indent="0" marL="0">
              <a:buNone/>
            </a:pPr>
            <a:r>
              <a:rPr lang="en-US" sz="1100" b="1" dirty="0">
                <a:solidFill>
                  <a:srgbClr val="07161A"/>
                </a:solidFill>
                <a:latin typeface="Calibri" pitchFamily="34" charset="0"/>
                <a:ea typeface="Calibri" pitchFamily="34" charset="-122"/>
                <a:cs typeface="Calibri" pitchFamily="34" charset="-120"/>
              </a:rPr>
              <a:t>0.015</a:t>
            </a:r>
            <a:endParaRPr lang="en-US" sz="1100" dirty="0"/>
          </a:p>
        </p:txBody>
      </p:sp>
      <p:sp>
        <p:nvSpPr>
          <p:cNvPr id="9" name="Text 7"/>
          <p:cNvSpPr/>
          <p:nvPr/>
        </p:nvSpPr>
        <p:spPr>
          <a:xfrm>
            <a:off x="594360" y="2395728"/>
            <a:ext cx="214884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BM25 only</a:t>
            </a:r>
            <a:endParaRPr lang="en-US" sz="1150" dirty="0"/>
          </a:p>
        </p:txBody>
      </p:sp>
      <p:sp>
        <p:nvSpPr>
          <p:cNvPr id="10" name="Shape 8"/>
          <p:cNvSpPr/>
          <p:nvPr/>
        </p:nvSpPr>
        <p:spPr>
          <a:xfrm>
            <a:off x="2880360" y="2459736"/>
            <a:ext cx="3246120" cy="182880"/>
          </a:xfrm>
          <a:prstGeom prst="rect">
            <a:avLst/>
          </a:prstGeom>
          <a:solidFill>
            <a:srgbClr val="F2FBFC"/>
          </a:solidFill>
          <a:ln w="12700">
            <a:solidFill>
              <a:srgbClr val="F2FBFC"/>
            </a:solidFill>
            <a:prstDash val="solid"/>
          </a:ln>
        </p:spPr>
      </p:sp>
      <p:sp>
        <p:nvSpPr>
          <p:cNvPr id="11" name="Shape 9"/>
          <p:cNvSpPr/>
          <p:nvPr/>
        </p:nvSpPr>
        <p:spPr>
          <a:xfrm>
            <a:off x="2880360" y="2459736"/>
            <a:ext cx="1258080" cy="182880"/>
          </a:xfrm>
          <a:prstGeom prst="rect">
            <a:avLst/>
          </a:prstGeom>
          <a:solidFill>
            <a:srgbClr val="0A5F6E"/>
          </a:solidFill>
          <a:ln w="12700">
            <a:solidFill>
              <a:srgbClr val="0A5F6E"/>
            </a:solidFill>
            <a:prstDash val="solid"/>
          </a:ln>
        </p:spPr>
      </p:sp>
      <p:sp>
        <p:nvSpPr>
          <p:cNvPr id="12" name="Text 10"/>
          <p:cNvSpPr/>
          <p:nvPr/>
        </p:nvSpPr>
        <p:spPr>
          <a:xfrm>
            <a:off x="6236208" y="2395728"/>
            <a:ext cx="658368" cy="292608"/>
          </a:xfrm>
          <a:prstGeom prst="rect">
            <a:avLst/>
          </a:prstGeom>
          <a:noFill/>
          <a:ln/>
        </p:spPr>
        <p:txBody>
          <a:bodyPr wrap="square" lIns="0" tIns="0" rIns="0" bIns="0" rtlCol="0" anchor="ctr"/>
          <a:lstStyle/>
          <a:p>
            <a:pPr indent="0" marL="0">
              <a:buNone/>
            </a:pPr>
            <a:r>
              <a:rPr lang="en-US" sz="1100" b="1" dirty="0">
                <a:solidFill>
                  <a:srgbClr val="07161A"/>
                </a:solidFill>
                <a:latin typeface="Calibri" pitchFamily="34" charset="0"/>
                <a:ea typeface="Calibri" pitchFamily="34" charset="-122"/>
                <a:cs typeface="Calibri" pitchFamily="34" charset="-120"/>
              </a:rPr>
              <a:t>0.302</a:t>
            </a:r>
            <a:endParaRPr lang="en-US" sz="1100" dirty="0"/>
          </a:p>
        </p:txBody>
      </p:sp>
      <p:sp>
        <p:nvSpPr>
          <p:cNvPr id="13" name="Text 11"/>
          <p:cNvSpPr/>
          <p:nvPr/>
        </p:nvSpPr>
        <p:spPr>
          <a:xfrm>
            <a:off x="594360" y="2962656"/>
            <a:ext cx="214884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Hybrid (α = 0.7)</a:t>
            </a:r>
            <a:endParaRPr lang="en-US" sz="1150" dirty="0"/>
          </a:p>
        </p:txBody>
      </p:sp>
      <p:sp>
        <p:nvSpPr>
          <p:cNvPr id="14" name="Shape 12"/>
          <p:cNvSpPr/>
          <p:nvPr/>
        </p:nvSpPr>
        <p:spPr>
          <a:xfrm>
            <a:off x="2880360" y="3026664"/>
            <a:ext cx="3246120" cy="182880"/>
          </a:xfrm>
          <a:prstGeom prst="rect">
            <a:avLst/>
          </a:prstGeom>
          <a:solidFill>
            <a:srgbClr val="F2FBFC"/>
          </a:solidFill>
          <a:ln w="12700">
            <a:solidFill>
              <a:srgbClr val="F2FBFC"/>
            </a:solidFill>
            <a:prstDash val="solid"/>
          </a:ln>
        </p:spPr>
      </p:sp>
      <p:sp>
        <p:nvSpPr>
          <p:cNvPr id="15" name="Shape 13"/>
          <p:cNvSpPr/>
          <p:nvPr/>
        </p:nvSpPr>
        <p:spPr>
          <a:xfrm>
            <a:off x="2880360" y="3026664"/>
            <a:ext cx="1498209" cy="182880"/>
          </a:xfrm>
          <a:prstGeom prst="rect">
            <a:avLst/>
          </a:prstGeom>
          <a:solidFill>
            <a:srgbClr val="0E6B3E"/>
          </a:solidFill>
          <a:ln w="12700">
            <a:solidFill>
              <a:srgbClr val="0E6B3E"/>
            </a:solidFill>
            <a:prstDash val="solid"/>
          </a:ln>
        </p:spPr>
      </p:sp>
      <p:sp>
        <p:nvSpPr>
          <p:cNvPr id="16" name="Text 14"/>
          <p:cNvSpPr/>
          <p:nvPr/>
        </p:nvSpPr>
        <p:spPr>
          <a:xfrm>
            <a:off x="6236208" y="2962656"/>
            <a:ext cx="658368" cy="292608"/>
          </a:xfrm>
          <a:prstGeom prst="rect">
            <a:avLst/>
          </a:prstGeom>
          <a:noFill/>
          <a:ln/>
        </p:spPr>
        <p:txBody>
          <a:bodyPr wrap="square" lIns="0" tIns="0" rIns="0" bIns="0" rtlCol="0" anchor="ctr"/>
          <a:lstStyle/>
          <a:p>
            <a:pPr indent="0" marL="0">
              <a:buNone/>
            </a:pPr>
            <a:r>
              <a:rPr lang="en-US" sz="1100" b="1" dirty="0">
                <a:solidFill>
                  <a:srgbClr val="07161A"/>
                </a:solidFill>
                <a:latin typeface="Calibri" pitchFamily="34" charset="0"/>
                <a:ea typeface="Calibri" pitchFamily="34" charset="-122"/>
                <a:cs typeface="Calibri" pitchFamily="34" charset="-120"/>
              </a:rPr>
              <a:t>0.360</a:t>
            </a:r>
            <a:endParaRPr lang="en-US" sz="1100" dirty="0"/>
          </a:p>
        </p:txBody>
      </p:sp>
      <p:sp>
        <p:nvSpPr>
          <p:cNvPr id="17" name="Text 15"/>
          <p:cNvSpPr/>
          <p:nvPr/>
        </p:nvSpPr>
        <p:spPr>
          <a:xfrm>
            <a:off x="594360" y="3529584"/>
            <a:ext cx="2148840" cy="292608"/>
          </a:xfrm>
          <a:prstGeom prst="rect">
            <a:avLst/>
          </a:prstGeom>
          <a:noFill/>
          <a:ln/>
        </p:spPr>
        <p:txBody>
          <a:bodyPr wrap="square" lIns="0" tIns="0" rIns="0" bIns="0" rtlCol="0" anchor="ctr"/>
          <a:lstStyle/>
          <a:p>
            <a:pPr indent="0" marL="0">
              <a:buNone/>
            </a:pPr>
            <a:r>
              <a:rPr lang="en-US" sz="1150" dirty="0">
                <a:solidFill>
                  <a:srgbClr val="3F5257"/>
                </a:solidFill>
                <a:latin typeface="Calibri" pitchFamily="34" charset="0"/>
                <a:ea typeface="Calibri" pitchFamily="34" charset="-122"/>
                <a:cs typeface="Calibri" pitchFamily="34" charset="-120"/>
              </a:rPr>
              <a:t>TrialGPT (published)</a:t>
            </a:r>
            <a:endParaRPr lang="en-US" sz="1150" dirty="0"/>
          </a:p>
        </p:txBody>
      </p:sp>
      <p:sp>
        <p:nvSpPr>
          <p:cNvPr id="18" name="Shape 16"/>
          <p:cNvSpPr/>
          <p:nvPr/>
        </p:nvSpPr>
        <p:spPr>
          <a:xfrm>
            <a:off x="2880360" y="3593592"/>
            <a:ext cx="3246120" cy="182880"/>
          </a:xfrm>
          <a:prstGeom prst="rect">
            <a:avLst/>
          </a:prstGeom>
          <a:solidFill>
            <a:srgbClr val="F2FBFC"/>
          </a:solidFill>
          <a:ln w="12700">
            <a:solidFill>
              <a:srgbClr val="F2FBFC"/>
            </a:solidFill>
            <a:prstDash val="solid"/>
          </a:ln>
        </p:spPr>
      </p:sp>
      <p:sp>
        <p:nvSpPr>
          <p:cNvPr id="19" name="Shape 17"/>
          <p:cNvSpPr/>
          <p:nvPr/>
        </p:nvSpPr>
        <p:spPr>
          <a:xfrm>
            <a:off x="2880360" y="3593592"/>
            <a:ext cx="3018059" cy="182880"/>
          </a:xfrm>
          <a:prstGeom prst="rect">
            <a:avLst/>
          </a:prstGeom>
          <a:solidFill>
            <a:srgbClr val="74898E"/>
          </a:solidFill>
          <a:ln w="12700">
            <a:solidFill>
              <a:srgbClr val="74898E"/>
            </a:solidFill>
            <a:prstDash val="solid"/>
          </a:ln>
        </p:spPr>
      </p:sp>
      <p:sp>
        <p:nvSpPr>
          <p:cNvPr id="20" name="Text 18"/>
          <p:cNvSpPr/>
          <p:nvPr/>
        </p:nvSpPr>
        <p:spPr>
          <a:xfrm>
            <a:off x="6236208" y="3529584"/>
            <a:ext cx="658368" cy="292608"/>
          </a:xfrm>
          <a:prstGeom prst="rect">
            <a:avLst/>
          </a:prstGeom>
          <a:noFill/>
          <a:ln/>
        </p:spPr>
        <p:txBody>
          <a:bodyPr wrap="square" lIns="0" tIns="0" rIns="0" bIns="0" rtlCol="0" anchor="ctr"/>
          <a:lstStyle/>
          <a:p>
            <a:pPr indent="0" marL="0">
              <a:buNone/>
            </a:pPr>
            <a:r>
              <a:rPr lang="en-US" sz="1100" b="1" dirty="0">
                <a:solidFill>
                  <a:srgbClr val="07161A"/>
                </a:solidFill>
                <a:latin typeface="Calibri" pitchFamily="34" charset="0"/>
                <a:ea typeface="Calibri" pitchFamily="34" charset="-122"/>
                <a:cs typeface="Calibri" pitchFamily="34" charset="-120"/>
              </a:rPr>
              <a:t>0.725</a:t>
            </a:r>
            <a:endParaRPr lang="en-US" sz="1100" dirty="0"/>
          </a:p>
        </p:txBody>
      </p:sp>
      <p:sp>
        <p:nvSpPr>
          <p:cNvPr id="21" name="Shape 19"/>
          <p:cNvSpPr/>
          <p:nvPr/>
        </p:nvSpPr>
        <p:spPr>
          <a:xfrm>
            <a:off x="594360" y="4434840"/>
            <a:ext cx="6309360" cy="1783080"/>
          </a:xfrm>
          <a:prstGeom prst="roundRect">
            <a:avLst>
              <a:gd name="adj" fmla="val 3077"/>
            </a:avLst>
          </a:prstGeom>
          <a:solidFill>
            <a:srgbClr val="EDF6F1"/>
          </a:solidFill>
          <a:ln w="12700">
            <a:solidFill>
              <a:srgbClr val="CFE6DA"/>
            </a:solidFill>
            <a:prstDash val="solid"/>
          </a:ln>
        </p:spPr>
      </p:sp>
      <p:sp>
        <p:nvSpPr>
          <p:cNvPr id="22" name="Text 20"/>
          <p:cNvSpPr/>
          <p:nvPr/>
        </p:nvSpPr>
        <p:spPr>
          <a:xfrm>
            <a:off x="832104" y="4572000"/>
            <a:ext cx="5852160" cy="292608"/>
          </a:xfrm>
          <a:prstGeom prst="rect">
            <a:avLst/>
          </a:prstGeom>
          <a:noFill/>
          <a:ln/>
        </p:spPr>
        <p:txBody>
          <a:bodyPr wrap="square" lIns="0" tIns="0" rIns="0" bIns="0" rtlCol="0" anchor="ctr"/>
          <a:lstStyle/>
          <a:p>
            <a:pPr indent="0" marL="0">
              <a:buNone/>
            </a:pPr>
            <a:r>
              <a:rPr lang="en-US" sz="1300" b="1" dirty="0">
                <a:solidFill>
                  <a:srgbClr val="0E6B3E"/>
                </a:solidFill>
                <a:latin typeface="Calibri" pitchFamily="34" charset="0"/>
                <a:ea typeface="Calibri" pitchFamily="34" charset="-122"/>
                <a:cs typeface="Calibri" pitchFamily="34" charset="-120"/>
              </a:rPr>
              <a:t>The finding worth keeping</a:t>
            </a:r>
            <a:endParaRPr lang="en-US" sz="1300" dirty="0"/>
          </a:p>
        </p:txBody>
      </p:sp>
      <p:sp>
        <p:nvSpPr>
          <p:cNvPr id="23" name="Text 21"/>
          <p:cNvSpPr/>
          <p:nvPr/>
        </p:nvSpPr>
        <p:spPr>
          <a:xfrm>
            <a:off x="832104" y="4919472"/>
            <a:ext cx="5852160" cy="1097280"/>
          </a:xfrm>
          <a:prstGeom prst="rect">
            <a:avLst/>
          </a:prstGeom>
          <a:noFill/>
          <a:ln/>
        </p:spPr>
        <p:txBody>
          <a:bodyPr wrap="square" lIns="0" tIns="0" rIns="0" bIns="0" rtlCol="0" anchor="t"/>
          <a:lstStyle/>
          <a:p>
            <a:pPr indent="0" marL="0">
              <a:lnSpc>
                <a:spcPts val="1600"/>
              </a:lnSpc>
              <a:buNone/>
            </a:pPr>
            <a:r>
              <a:rPr lang="en-US" sz="1150" dirty="0">
                <a:solidFill>
                  <a:srgbClr val="3F5257"/>
                </a:solidFill>
                <a:latin typeface="Calibri" pitchFamily="34" charset="0"/>
                <a:ea typeface="Calibri" pitchFamily="34" charset="-122"/>
                <a:cs typeface="Calibri" pitchFamily="34" charset="-120"/>
              </a:rPr>
              <a:t>The compiled predicates are worthless alone (0.0147), yet adding them to BM25 lifts NDCG@10 by +19% and P@10 by +32% relative. BM25 separates relevant from irrelevant; predicates separate eligible from excluded. Neither does the other's job.</a:t>
            </a:r>
            <a:endParaRPr lang="en-US" sz="1150" dirty="0"/>
          </a:p>
        </p:txBody>
      </p:sp>
      <p:sp>
        <p:nvSpPr>
          <p:cNvPr id="24" name="Shape 22"/>
          <p:cNvSpPr/>
          <p:nvPr/>
        </p:nvSpPr>
        <p:spPr>
          <a:xfrm>
            <a:off x="7178040" y="1417320"/>
            <a:ext cx="4389120" cy="4800600"/>
          </a:xfrm>
          <a:prstGeom prst="roundRect">
            <a:avLst>
              <a:gd name="adj" fmla="val 1250"/>
            </a:avLst>
          </a:prstGeom>
          <a:solidFill>
            <a:srgbClr val="F2FBFC"/>
          </a:solidFill>
          <a:ln w="12700">
            <a:solidFill>
              <a:srgbClr val="E2ECEF"/>
            </a:solidFill>
            <a:prstDash val="solid"/>
          </a:ln>
        </p:spPr>
      </p:sp>
      <p:sp>
        <p:nvSpPr>
          <p:cNvPr id="25" name="Text 23"/>
          <p:cNvSpPr/>
          <p:nvPr/>
        </p:nvSpPr>
        <p:spPr>
          <a:xfrm>
            <a:off x="7415784" y="1600200"/>
            <a:ext cx="3931920" cy="310896"/>
          </a:xfrm>
          <a:prstGeom prst="rect">
            <a:avLst/>
          </a:prstGeom>
          <a:noFill/>
          <a:ln/>
        </p:spPr>
        <p:txBody>
          <a:bodyPr wrap="square" lIns="0" tIns="0" rIns="0" bIns="0" rtlCol="0" anchor="ctr"/>
          <a:lstStyle/>
          <a:p>
            <a:pPr indent="0" marL="0">
              <a:buNone/>
            </a:pPr>
            <a:r>
              <a:rPr lang="en-US" sz="1300" b="1" dirty="0">
                <a:solidFill>
                  <a:srgbClr val="07161A"/>
                </a:solidFill>
                <a:latin typeface="Calibri" pitchFamily="34" charset="0"/>
                <a:ea typeface="Calibri" pitchFamily="34" charset="-122"/>
                <a:cs typeface="Calibri" pitchFamily="34" charset="-120"/>
              </a:rPr>
              <a:t>We are at roughly half of TrialGPT</a:t>
            </a:r>
            <a:endParaRPr lang="en-US" sz="1300" dirty="0"/>
          </a:p>
        </p:txBody>
      </p:sp>
      <p:sp>
        <p:nvSpPr>
          <p:cNvPr id="26" name="Text 24"/>
          <p:cNvSpPr/>
          <p:nvPr/>
        </p:nvSpPr>
        <p:spPr>
          <a:xfrm>
            <a:off x="7415784" y="1938528"/>
            <a:ext cx="3931920" cy="457200"/>
          </a:xfrm>
          <a:prstGeom prst="rect">
            <a:avLst/>
          </a:prstGeom>
          <a:noFill/>
          <a:ln/>
        </p:spPr>
        <p:txBody>
          <a:bodyPr wrap="square" lIns="0" tIns="0" rIns="0" bIns="0" rtlCol="0" anchor="t"/>
          <a:lstStyle/>
          <a:p>
            <a:pPr indent="0" marL="0">
              <a:lnSpc>
                <a:spcPts val="1500"/>
              </a:lnSpc>
              <a:buNone/>
            </a:pPr>
            <a:r>
              <a:rPr lang="en-US" sz="1100" dirty="0">
                <a:solidFill>
                  <a:srgbClr val="74898E"/>
                </a:solidFill>
                <a:latin typeface="Calibri" pitchFamily="34" charset="0"/>
                <a:ea typeface="Calibri" pitchFamily="34" charset="-122"/>
                <a:cs typeface="Calibri" pitchFamily="34" charset="-120"/>
              </a:rPr>
              <a:t>Four reasons, all of which a knowledgeable judge would raise unprompted:</a:t>
            </a:r>
            <a:endParaRPr lang="en-US" sz="1100" dirty="0"/>
          </a:p>
        </p:txBody>
      </p:sp>
      <p:sp>
        <p:nvSpPr>
          <p:cNvPr id="27" name="Text 25"/>
          <p:cNvSpPr/>
          <p:nvPr/>
        </p:nvSpPr>
        <p:spPr>
          <a:xfrm>
            <a:off x="7415784" y="2487168"/>
            <a:ext cx="274320" cy="274320"/>
          </a:xfrm>
          <a:prstGeom prst="rect">
            <a:avLst/>
          </a:prstGeom>
          <a:noFill/>
          <a:ln/>
        </p:spPr>
        <p:txBody>
          <a:bodyPr wrap="square" lIns="0" tIns="0" rIns="0" bIns="0" rtlCol="0" anchor="ctr"/>
          <a:lstStyle/>
          <a:p>
            <a:pPr indent="0" marL="0">
              <a:buNone/>
            </a:pPr>
            <a:r>
              <a:rPr lang="en-US" sz="1400" b="1" dirty="0">
                <a:solidFill>
                  <a:srgbClr val="0A5F6E"/>
                </a:solidFill>
                <a:latin typeface="Cambria" pitchFamily="34" charset="0"/>
                <a:ea typeface="Cambria" pitchFamily="34" charset="-122"/>
                <a:cs typeface="Cambria" pitchFamily="34" charset="-120"/>
              </a:rPr>
              <a:t>1</a:t>
            </a:r>
            <a:endParaRPr lang="en-US" sz="1400" dirty="0"/>
          </a:p>
        </p:txBody>
      </p:sp>
      <p:sp>
        <p:nvSpPr>
          <p:cNvPr id="28" name="Text 26"/>
          <p:cNvSpPr/>
          <p:nvPr/>
        </p:nvSpPr>
        <p:spPr>
          <a:xfrm>
            <a:off x="7744968" y="2468880"/>
            <a:ext cx="3566160" cy="896112"/>
          </a:xfrm>
          <a:prstGeom prst="rect">
            <a:avLst/>
          </a:prstGeom>
          <a:noFill/>
          <a:ln/>
        </p:spPr>
        <p:txBody>
          <a:bodyPr wrap="square" lIns="0" tIns="0" rIns="0" bIns="0" rtlCol="0" anchor="t"/>
          <a:lstStyle/>
          <a:p>
            <a:pPr indent="0" marL="0">
              <a:lnSpc>
                <a:spcPts val="1400"/>
              </a:lnSpc>
              <a:buNone/>
            </a:pPr>
            <a:r>
              <a:rPr lang="en-US" sz="1050" dirty="0">
                <a:solidFill>
                  <a:srgbClr val="3F5257"/>
                </a:solidFill>
                <a:latin typeface="Calibri" pitchFamily="34" charset="0"/>
                <a:ea typeface="Calibri" pitchFamily="34" charset="-122"/>
                <a:cs typeface="Calibri" pitchFamily="34" charset="-120"/>
              </a:rPr>
              <a:t>TrialGPT reranks with an LLM at criterion level. This uses zero model calls — a different class of system.</a:t>
            </a:r>
            <a:endParaRPr lang="en-US" sz="1050" dirty="0"/>
          </a:p>
        </p:txBody>
      </p:sp>
      <p:sp>
        <p:nvSpPr>
          <p:cNvPr id="29" name="Text 27"/>
          <p:cNvSpPr/>
          <p:nvPr/>
        </p:nvSpPr>
        <p:spPr>
          <a:xfrm>
            <a:off x="7415784" y="3419856"/>
            <a:ext cx="274320" cy="274320"/>
          </a:xfrm>
          <a:prstGeom prst="rect">
            <a:avLst/>
          </a:prstGeom>
          <a:noFill/>
          <a:ln/>
        </p:spPr>
        <p:txBody>
          <a:bodyPr wrap="square" lIns="0" tIns="0" rIns="0" bIns="0" rtlCol="0" anchor="ctr"/>
          <a:lstStyle/>
          <a:p>
            <a:pPr indent="0" marL="0">
              <a:buNone/>
            </a:pPr>
            <a:r>
              <a:rPr lang="en-US" sz="1400" b="1" dirty="0">
                <a:solidFill>
                  <a:srgbClr val="0A5F6E"/>
                </a:solidFill>
                <a:latin typeface="Cambria" pitchFamily="34" charset="0"/>
                <a:ea typeface="Cambria" pitchFamily="34" charset="-122"/>
                <a:cs typeface="Cambria" pitchFamily="34" charset="-120"/>
              </a:rPr>
              <a:t>2</a:t>
            </a:r>
            <a:endParaRPr lang="en-US" sz="1400" dirty="0"/>
          </a:p>
        </p:txBody>
      </p:sp>
      <p:sp>
        <p:nvSpPr>
          <p:cNvPr id="30" name="Text 28"/>
          <p:cNvSpPr/>
          <p:nvPr/>
        </p:nvSpPr>
        <p:spPr>
          <a:xfrm>
            <a:off x="7744968" y="3401568"/>
            <a:ext cx="3566160" cy="896112"/>
          </a:xfrm>
          <a:prstGeom prst="rect">
            <a:avLst/>
          </a:prstGeom>
          <a:noFill/>
          <a:ln/>
        </p:spPr>
        <p:txBody>
          <a:bodyPr wrap="square" lIns="0" tIns="0" rIns="0" bIns="0" rtlCol="0" anchor="t"/>
          <a:lstStyle/>
          <a:p>
            <a:pPr indent="0" marL="0">
              <a:lnSpc>
                <a:spcPts val="1400"/>
              </a:lnSpc>
              <a:buNone/>
            </a:pPr>
            <a:r>
              <a:rPr lang="en-US" sz="1050" dirty="0">
                <a:solidFill>
                  <a:srgbClr val="3F5257"/>
                </a:solidFill>
                <a:latin typeface="Calibri" pitchFamily="34" charset="0"/>
                <a:ea typeface="Calibri" pitchFamily="34" charset="-122"/>
                <a:cs typeface="Calibri" pitchFamily="34" charset="-120"/>
              </a:rPr>
              <a:t>The published NDCG gain convention is unconfirmed; both linear and exponential are reported.</a:t>
            </a:r>
            <a:endParaRPr lang="en-US" sz="1050" dirty="0"/>
          </a:p>
        </p:txBody>
      </p:sp>
      <p:sp>
        <p:nvSpPr>
          <p:cNvPr id="31" name="Text 29"/>
          <p:cNvSpPr/>
          <p:nvPr/>
        </p:nvSpPr>
        <p:spPr>
          <a:xfrm>
            <a:off x="7415784" y="4352544"/>
            <a:ext cx="274320" cy="274320"/>
          </a:xfrm>
          <a:prstGeom prst="rect">
            <a:avLst/>
          </a:prstGeom>
          <a:noFill/>
          <a:ln/>
        </p:spPr>
        <p:txBody>
          <a:bodyPr wrap="square" lIns="0" tIns="0" rIns="0" bIns="0" rtlCol="0" anchor="ctr"/>
          <a:lstStyle/>
          <a:p>
            <a:pPr indent="0" marL="0">
              <a:buNone/>
            </a:pPr>
            <a:r>
              <a:rPr lang="en-US" sz="1400" b="1" dirty="0">
                <a:solidFill>
                  <a:srgbClr val="0A5F6E"/>
                </a:solidFill>
                <a:latin typeface="Cambria" pitchFamily="34" charset="0"/>
                <a:ea typeface="Cambria" pitchFamily="34" charset="-122"/>
                <a:cs typeface="Cambria" pitchFamily="34" charset="-120"/>
              </a:rPr>
              <a:t>3</a:t>
            </a:r>
            <a:endParaRPr lang="en-US" sz="1400" dirty="0"/>
          </a:p>
        </p:txBody>
      </p:sp>
      <p:sp>
        <p:nvSpPr>
          <p:cNvPr id="32" name="Text 30"/>
          <p:cNvSpPr/>
          <p:nvPr/>
        </p:nvSpPr>
        <p:spPr>
          <a:xfrm>
            <a:off x="7744968" y="4334256"/>
            <a:ext cx="3566160" cy="896112"/>
          </a:xfrm>
          <a:prstGeom prst="rect">
            <a:avLst/>
          </a:prstGeom>
          <a:noFill/>
          <a:ln/>
        </p:spPr>
        <p:txBody>
          <a:bodyPr wrap="square" lIns="0" tIns="0" rIns="0" bIns="0" rtlCol="0" anchor="t"/>
          <a:lstStyle/>
          <a:p>
            <a:pPr indent="0" marL="0">
              <a:lnSpc>
                <a:spcPts val="1400"/>
              </a:lnSpc>
              <a:buNone/>
            </a:pPr>
            <a:r>
              <a:rPr lang="en-US" sz="1050" dirty="0">
                <a:solidFill>
                  <a:srgbClr val="3F5257"/>
                </a:solidFill>
                <a:latin typeface="Calibri" pitchFamily="34" charset="0"/>
                <a:ea typeface="Calibri" pitchFamily="34" charset="-122"/>
                <a:cs typeface="Calibri" pitchFamily="34" charset="-120"/>
              </a:rPr>
              <a:t>Ranking runs over TrialGPT's own pool, so only the ranker is compared.</a:t>
            </a:r>
            <a:endParaRPr lang="en-US" sz="1050" dirty="0"/>
          </a:p>
        </p:txBody>
      </p:sp>
      <p:sp>
        <p:nvSpPr>
          <p:cNvPr id="33" name="Text 31"/>
          <p:cNvSpPr/>
          <p:nvPr/>
        </p:nvSpPr>
        <p:spPr>
          <a:xfrm>
            <a:off x="7415784" y="5285232"/>
            <a:ext cx="274320" cy="274320"/>
          </a:xfrm>
          <a:prstGeom prst="rect">
            <a:avLst/>
          </a:prstGeom>
          <a:noFill/>
          <a:ln/>
        </p:spPr>
        <p:txBody>
          <a:bodyPr wrap="square" lIns="0" tIns="0" rIns="0" bIns="0" rtlCol="0" anchor="ctr"/>
          <a:lstStyle/>
          <a:p>
            <a:pPr indent="0" marL="0">
              <a:buNone/>
            </a:pPr>
            <a:r>
              <a:rPr lang="en-US" sz="1400" b="1" dirty="0">
                <a:solidFill>
                  <a:srgbClr val="0A5F6E"/>
                </a:solidFill>
                <a:latin typeface="Cambria" pitchFamily="34" charset="0"/>
                <a:ea typeface="Cambria" pitchFamily="34" charset="-122"/>
                <a:cs typeface="Cambria" pitchFamily="34" charset="-120"/>
              </a:rPr>
              <a:t>4</a:t>
            </a:r>
            <a:endParaRPr lang="en-US" sz="1400" dirty="0"/>
          </a:p>
        </p:txBody>
      </p:sp>
      <p:sp>
        <p:nvSpPr>
          <p:cNvPr id="34" name="Text 32"/>
          <p:cNvSpPr/>
          <p:nvPr/>
        </p:nvSpPr>
        <p:spPr>
          <a:xfrm>
            <a:off x="7744968" y="5266944"/>
            <a:ext cx="3566160" cy="896112"/>
          </a:xfrm>
          <a:prstGeom prst="rect">
            <a:avLst/>
          </a:prstGeom>
          <a:noFill/>
          <a:ln/>
        </p:spPr>
        <p:txBody>
          <a:bodyPr wrap="square" lIns="0" tIns="0" rIns="0" bIns="0" rtlCol="0" anchor="t"/>
          <a:lstStyle/>
          <a:p>
            <a:pPr indent="0" marL="0">
              <a:lnSpc>
                <a:spcPts val="1400"/>
              </a:lnSpc>
              <a:buNone/>
            </a:pPr>
            <a:r>
              <a:rPr lang="en-US" sz="1050" dirty="0">
                <a:solidFill>
                  <a:srgbClr val="3F5257"/>
                </a:solidFill>
                <a:latin typeface="Calibri" pitchFamily="34" charset="0"/>
                <a:ea typeface="Calibri" pitchFamily="34" charset="-122"/>
                <a:cs typeface="Calibri" pitchFamily="34" charset="-120"/>
              </a:rPr>
              <a:t>TREC notes are ~600 characters and span all of medicine. Extraction recovers zero stage, zero ECOG, zero biomarkers and zero dated therapies — so not one washout predicate can fire.</a:t>
            </a:r>
            <a:endParaRPr lang="en-US" sz="1050" dirty="0"/>
          </a:p>
        </p:txBody>
      </p:sp>
      <p:sp>
        <p:nvSpPr>
          <p:cNvPr id="35" name="Text 33"/>
          <p:cNvSpPr/>
          <p:nvPr/>
        </p:nvSpPr>
        <p:spPr>
          <a:xfrm>
            <a:off x="594360" y="6272784"/>
            <a:ext cx="10972800" cy="438912"/>
          </a:xfrm>
          <a:prstGeom prst="rect">
            <a:avLst/>
          </a:prstGeom>
          <a:noFill/>
          <a:ln/>
        </p:spPr>
        <p:txBody>
          <a:bodyPr wrap="square" lIns="0" tIns="0" rIns="0" bIns="0" rtlCol="0" anchor="t"/>
          <a:lstStyle/>
          <a:p>
            <a:pPr indent="0" marL="0">
              <a:lnSpc>
                <a:spcPts val="1200"/>
              </a:lnSpc>
              <a:buNone/>
            </a:pPr>
            <a:r>
              <a:rPr lang="en-US" sz="950" dirty="0">
                <a:solidFill>
                  <a:srgbClr val="74898E"/>
                </a:solidFill>
                <a:latin typeface="Calibri" pitchFamily="34" charset="0"/>
                <a:ea typeface="Calibri" pitchFamily="34" charset="-122"/>
                <a:cs typeface="Calibri" pitchFamily="34" charset="-120"/>
              </a:rPr>
              <a:t>α was fixed before the run. A sweep shows α = 0.3 scores marginally higher; that is not quoted, because choosing it after seeing the test set is the error the held-out split exists to avoid.</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182880"/>
            <a:ext cx="10972800" cy="237744"/>
          </a:xfrm>
          <a:prstGeom prst="rect">
            <a:avLst/>
          </a:prstGeom>
          <a:noFill/>
          <a:ln/>
        </p:spPr>
        <p:txBody>
          <a:bodyPr wrap="square" lIns="0" tIns="0" rIns="0" bIns="0" rtlCol="0" anchor="ctr"/>
          <a:lstStyle/>
          <a:p>
            <a:pPr indent="0" marL="0">
              <a:buNone/>
            </a:pPr>
            <a:r>
              <a:rPr lang="en-US" sz="1150" b="1" spc="160" kern="0" dirty="0">
                <a:solidFill>
                  <a:srgbClr val="A81F17"/>
                </a:solidFill>
                <a:latin typeface="Calibri" pitchFamily="34" charset="0"/>
                <a:ea typeface="Calibri" pitchFamily="34" charset="-122"/>
                <a:cs typeface="Calibri" pitchFamily="34" charset="-120"/>
              </a:rPr>
              <a:t>LIMITATIONS</a:t>
            </a:r>
            <a:endParaRPr lang="en-US" sz="1150" dirty="0"/>
          </a:p>
        </p:txBody>
      </p:sp>
      <p:sp>
        <p:nvSpPr>
          <p:cNvPr id="3" name="Text 1"/>
          <p:cNvSpPr/>
          <p:nvPr/>
        </p:nvSpPr>
        <p:spPr>
          <a:xfrm>
            <a:off x="594360" y="384048"/>
            <a:ext cx="10972800" cy="731520"/>
          </a:xfrm>
          <a:prstGeom prst="rect">
            <a:avLst/>
          </a:prstGeom>
          <a:noFill/>
          <a:ln/>
        </p:spPr>
        <p:txBody>
          <a:bodyPr wrap="square" lIns="0" tIns="0" rIns="0" bIns="0" rtlCol="0" anchor="t"/>
          <a:lstStyle/>
          <a:p>
            <a:pPr indent="0" marL="0">
              <a:buNone/>
            </a:pPr>
            <a:r>
              <a:rPr lang="en-US" sz="3400" b="1" dirty="0">
                <a:solidFill>
                  <a:srgbClr val="07161A"/>
                </a:solidFill>
                <a:latin typeface="Cambria" pitchFamily="34" charset="0"/>
                <a:ea typeface="Cambria" pitchFamily="34" charset="-122"/>
                <a:cs typeface="Cambria" pitchFamily="34" charset="-120"/>
              </a:rPr>
              <a:t>Stated before being asked</a:t>
            </a:r>
            <a:endParaRPr lang="en-US" sz="3400" dirty="0"/>
          </a:p>
        </p:txBody>
      </p:sp>
      <p:sp>
        <p:nvSpPr>
          <p:cNvPr id="4" name="Shape 2"/>
          <p:cNvSpPr/>
          <p:nvPr/>
        </p:nvSpPr>
        <p:spPr>
          <a:xfrm>
            <a:off x="594360" y="1444752"/>
            <a:ext cx="5303520" cy="1463040"/>
          </a:xfrm>
          <a:prstGeom prst="roundRect">
            <a:avLst>
              <a:gd name="adj" fmla="val 3750"/>
            </a:avLst>
          </a:prstGeom>
          <a:solidFill>
            <a:srgbClr val="FFFFFF"/>
          </a:solidFill>
          <a:ln w="12700">
            <a:solidFill>
              <a:srgbClr val="E2ECEF"/>
            </a:solidFill>
            <a:prstDash val="solid"/>
          </a:ln>
        </p:spPr>
      </p:sp>
      <p:sp>
        <p:nvSpPr>
          <p:cNvPr id="5" name="Text 3"/>
          <p:cNvSpPr/>
          <p:nvPr/>
        </p:nvSpPr>
        <p:spPr>
          <a:xfrm>
            <a:off x="832104" y="1627632"/>
            <a:ext cx="4828032" cy="457200"/>
          </a:xfrm>
          <a:prstGeom prst="rect">
            <a:avLst/>
          </a:prstGeom>
          <a:noFill/>
          <a:ln/>
        </p:spPr>
        <p:txBody>
          <a:bodyPr wrap="square" lIns="0" tIns="0" rIns="0" bIns="0" rtlCol="0" anchor="t"/>
          <a:lstStyle/>
          <a:p>
            <a:pPr indent="0" marL="0">
              <a:lnSpc>
                <a:spcPts val="1700"/>
              </a:lnSpc>
              <a:buNone/>
            </a:pPr>
            <a:r>
              <a:rPr lang="en-US" sz="1300" b="1" dirty="0">
                <a:solidFill>
                  <a:srgbClr val="07161A"/>
                </a:solidFill>
                <a:latin typeface="Calibri" pitchFamily="34" charset="0"/>
                <a:ea typeface="Calibri" pitchFamily="34" charset="-122"/>
                <a:cs typeface="Calibri" pitchFamily="34" charset="-120"/>
              </a:rPr>
              <a:t>Extraction errors propagate downstream</a:t>
            </a:r>
            <a:endParaRPr lang="en-US" sz="1300" dirty="0"/>
          </a:p>
        </p:txBody>
      </p:sp>
      <p:sp>
        <p:nvSpPr>
          <p:cNvPr id="6" name="Text 4"/>
          <p:cNvSpPr/>
          <p:nvPr/>
        </p:nvSpPr>
        <p:spPr>
          <a:xfrm>
            <a:off x="832104" y="2121408"/>
            <a:ext cx="4828032" cy="676656"/>
          </a:xfrm>
          <a:prstGeom prst="rect">
            <a:avLst/>
          </a:prstGeom>
          <a:noFill/>
          <a:ln/>
        </p:spPr>
        <p:txBody>
          <a:bodyPr wrap="square" lIns="0" tIns="0" rIns="0" bIns="0" rtlCol="0" anchor="t"/>
          <a:lstStyle/>
          <a:p>
            <a:pPr indent="0" marL="0">
              <a:lnSpc>
                <a:spcPts val="1500"/>
              </a:lnSpc>
              <a:buNone/>
            </a:pPr>
            <a:r>
              <a:rPr lang="en-US" sz="1100" dirty="0">
                <a:solidFill>
                  <a:srgbClr val="3F5257"/>
                </a:solidFill>
                <a:latin typeface="Calibri" pitchFamily="34" charset="0"/>
                <a:ea typeface="Calibri" pitchFamily="34" charset="-122"/>
                <a:cs typeface="Calibri" pitchFamily="34" charset="-120"/>
              </a:rPr>
              <a:t>Mitigated by span-level provenance on every field, and by abstaining to Undetermined rather than guessing.</a:t>
            </a:r>
            <a:endParaRPr lang="en-US" sz="1100" dirty="0"/>
          </a:p>
        </p:txBody>
      </p:sp>
      <p:sp>
        <p:nvSpPr>
          <p:cNvPr id="7" name="Shape 5"/>
          <p:cNvSpPr/>
          <p:nvPr/>
        </p:nvSpPr>
        <p:spPr>
          <a:xfrm>
            <a:off x="6263640" y="1444752"/>
            <a:ext cx="5303520" cy="1463040"/>
          </a:xfrm>
          <a:prstGeom prst="roundRect">
            <a:avLst>
              <a:gd name="adj" fmla="val 3750"/>
            </a:avLst>
          </a:prstGeom>
          <a:solidFill>
            <a:srgbClr val="FFFFFF"/>
          </a:solidFill>
          <a:ln w="12700">
            <a:solidFill>
              <a:srgbClr val="E2ECEF"/>
            </a:solidFill>
            <a:prstDash val="solid"/>
          </a:ln>
        </p:spPr>
      </p:sp>
      <p:sp>
        <p:nvSpPr>
          <p:cNvPr id="8" name="Text 6"/>
          <p:cNvSpPr/>
          <p:nvPr/>
        </p:nvSpPr>
        <p:spPr>
          <a:xfrm>
            <a:off x="6501384" y="1627632"/>
            <a:ext cx="4828032" cy="457200"/>
          </a:xfrm>
          <a:prstGeom prst="rect">
            <a:avLst/>
          </a:prstGeom>
          <a:noFill/>
          <a:ln/>
        </p:spPr>
        <p:txBody>
          <a:bodyPr wrap="square" lIns="0" tIns="0" rIns="0" bIns="0" rtlCol="0" anchor="t"/>
          <a:lstStyle/>
          <a:p>
            <a:pPr indent="0" marL="0">
              <a:lnSpc>
                <a:spcPts val="1700"/>
              </a:lnSpc>
              <a:buNone/>
            </a:pPr>
            <a:r>
              <a:rPr lang="en-US" sz="1300" b="1" dirty="0">
                <a:solidFill>
                  <a:srgbClr val="07161A"/>
                </a:solidFill>
                <a:latin typeface="Calibri" pitchFamily="34" charset="0"/>
                <a:ea typeface="Calibri" pitchFamily="34" charset="-122"/>
                <a:cs typeface="Calibri" pitchFamily="34" charset="-120"/>
              </a:rPr>
              <a:t>Recruiting status is frequently stale</a:t>
            </a:r>
            <a:endParaRPr lang="en-US" sz="1300" dirty="0"/>
          </a:p>
        </p:txBody>
      </p:sp>
      <p:sp>
        <p:nvSpPr>
          <p:cNvPr id="9" name="Text 7"/>
          <p:cNvSpPr/>
          <p:nvPr/>
        </p:nvSpPr>
        <p:spPr>
          <a:xfrm>
            <a:off x="6501384" y="2121408"/>
            <a:ext cx="4828032" cy="676656"/>
          </a:xfrm>
          <a:prstGeom prst="rect">
            <a:avLst/>
          </a:prstGeom>
          <a:noFill/>
          <a:ln/>
        </p:spPr>
        <p:txBody>
          <a:bodyPr wrap="square" lIns="0" tIns="0" rIns="0" bIns="0" rtlCol="0" anchor="t"/>
          <a:lstStyle/>
          <a:p>
            <a:pPr indent="0" marL="0">
              <a:lnSpc>
                <a:spcPts val="1500"/>
              </a:lnSpc>
              <a:buNone/>
            </a:pPr>
            <a:r>
              <a:rPr lang="en-US" sz="1100" dirty="0">
                <a:solidFill>
                  <a:srgbClr val="3F5257"/>
                </a:solidFill>
                <a:latin typeface="Calibri" pitchFamily="34" charset="0"/>
                <a:ea typeface="Calibri" pitchFamily="34" charset="-122"/>
                <a:cs typeface="Calibri" pitchFamily="34" charset="-120"/>
              </a:rPr>
              <a:t>Sites listed as recruiting are often closed. Fixed snapshot, 14 Aug 2026; every trial links to its ClinicalTrials.gov record for live status.</a:t>
            </a:r>
            <a:endParaRPr lang="en-US" sz="1100" dirty="0"/>
          </a:p>
        </p:txBody>
      </p:sp>
      <p:sp>
        <p:nvSpPr>
          <p:cNvPr id="10" name="Shape 8"/>
          <p:cNvSpPr/>
          <p:nvPr/>
        </p:nvSpPr>
        <p:spPr>
          <a:xfrm>
            <a:off x="594360" y="3072384"/>
            <a:ext cx="5303520" cy="1463040"/>
          </a:xfrm>
          <a:prstGeom prst="roundRect">
            <a:avLst>
              <a:gd name="adj" fmla="val 3750"/>
            </a:avLst>
          </a:prstGeom>
          <a:solidFill>
            <a:srgbClr val="FFFFFF"/>
          </a:solidFill>
          <a:ln w="12700">
            <a:solidFill>
              <a:srgbClr val="E2ECEF"/>
            </a:solidFill>
            <a:prstDash val="solid"/>
          </a:ln>
        </p:spPr>
      </p:sp>
      <p:sp>
        <p:nvSpPr>
          <p:cNvPr id="11" name="Text 9"/>
          <p:cNvSpPr/>
          <p:nvPr/>
        </p:nvSpPr>
        <p:spPr>
          <a:xfrm>
            <a:off x="832104" y="3255264"/>
            <a:ext cx="4828032" cy="457200"/>
          </a:xfrm>
          <a:prstGeom prst="rect">
            <a:avLst/>
          </a:prstGeom>
          <a:noFill/>
          <a:ln/>
        </p:spPr>
        <p:txBody>
          <a:bodyPr wrap="square" lIns="0" tIns="0" rIns="0" bIns="0" rtlCol="0" anchor="t"/>
          <a:lstStyle/>
          <a:p>
            <a:pPr indent="0" marL="0">
              <a:lnSpc>
                <a:spcPts val="1700"/>
              </a:lnSpc>
              <a:buNone/>
            </a:pPr>
            <a:r>
              <a:rPr lang="en-US" sz="1300" b="1" dirty="0">
                <a:solidFill>
                  <a:srgbClr val="07161A"/>
                </a:solidFill>
                <a:latin typeface="Calibri" pitchFamily="34" charset="0"/>
                <a:ea typeface="Calibri" pitchFamily="34" charset="-122"/>
                <a:cs typeface="Calibri" pitchFamily="34" charset="-120"/>
              </a:rPr>
              <a:t>Computed dates depend on a last-dose date</a:t>
            </a:r>
            <a:endParaRPr lang="en-US" sz="1300" dirty="0"/>
          </a:p>
        </p:txBody>
      </p:sp>
      <p:sp>
        <p:nvSpPr>
          <p:cNvPr id="12" name="Text 10"/>
          <p:cNvSpPr/>
          <p:nvPr/>
        </p:nvSpPr>
        <p:spPr>
          <a:xfrm>
            <a:off x="832104" y="3749040"/>
            <a:ext cx="4828032" cy="676656"/>
          </a:xfrm>
          <a:prstGeom prst="rect">
            <a:avLst/>
          </a:prstGeom>
          <a:noFill/>
          <a:ln/>
        </p:spPr>
        <p:txBody>
          <a:bodyPr wrap="square" lIns="0" tIns="0" rIns="0" bIns="0" rtlCol="0" anchor="t"/>
          <a:lstStyle/>
          <a:p>
            <a:pPr indent="0" marL="0">
              <a:lnSpc>
                <a:spcPts val="1500"/>
              </a:lnSpc>
              <a:buNone/>
            </a:pPr>
            <a:r>
              <a:rPr lang="en-US" sz="1100" dirty="0">
                <a:solidFill>
                  <a:srgbClr val="3F5257"/>
                </a:solidFill>
                <a:latin typeface="Calibri" pitchFamily="34" charset="0"/>
                <a:ea typeface="Calibri" pitchFamily="34" charset="-122"/>
                <a:cs typeface="Calibri" pitchFamily="34" charset="-120"/>
              </a:rPr>
              <a:t>Often stated imprecisely, or not at all. Where it is stated the date is exact calendar arithmetic; where it is absent the verdict is Undetermined, never an estimate.</a:t>
            </a:r>
            <a:endParaRPr lang="en-US" sz="1100" dirty="0"/>
          </a:p>
        </p:txBody>
      </p:sp>
      <p:sp>
        <p:nvSpPr>
          <p:cNvPr id="13" name="Shape 11"/>
          <p:cNvSpPr/>
          <p:nvPr/>
        </p:nvSpPr>
        <p:spPr>
          <a:xfrm>
            <a:off x="6263640" y="3072384"/>
            <a:ext cx="5303520" cy="1463040"/>
          </a:xfrm>
          <a:prstGeom prst="roundRect">
            <a:avLst>
              <a:gd name="adj" fmla="val 3750"/>
            </a:avLst>
          </a:prstGeom>
          <a:solidFill>
            <a:srgbClr val="FFFFFF"/>
          </a:solidFill>
          <a:ln w="12700">
            <a:solidFill>
              <a:srgbClr val="E2ECEF"/>
            </a:solidFill>
            <a:prstDash val="solid"/>
          </a:ln>
        </p:spPr>
      </p:sp>
      <p:sp>
        <p:nvSpPr>
          <p:cNvPr id="14" name="Text 12"/>
          <p:cNvSpPr/>
          <p:nvPr/>
        </p:nvSpPr>
        <p:spPr>
          <a:xfrm>
            <a:off x="6501384" y="3255264"/>
            <a:ext cx="4828032" cy="457200"/>
          </a:xfrm>
          <a:prstGeom prst="rect">
            <a:avLst/>
          </a:prstGeom>
          <a:noFill/>
          <a:ln/>
        </p:spPr>
        <p:txBody>
          <a:bodyPr wrap="square" lIns="0" tIns="0" rIns="0" bIns="0" rtlCol="0" anchor="t"/>
          <a:lstStyle/>
          <a:p>
            <a:pPr indent="0" marL="0">
              <a:lnSpc>
                <a:spcPts val="1700"/>
              </a:lnSpc>
              <a:buNone/>
            </a:pPr>
            <a:r>
              <a:rPr lang="en-US" sz="1300" b="1" dirty="0">
                <a:solidFill>
                  <a:srgbClr val="07161A"/>
                </a:solidFill>
                <a:latin typeface="Calibri" pitchFamily="34" charset="0"/>
                <a:ea typeface="Calibri" pitchFamily="34" charset="-122"/>
                <a:cs typeface="Calibri" pitchFamily="34" charset="-120"/>
              </a:rPr>
              <a:t>TREC notes are synthetic and thin</a:t>
            </a:r>
            <a:endParaRPr lang="en-US" sz="1300" dirty="0"/>
          </a:p>
        </p:txBody>
      </p:sp>
      <p:sp>
        <p:nvSpPr>
          <p:cNvPr id="15" name="Text 13"/>
          <p:cNvSpPr/>
          <p:nvPr/>
        </p:nvSpPr>
        <p:spPr>
          <a:xfrm>
            <a:off x="6501384" y="3749040"/>
            <a:ext cx="4828032" cy="676656"/>
          </a:xfrm>
          <a:prstGeom prst="rect">
            <a:avLst/>
          </a:prstGeom>
          <a:noFill/>
          <a:ln/>
        </p:spPr>
        <p:txBody>
          <a:bodyPr wrap="square" lIns="0" tIns="0" rIns="0" bIns="0" rtlCol="0" anchor="t"/>
          <a:lstStyle/>
          <a:p>
            <a:pPr indent="0" marL="0">
              <a:lnSpc>
                <a:spcPts val="1500"/>
              </a:lnSpc>
              <a:buNone/>
            </a:pPr>
            <a:r>
              <a:rPr lang="en-US" sz="1100" dirty="0">
                <a:solidFill>
                  <a:srgbClr val="3F5257"/>
                </a:solidFill>
                <a:latin typeface="Calibri" pitchFamily="34" charset="0"/>
                <a:ea typeface="Calibri" pitchFamily="34" charset="-122"/>
                <a:cs typeface="Calibri" pitchFamily="34" charset="-120"/>
              </a:rPr>
              <a:t>Cleaner than real clinical text, and missing the structured fields this system runs on.</a:t>
            </a:r>
            <a:endParaRPr lang="en-US" sz="1100" dirty="0"/>
          </a:p>
        </p:txBody>
      </p:sp>
      <p:sp>
        <p:nvSpPr>
          <p:cNvPr id="16" name="Shape 14"/>
          <p:cNvSpPr/>
          <p:nvPr/>
        </p:nvSpPr>
        <p:spPr>
          <a:xfrm>
            <a:off x="594360" y="4700016"/>
            <a:ext cx="5303520" cy="1463040"/>
          </a:xfrm>
          <a:prstGeom prst="roundRect">
            <a:avLst>
              <a:gd name="adj" fmla="val 3750"/>
            </a:avLst>
          </a:prstGeom>
          <a:solidFill>
            <a:srgbClr val="FFFFFF"/>
          </a:solidFill>
          <a:ln w="12700">
            <a:solidFill>
              <a:srgbClr val="E2ECEF"/>
            </a:solidFill>
            <a:prstDash val="solid"/>
          </a:ln>
        </p:spPr>
      </p:sp>
      <p:sp>
        <p:nvSpPr>
          <p:cNvPr id="17" name="Text 15"/>
          <p:cNvSpPr/>
          <p:nvPr/>
        </p:nvSpPr>
        <p:spPr>
          <a:xfrm>
            <a:off x="832104" y="4882896"/>
            <a:ext cx="4828032" cy="457200"/>
          </a:xfrm>
          <a:prstGeom prst="rect">
            <a:avLst/>
          </a:prstGeom>
          <a:noFill/>
          <a:ln/>
        </p:spPr>
        <p:txBody>
          <a:bodyPr wrap="square" lIns="0" tIns="0" rIns="0" bIns="0" rtlCol="0" anchor="t"/>
          <a:lstStyle/>
          <a:p>
            <a:pPr indent="0" marL="0">
              <a:lnSpc>
                <a:spcPts val="1700"/>
              </a:lnSpc>
              <a:buNone/>
            </a:pPr>
            <a:r>
              <a:rPr lang="en-US" sz="1300" b="1" dirty="0">
                <a:solidFill>
                  <a:srgbClr val="07161A"/>
                </a:solidFill>
                <a:latin typeface="Calibri" pitchFamily="34" charset="0"/>
                <a:ea typeface="Calibri" pitchFamily="34" charset="-122"/>
                <a:cs typeface="Calibri" pitchFamily="34" charset="-120"/>
              </a:rPr>
              <a:t>This is coordinator and clinician decision support</a:t>
            </a:r>
            <a:endParaRPr lang="en-US" sz="1300" dirty="0"/>
          </a:p>
        </p:txBody>
      </p:sp>
      <p:sp>
        <p:nvSpPr>
          <p:cNvPr id="18" name="Text 16"/>
          <p:cNvSpPr/>
          <p:nvPr/>
        </p:nvSpPr>
        <p:spPr>
          <a:xfrm>
            <a:off x="832104" y="5376672"/>
            <a:ext cx="4828032" cy="676656"/>
          </a:xfrm>
          <a:prstGeom prst="rect">
            <a:avLst/>
          </a:prstGeom>
          <a:noFill/>
          <a:ln/>
        </p:spPr>
        <p:txBody>
          <a:bodyPr wrap="square" lIns="0" tIns="0" rIns="0" bIns="0" rtlCol="0" anchor="t"/>
          <a:lstStyle/>
          <a:p>
            <a:pPr indent="0" marL="0">
              <a:lnSpc>
                <a:spcPts val="1500"/>
              </a:lnSpc>
              <a:buNone/>
            </a:pPr>
            <a:r>
              <a:rPr lang="en-US" sz="1100" dirty="0">
                <a:solidFill>
                  <a:srgbClr val="3F5257"/>
                </a:solidFill>
                <a:latin typeface="Calibri" pitchFamily="34" charset="0"/>
                <a:ea typeface="Calibri" pitchFamily="34" charset="-122"/>
                <a:cs typeface="Calibri" pitchFamily="34" charset="-120"/>
              </a:rPr>
              <a:t>Not patient-facing advice. It makes no treatment recommendation.</a:t>
            </a:r>
            <a:endParaRPr lang="en-US" sz="1100" dirty="0"/>
          </a:p>
        </p:txBody>
      </p:sp>
      <p:sp>
        <p:nvSpPr>
          <p:cNvPr id="19" name="Shape 17"/>
          <p:cNvSpPr/>
          <p:nvPr/>
        </p:nvSpPr>
        <p:spPr>
          <a:xfrm>
            <a:off x="6263640" y="4700016"/>
            <a:ext cx="5303520" cy="1463040"/>
          </a:xfrm>
          <a:prstGeom prst="roundRect">
            <a:avLst>
              <a:gd name="adj" fmla="val 3750"/>
            </a:avLst>
          </a:prstGeom>
          <a:solidFill>
            <a:srgbClr val="FFFFFF"/>
          </a:solidFill>
          <a:ln w="12700">
            <a:solidFill>
              <a:srgbClr val="E2ECEF"/>
            </a:solidFill>
            <a:prstDash val="solid"/>
          </a:ln>
        </p:spPr>
      </p:sp>
      <p:sp>
        <p:nvSpPr>
          <p:cNvPr id="20" name="Text 18"/>
          <p:cNvSpPr/>
          <p:nvPr/>
        </p:nvSpPr>
        <p:spPr>
          <a:xfrm>
            <a:off x="6501384" y="4882896"/>
            <a:ext cx="4828032" cy="457200"/>
          </a:xfrm>
          <a:prstGeom prst="rect">
            <a:avLst/>
          </a:prstGeom>
          <a:noFill/>
          <a:ln/>
        </p:spPr>
        <p:txBody>
          <a:bodyPr wrap="square" lIns="0" tIns="0" rIns="0" bIns="0" rtlCol="0" anchor="t"/>
          <a:lstStyle/>
          <a:p>
            <a:pPr indent="0" marL="0">
              <a:lnSpc>
                <a:spcPts val="1700"/>
              </a:lnSpc>
              <a:buNone/>
            </a:pPr>
            <a:r>
              <a:rPr lang="en-US" sz="1300" b="1" dirty="0">
                <a:solidFill>
                  <a:srgbClr val="07161A"/>
                </a:solidFill>
                <a:latin typeface="Calibri" pitchFamily="34" charset="0"/>
                <a:ea typeface="Calibri" pitchFamily="34" charset="-122"/>
                <a:cs typeface="Calibri" pitchFamily="34" charset="-120"/>
              </a:rPr>
              <a:t>NSCLC only</a:t>
            </a:r>
            <a:endParaRPr lang="en-US" sz="1300" dirty="0"/>
          </a:p>
        </p:txBody>
      </p:sp>
      <p:sp>
        <p:nvSpPr>
          <p:cNvPr id="21" name="Text 19"/>
          <p:cNvSpPr/>
          <p:nvPr/>
        </p:nvSpPr>
        <p:spPr>
          <a:xfrm>
            <a:off x="6501384" y="5376672"/>
            <a:ext cx="4828032" cy="676656"/>
          </a:xfrm>
          <a:prstGeom prst="rect">
            <a:avLst/>
          </a:prstGeom>
          <a:noFill/>
          <a:ln/>
        </p:spPr>
        <p:txBody>
          <a:bodyPr wrap="square" lIns="0" tIns="0" rIns="0" bIns="0" rtlCol="0" anchor="t"/>
          <a:lstStyle/>
          <a:p>
            <a:pPr indent="0" marL="0">
              <a:lnSpc>
                <a:spcPts val="1500"/>
              </a:lnSpc>
              <a:buNone/>
            </a:pPr>
            <a:r>
              <a:rPr lang="en-US" sz="1100" dirty="0">
                <a:solidFill>
                  <a:srgbClr val="3F5257"/>
                </a:solidFill>
                <a:latin typeface="Calibri" pitchFamily="34" charset="0"/>
                <a:ea typeface="Calibri" pitchFamily="34" charset="-122"/>
                <a:cs typeface="Calibri" pitchFamily="34" charset="-120"/>
              </a:rPr>
              <a:t>Trial density varies several-fold across cancer types. These results do not transfer without re-measurement.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5F6E"/>
        </a:solidFill>
      </p:bgPr>
    </p:bg>
    <p:spTree>
      <p:nvGrpSpPr>
        <p:cNvPr id="1" name=""/>
        <p:cNvGrpSpPr/>
        <p:nvPr/>
      </p:nvGrpSpPr>
      <p:grpSpPr>
        <a:xfrm>
          <a:off x="0" y="0"/>
          <a:ext cx="0" cy="0"/>
          <a:chOff x="0" y="0"/>
          <a:chExt cx="0" cy="0"/>
        </a:xfrm>
      </p:grpSpPr>
      <p:sp>
        <p:nvSpPr>
          <p:cNvPr id="2" name="Text 0"/>
          <p:cNvSpPr/>
          <p:nvPr/>
        </p:nvSpPr>
        <p:spPr>
          <a:xfrm>
            <a:off x="594360" y="822960"/>
            <a:ext cx="109728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What is defensible</a:t>
            </a:r>
            <a:endParaRPr lang="en-US" sz="3600" dirty="0"/>
          </a:p>
        </p:txBody>
      </p:sp>
      <p:sp>
        <p:nvSpPr>
          <p:cNvPr id="3" name="Text 1"/>
          <p:cNvSpPr/>
          <p:nvPr/>
        </p:nvSpPr>
        <p:spPr>
          <a:xfrm>
            <a:off x="594360" y="1874520"/>
            <a:ext cx="2651760" cy="457200"/>
          </a:xfrm>
          <a:prstGeom prst="rect">
            <a:avLst/>
          </a:prstGeom>
          <a:noFill/>
          <a:ln/>
        </p:spPr>
        <p:txBody>
          <a:bodyPr wrap="square" lIns="0" tIns="0" rIns="0" bIns="0" rtlCol="0" anchor="ctr"/>
          <a:lstStyle/>
          <a:p>
            <a:pPr indent="0" marL="0">
              <a:buNone/>
            </a:pPr>
            <a:r>
              <a:rPr lang="en-US" sz="2600" b="1" dirty="0">
                <a:solidFill>
                  <a:srgbClr val="95DEEA"/>
                </a:solidFill>
                <a:latin typeface="Cambria" pitchFamily="34" charset="0"/>
                <a:ea typeface="Cambria" pitchFamily="34" charset="-122"/>
                <a:cs typeface="Cambria" pitchFamily="34" charset="-120"/>
              </a:rPr>
              <a:t>60.3%</a:t>
            </a:r>
            <a:endParaRPr lang="en-US" sz="2600" dirty="0"/>
          </a:p>
        </p:txBody>
      </p:sp>
      <p:sp>
        <p:nvSpPr>
          <p:cNvPr id="4" name="Text 2"/>
          <p:cNvSpPr/>
          <p:nvPr/>
        </p:nvSpPr>
        <p:spPr>
          <a:xfrm>
            <a:off x="3429000" y="1911096"/>
            <a:ext cx="8138160" cy="786384"/>
          </a:xfrm>
          <a:prstGeom prst="rect">
            <a:avLst/>
          </a:prstGeom>
          <a:noFill/>
          <a:ln/>
        </p:spPr>
        <p:txBody>
          <a:bodyPr wrap="square" lIns="0" tIns="0" rIns="0" bIns="0" rtlCol="0" anchor="t"/>
          <a:lstStyle/>
          <a:p>
            <a:pPr indent="0" marL="0">
              <a:lnSpc>
                <a:spcPts val="2000"/>
              </a:lnSpc>
              <a:buNone/>
            </a:pPr>
            <a:r>
              <a:rPr lang="en-US" sz="1450" dirty="0">
                <a:solidFill>
                  <a:srgbClr val="DFF4F8"/>
                </a:solidFill>
                <a:latin typeface="Calibri" pitchFamily="34" charset="0"/>
                <a:ea typeface="Calibri" pitchFamily="34" charset="-122"/>
                <a:cs typeface="Calibri" pitchFamily="34" charset="-120"/>
              </a:rPr>
              <a:t>of eligibility criteria compile to executable predicates — a number nobody has published</a:t>
            </a:r>
            <a:endParaRPr lang="en-US" sz="1450" dirty="0"/>
          </a:p>
        </p:txBody>
      </p:sp>
      <p:sp>
        <p:nvSpPr>
          <p:cNvPr id="5" name="Text 3"/>
          <p:cNvSpPr/>
          <p:nvPr/>
        </p:nvSpPr>
        <p:spPr>
          <a:xfrm>
            <a:off x="594360" y="2898648"/>
            <a:ext cx="2651760" cy="457200"/>
          </a:xfrm>
          <a:prstGeom prst="rect">
            <a:avLst/>
          </a:prstGeom>
          <a:noFill/>
          <a:ln/>
        </p:spPr>
        <p:txBody>
          <a:bodyPr wrap="square" lIns="0" tIns="0" rIns="0" bIns="0" rtlCol="0" anchor="ctr"/>
          <a:lstStyle/>
          <a:p>
            <a:pPr indent="0" marL="0">
              <a:buNone/>
            </a:pPr>
            <a:r>
              <a:rPr lang="en-US" sz="2600" b="1" dirty="0">
                <a:solidFill>
                  <a:srgbClr val="95DEEA"/>
                </a:solidFill>
                <a:latin typeface="Cambria" pitchFamily="34" charset="0"/>
                <a:ea typeface="Cambria" pitchFamily="34" charset="-122"/>
                <a:cs typeface="Cambria" pitchFamily="34" charset="-120"/>
              </a:rPr>
              <a:t>0 errors</a:t>
            </a:r>
            <a:endParaRPr lang="en-US" sz="2600" dirty="0"/>
          </a:p>
        </p:txBody>
      </p:sp>
      <p:sp>
        <p:nvSpPr>
          <p:cNvPr id="6" name="Text 4"/>
          <p:cNvSpPr/>
          <p:nvPr/>
        </p:nvSpPr>
        <p:spPr>
          <a:xfrm>
            <a:off x="3429000" y="2935224"/>
            <a:ext cx="8138160" cy="786384"/>
          </a:xfrm>
          <a:prstGeom prst="rect">
            <a:avLst/>
          </a:prstGeom>
          <a:noFill/>
          <a:ln/>
        </p:spPr>
        <p:txBody>
          <a:bodyPr wrap="square" lIns="0" tIns="0" rIns="0" bIns="0" rtlCol="0" anchor="t"/>
          <a:lstStyle/>
          <a:p>
            <a:pPr indent="0" marL="0">
              <a:lnSpc>
                <a:spcPts val="2000"/>
              </a:lnSpc>
              <a:buNone/>
            </a:pPr>
            <a:r>
              <a:rPr lang="en-US" sz="1450" dirty="0">
                <a:solidFill>
                  <a:srgbClr val="DFF4F8"/>
                </a:solidFill>
                <a:latin typeface="Calibri" pitchFamily="34" charset="0"/>
                <a:ea typeface="Calibri" pitchFamily="34" charset="-122"/>
                <a:cs typeface="Calibri" pitchFamily="34" charset="-120"/>
              </a:rPr>
              <a:t>on 32 held-out numeric criteria, including unit conversion, leap years and month-end clamping</a:t>
            </a:r>
            <a:endParaRPr lang="en-US" sz="1450" dirty="0"/>
          </a:p>
        </p:txBody>
      </p:sp>
      <p:sp>
        <p:nvSpPr>
          <p:cNvPr id="7" name="Text 5"/>
          <p:cNvSpPr/>
          <p:nvPr/>
        </p:nvSpPr>
        <p:spPr>
          <a:xfrm>
            <a:off x="594360" y="3922776"/>
            <a:ext cx="2651760" cy="457200"/>
          </a:xfrm>
          <a:prstGeom prst="rect">
            <a:avLst/>
          </a:prstGeom>
          <a:noFill/>
          <a:ln/>
        </p:spPr>
        <p:txBody>
          <a:bodyPr wrap="square" lIns="0" tIns="0" rIns="0" bIns="0" rtlCol="0" anchor="ctr"/>
          <a:lstStyle/>
          <a:p>
            <a:pPr indent="0" marL="0">
              <a:buNone/>
            </a:pPr>
            <a:r>
              <a:rPr lang="en-US" sz="2600" b="1" dirty="0">
                <a:solidFill>
                  <a:srgbClr val="95DEEA"/>
                </a:solidFill>
                <a:latin typeface="Cambria" pitchFamily="34" charset="0"/>
                <a:ea typeface="Cambria" pitchFamily="34" charset="-122"/>
                <a:cs typeface="Cambria" pitchFamily="34" charset="-120"/>
              </a:rPr>
              <a:t>0 model calls</a:t>
            </a:r>
            <a:endParaRPr lang="en-US" sz="2600" dirty="0"/>
          </a:p>
        </p:txBody>
      </p:sp>
      <p:sp>
        <p:nvSpPr>
          <p:cNvPr id="8" name="Text 6"/>
          <p:cNvSpPr/>
          <p:nvPr/>
        </p:nvSpPr>
        <p:spPr>
          <a:xfrm>
            <a:off x="3429000" y="3959352"/>
            <a:ext cx="8138160" cy="786384"/>
          </a:xfrm>
          <a:prstGeom prst="rect">
            <a:avLst/>
          </a:prstGeom>
          <a:noFill/>
          <a:ln/>
        </p:spPr>
        <p:txBody>
          <a:bodyPr wrap="square" lIns="0" tIns="0" rIns="0" bIns="0" rtlCol="0" anchor="t"/>
          <a:lstStyle/>
          <a:p>
            <a:pPr indent="0" marL="0">
              <a:lnSpc>
                <a:spcPts val="2000"/>
              </a:lnSpc>
              <a:buNone/>
            </a:pPr>
            <a:r>
              <a:rPr lang="en-US" sz="1450" dirty="0">
                <a:solidFill>
                  <a:srgbClr val="DFF4F8"/>
                </a:solidFill>
                <a:latin typeface="Calibri" pitchFamily="34" charset="0"/>
                <a:ea typeface="Calibri" pitchFamily="34" charset="-122"/>
                <a:cs typeface="Calibri" pitchFamily="34" charset="-120"/>
              </a:rPr>
              <a:t>per patient query. 500 trials matched in 65 ms</a:t>
            </a:r>
            <a:endParaRPr lang="en-US" sz="1450" dirty="0"/>
          </a:p>
        </p:txBody>
      </p:sp>
      <p:sp>
        <p:nvSpPr>
          <p:cNvPr id="9" name="Text 7"/>
          <p:cNvSpPr/>
          <p:nvPr/>
        </p:nvSpPr>
        <p:spPr>
          <a:xfrm>
            <a:off x="594360" y="4946904"/>
            <a:ext cx="2651760" cy="457200"/>
          </a:xfrm>
          <a:prstGeom prst="rect">
            <a:avLst/>
          </a:prstGeom>
          <a:noFill/>
          <a:ln/>
        </p:spPr>
        <p:txBody>
          <a:bodyPr wrap="square" lIns="0" tIns="0" rIns="0" bIns="0" rtlCol="0" anchor="ctr"/>
          <a:lstStyle/>
          <a:p>
            <a:pPr indent="0" marL="0">
              <a:buNone/>
            </a:pPr>
            <a:r>
              <a:rPr lang="en-US" sz="2600" b="1" dirty="0">
                <a:solidFill>
                  <a:srgbClr val="E8AFA9"/>
                </a:solidFill>
                <a:latin typeface="Cambria" pitchFamily="34" charset="0"/>
                <a:ea typeface="Cambria" pitchFamily="34" charset="-122"/>
                <a:cs typeface="Cambria" pitchFamily="34" charset="-120"/>
              </a:rPr>
              <a:t>8 bugs</a:t>
            </a:r>
            <a:endParaRPr lang="en-US" sz="2600" dirty="0"/>
          </a:p>
        </p:txBody>
      </p:sp>
      <p:sp>
        <p:nvSpPr>
          <p:cNvPr id="10" name="Text 8"/>
          <p:cNvSpPr/>
          <p:nvPr/>
        </p:nvSpPr>
        <p:spPr>
          <a:xfrm>
            <a:off x="3429000" y="4983480"/>
            <a:ext cx="8138160" cy="786384"/>
          </a:xfrm>
          <a:prstGeom prst="rect">
            <a:avLst/>
          </a:prstGeom>
          <a:noFill/>
          <a:ln/>
        </p:spPr>
        <p:txBody>
          <a:bodyPr wrap="square" lIns="0" tIns="0" rIns="0" bIns="0" rtlCol="0" anchor="t"/>
          <a:lstStyle/>
          <a:p>
            <a:pPr indent="0" marL="0">
              <a:lnSpc>
                <a:spcPts val="2000"/>
              </a:lnSpc>
              <a:buNone/>
            </a:pPr>
            <a:r>
              <a:rPr lang="en-US" sz="1450" dirty="0">
                <a:solidFill>
                  <a:srgbClr val="DFF4F8"/>
                </a:solidFill>
                <a:latin typeface="Calibri" pitchFamily="34" charset="0"/>
                <a:ea typeface="Calibri" pitchFamily="34" charset="-122"/>
                <a:cs typeface="Calibri" pitchFamily="34" charset="-120"/>
              </a:rPr>
              <a:t>found by the eval before it produced a single chart</a:t>
            </a:r>
            <a:endParaRPr lang="en-US" sz="1450" dirty="0"/>
          </a:p>
        </p:txBody>
      </p:sp>
      <p:sp>
        <p:nvSpPr>
          <p:cNvPr id="11" name="Shape 9"/>
          <p:cNvSpPr/>
          <p:nvPr/>
        </p:nvSpPr>
        <p:spPr>
          <a:xfrm>
            <a:off x="594360" y="5943600"/>
            <a:ext cx="10972800" cy="566928"/>
          </a:xfrm>
          <a:prstGeom prst="roundRect">
            <a:avLst>
              <a:gd name="adj" fmla="val 9677"/>
            </a:avLst>
          </a:prstGeom>
          <a:solidFill>
            <a:srgbClr val="0D6C7D"/>
          </a:solidFill>
          <a:ln w="12700">
            <a:solidFill>
              <a:srgbClr val="1B8397"/>
            </a:solidFill>
            <a:prstDash val="solid"/>
          </a:ln>
        </p:spPr>
      </p:sp>
      <p:sp>
        <p:nvSpPr>
          <p:cNvPr id="12" name="Text 10"/>
          <p:cNvSpPr/>
          <p:nvPr/>
        </p:nvSpPr>
        <p:spPr>
          <a:xfrm>
            <a:off x="832104" y="6053328"/>
            <a:ext cx="10497312" cy="365760"/>
          </a:xfrm>
          <a:prstGeom prst="rect">
            <a:avLst/>
          </a:prstGeom>
          <a:noFill/>
          <a:ln/>
        </p:spPr>
        <p:txBody>
          <a:bodyPr wrap="square" lIns="0" tIns="0" rIns="0" bIns="0" rtlCol="0" anchor="ctr"/>
          <a:lstStyle/>
          <a:p>
            <a:pPr indent="0" marL="0">
              <a:buNone/>
            </a:pPr>
            <a:r>
              <a:rPr lang="en-US" sz="1150" dirty="0">
                <a:solidFill>
                  <a:srgbClr val="C2ECF3"/>
                </a:solidFill>
                <a:latin typeface="Calibri" pitchFamily="34" charset="0"/>
                <a:ea typeface="Calibri" pitchFamily="34" charset="-122"/>
                <a:cs typeface="Calibri" pitchFamily="34" charset="-120"/>
              </a:rPr>
              <a:t>Every figure in this deck is reproducible from the repository: python3 eval/compile_rate.py  ·  numeric_accuracy.py --holdout  ·  ranking_benchmark.py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Clinical Trial Eligibility Compiler</dc:title>
  <dc:subject>PptxGenJS Presentation</dc:subject>
  <dc:creator>Trial Eligibility Compiler</dc:creator>
  <cp:lastModifiedBy>Trial Eligibility Compiler</cp:lastModifiedBy>
  <cp:revision>1</cp:revision>
  <dcterms:created xsi:type="dcterms:W3CDTF">2026-09-06T02:33:23Z</dcterms:created>
  <dcterms:modified xsi:type="dcterms:W3CDTF">2026-09-06T02:33:23Z</dcterms:modified>
</cp:coreProperties>
</file>